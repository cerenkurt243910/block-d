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58" r:id="rId4"/>
  </p:sldMasterIdLst>
  <p:notesMasterIdLst>
    <p:notesMasterId r:id="rId50"/>
  </p:notesMasterIdLst>
  <p:sldIdLst>
    <p:sldId id="256" r:id="rId5"/>
    <p:sldId id="257" r:id="rId6"/>
    <p:sldId id="258" r:id="rId7"/>
    <p:sldId id="263" r:id="rId8"/>
    <p:sldId id="260" r:id="rId9"/>
    <p:sldId id="262" r:id="rId10"/>
    <p:sldId id="365" r:id="rId11"/>
    <p:sldId id="305" r:id="rId12"/>
    <p:sldId id="264" r:id="rId13"/>
    <p:sldId id="265" r:id="rId14"/>
    <p:sldId id="268" r:id="rId15"/>
    <p:sldId id="269" r:id="rId16"/>
    <p:sldId id="270" r:id="rId17"/>
    <p:sldId id="271" r:id="rId18"/>
    <p:sldId id="324" r:id="rId19"/>
    <p:sldId id="325" r:id="rId20"/>
    <p:sldId id="308" r:id="rId21"/>
    <p:sldId id="326" r:id="rId22"/>
    <p:sldId id="327" r:id="rId23"/>
    <p:sldId id="311" r:id="rId24"/>
    <p:sldId id="328" r:id="rId25"/>
    <p:sldId id="329" r:id="rId26"/>
    <p:sldId id="331" r:id="rId27"/>
    <p:sldId id="332" r:id="rId28"/>
    <p:sldId id="282" r:id="rId29"/>
    <p:sldId id="366" r:id="rId30"/>
    <p:sldId id="345" r:id="rId31"/>
    <p:sldId id="352" r:id="rId32"/>
    <p:sldId id="346" r:id="rId33"/>
    <p:sldId id="358" r:id="rId34"/>
    <p:sldId id="347" r:id="rId35"/>
    <p:sldId id="359" r:id="rId36"/>
    <p:sldId id="348" r:id="rId37"/>
    <p:sldId id="360" r:id="rId38"/>
    <p:sldId id="349" r:id="rId39"/>
    <p:sldId id="361" r:id="rId40"/>
    <p:sldId id="350" r:id="rId41"/>
    <p:sldId id="362" r:id="rId42"/>
    <p:sldId id="364" r:id="rId43"/>
    <p:sldId id="363" r:id="rId44"/>
    <p:sldId id="333" r:id="rId45"/>
    <p:sldId id="334" r:id="rId46"/>
    <p:sldId id="296" r:id="rId47"/>
    <p:sldId id="297" r:id="rId48"/>
    <p:sldId id="298" r:id="rId49"/>
  </p:sldIdLst>
  <p:sldSz cx="9144000" cy="5143500" type="screen16x9"/>
  <p:notesSz cx="6858000" cy="9144000"/>
  <p:embeddedFontLst>
    <p:embeddedFont>
      <p:font typeface="Helvetica Neue" panose="020B0604020202020204" charset="0"/>
      <p:regular r:id="rId51"/>
      <p:bold r:id="rId52"/>
      <p:italic r:id="rId53"/>
      <p:boldItalic r:id="rId54"/>
    </p:embeddedFont>
    <p:embeddedFont>
      <p:font typeface="Open Sans" panose="020B0606030504020204" pitchFamily="34" charset="0"/>
      <p:regular r:id="rId55"/>
      <p:bold r:id="rId56"/>
      <p:italic r:id="rId57"/>
      <p:boldItalic r:id="rId58"/>
    </p:embeddedFont>
    <p:embeddedFont>
      <p:font typeface="Proxima Nova" panose="020B0604020202020204" charset="0"/>
      <p:regular r:id="rId59"/>
      <p:bold r:id="rId60"/>
      <p:italic r:id="rId61"/>
      <p:boldItalic r:id="rId62"/>
    </p:embeddedFont>
    <p:embeddedFont>
      <p:font typeface="Roboto" panose="02000000000000000000" pitchFamily="2" charset="0"/>
      <p:regular r:id="rId63"/>
      <p:bold r:id="rId64"/>
      <p:italic r:id="rId65"/>
      <p:boldItalic r:id="rId66"/>
    </p:embeddedFont>
    <p:embeddedFont>
      <p:font typeface="Roboto Light" panose="02000000000000000000" pitchFamily="2" charset="0"/>
      <p:regular r:id="rId67"/>
      <p:italic r:id="rId68"/>
    </p:embeddedFont>
    <p:embeddedFont>
      <p:font typeface="Roboto Thin" panose="02000000000000000000" pitchFamily="2" charset="0"/>
      <p:regular r:id="rId69"/>
      <p:italic r:id="rId7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3F07B12-FAE0-28AD-E538-EEDF72EBCEF7}" name="Noyan, Alican" initials="NA" userId="S::noyan.a@buas.nl::f2106684-872a-4b1d-b983-18c991c4133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Biswas, Abhishek" initials="BA" lastIdx="1" clrIdx="0">
    <p:extLst>
      <p:ext uri="{19B8F6BF-5375-455C-9EA6-DF929625EA0E}">
        <p15:presenceInfo xmlns:p15="http://schemas.microsoft.com/office/powerpoint/2012/main" userId="S::biswas.a@buas.nl::fb8d240a-d551-4b24-ab9a-9862bbc79dd8" providerId="AD"/>
      </p:ext>
    </p:extLst>
  </p:cmAuthor>
  <p:cmAuthor id="2" name="Noyan, Alican" initials="NA" lastIdx="3" clrIdx="1">
    <p:extLst>
      <p:ext uri="{19B8F6BF-5375-455C-9EA6-DF929625EA0E}">
        <p15:presenceInfo xmlns:p15="http://schemas.microsoft.com/office/powerpoint/2012/main" userId="S::noyan.a@buas.nl::f2106684-872a-4b1d-b983-18c991c41330" providerId="AD"/>
      </p:ext>
    </p:extLst>
  </p:cmAuthor>
  <p:cmAuthor id="3" name="Heijligers, Bram" initials="HB" lastIdx="3" clrIdx="2">
    <p:extLst>
      <p:ext uri="{19B8F6BF-5375-455C-9EA6-DF929625EA0E}">
        <p15:presenceInfo xmlns:p15="http://schemas.microsoft.com/office/powerpoint/2012/main" userId="S::heijligers.b@buas.nl::5cef929d-ecf9-4fca-bf12-bc5ee065fc9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C7AC"/>
    <a:srgbClr val="FFE1CC"/>
    <a:srgbClr val="00FFCC"/>
    <a:srgbClr val="00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90B432A-6533-4F2D-A0ED-1B574F190A49}" v="53" dt="2025-06-27T13:53:35.528"/>
  </p1510:revLst>
</p1510:revInfo>
</file>

<file path=ppt/tableStyles.xml><?xml version="1.0" encoding="utf-8"?>
<a:tblStyleLst xmlns:a="http://schemas.openxmlformats.org/drawingml/2006/main" def="{764D4AE7-FFBC-431D-9275-528F30A785D3}">
  <a:tblStyle styleId="{764D4AE7-FFBC-431D-9275-528F30A785D3}"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0" d="100"/>
          <a:sy n="100" d="100"/>
        </p:scale>
        <p:origin x="1891" y="-122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font" Target="fonts/font13.fntdata"/><Relationship Id="rId68" Type="http://schemas.openxmlformats.org/officeDocument/2006/relationships/font" Target="fonts/font18.fntdata"/><Relationship Id="rId16" Type="http://schemas.openxmlformats.org/officeDocument/2006/relationships/slide" Target="slides/slide1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font" Target="fonts/font3.fntdata"/><Relationship Id="rId58" Type="http://schemas.openxmlformats.org/officeDocument/2006/relationships/font" Target="fonts/font8.fntdata"/><Relationship Id="rId66" Type="http://schemas.openxmlformats.org/officeDocument/2006/relationships/font" Target="fonts/font16.fntdata"/><Relationship Id="rId74"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font" Target="fonts/font11.fntdata"/><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font" Target="fonts/font6.fntdata"/><Relationship Id="rId64" Type="http://schemas.openxmlformats.org/officeDocument/2006/relationships/font" Target="fonts/font14.fntdata"/><Relationship Id="rId69" Type="http://schemas.openxmlformats.org/officeDocument/2006/relationships/font" Target="fonts/font19.fntdata"/><Relationship Id="rId77" Type="http://schemas.microsoft.com/office/2018/10/relationships/authors" Target="authors.xml"/><Relationship Id="rId8" Type="http://schemas.openxmlformats.org/officeDocument/2006/relationships/slide" Target="slides/slide4.xml"/><Relationship Id="rId51" Type="http://schemas.openxmlformats.org/officeDocument/2006/relationships/font" Target="fonts/font1.fntdata"/><Relationship Id="rId72"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font" Target="fonts/font9.fntdata"/><Relationship Id="rId67" Type="http://schemas.openxmlformats.org/officeDocument/2006/relationships/font" Target="fonts/font17.fntdata"/><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font" Target="fonts/font4.fntdata"/><Relationship Id="rId62" Type="http://schemas.openxmlformats.org/officeDocument/2006/relationships/font" Target="fonts/font12.fntdata"/><Relationship Id="rId70" Type="http://schemas.openxmlformats.org/officeDocument/2006/relationships/font" Target="fonts/font20.fntdata"/><Relationship Id="rId75"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font" Target="fonts/font7.fntdata"/><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font" Target="fonts/font2.fntdata"/><Relationship Id="rId60" Type="http://schemas.openxmlformats.org/officeDocument/2006/relationships/font" Target="fonts/font10.fntdata"/><Relationship Id="rId65" Type="http://schemas.openxmlformats.org/officeDocument/2006/relationships/font" Target="fonts/font15.fntdata"/><Relationship Id="rId73"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notesMaster" Target="notesMasters/notesMaster1.xml"/><Relationship Id="rId55" Type="http://schemas.openxmlformats.org/officeDocument/2006/relationships/font" Target="fonts/font5.fntdata"/><Relationship Id="rId76" Type="http://schemas.microsoft.com/office/2015/10/relationships/revisionInfo" Target="revisionInfo.xml"/><Relationship Id="rId7" Type="http://schemas.openxmlformats.org/officeDocument/2006/relationships/slide" Target="slides/slide3.xml"/><Relationship Id="rId71" Type="http://schemas.openxmlformats.org/officeDocument/2006/relationships/commentAuthors" Target="commentAuthors.xml"/><Relationship Id="rId2" Type="http://schemas.openxmlformats.org/officeDocument/2006/relationships/customXml" Target="../customXml/item2.xml"/><Relationship Id="rId29"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6b4f495656_0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6b4f495656_0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6b4f495656_0_6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6b4f495656_0_6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6b4f495656_0_6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6b4f495656_0_6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6b4f495656_0_6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6b4f495656_0_6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MUST BE UPDATED EVERY WEEK</a:t>
            </a:r>
            <a:endParaRPr/>
          </a:p>
          <a:p>
            <a:pPr marL="0" lvl="0" indent="0" algn="l" rtl="0">
              <a:spcBef>
                <a:spcPts val="0"/>
              </a:spcBef>
              <a:spcAft>
                <a:spcPts val="0"/>
              </a:spcAft>
              <a:buNone/>
            </a:pPr>
            <a:r>
              <a:rPr lang="en"/>
              <a:t>This is simply a log (journal) of what you do each day, and what you learn from it. It is your responsibility to update this regularly and frequently. Be sure to include working links to any specific evidence you are referencing (and make sure that you share your docs with the teaching team). Note: some of the required information may be captured in production documents such as your work log or peer reviews. </a:t>
            </a:r>
            <a:endParaRPr/>
          </a:p>
          <a:p>
            <a:pPr marL="0" lvl="0" indent="0" algn="l" rtl="0">
              <a:spcBef>
                <a:spcPts val="0"/>
              </a:spcBef>
              <a:spcAft>
                <a:spcPts val="0"/>
              </a:spcAft>
              <a:buNone/>
            </a:pPr>
            <a:r>
              <a:rPr lang="en"/>
              <a:t>In such cases, you simply need to provide links to those artifacts and may include any explanatory comment or reflection you feel is appropriate. </a:t>
            </a:r>
            <a:endParaRPr/>
          </a:p>
          <a:p>
            <a:pPr marL="0" lvl="0" indent="0" algn="l" rtl="0">
              <a:spcBef>
                <a:spcPts val="0"/>
              </a:spcBef>
              <a:spcAft>
                <a:spcPts val="0"/>
              </a:spcAft>
              <a:buNone/>
            </a:pPr>
            <a:r>
              <a:rPr lang="en"/>
              <a:t>(Some reflection is almost always a good idea as it provides the foundation for Section C.)</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6b602ea5a7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6b602ea5a7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Copy and paste the feedback from the previous block’s assessment into the text box.</a:t>
            </a:r>
            <a:endParaRPr/>
          </a:p>
          <a:p>
            <a:pPr marL="0" lvl="0" indent="0" algn="l" rtl="0">
              <a:spcBef>
                <a:spcPts val="0"/>
              </a:spcBef>
              <a:spcAft>
                <a:spcPts val="0"/>
              </a:spcAft>
              <a:buNone/>
            </a:pPr>
            <a:r>
              <a:rPr lang="en"/>
              <a:t>Copy and paste the bullet points you listed on the “Lessons Learned” page in section C of your last block’s log.</a:t>
            </a:r>
            <a:endParaRPr/>
          </a:p>
          <a:p>
            <a:pPr marL="0" lvl="0" indent="0" algn="l" rtl="0">
              <a:spcBef>
                <a:spcPts val="0"/>
              </a:spcBef>
              <a:spcAft>
                <a:spcPts val="0"/>
              </a:spcAft>
              <a:buNone/>
            </a:pPr>
            <a:r>
              <a:rPr lang="en"/>
              <a:t>Compare the grade you gave yourself with the grade you received, and reevaluate or restate your feeling on your current level of progress.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6b602ea5a7_1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6b602ea5a7_1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Describe your goals for this block using the SMARTER method. Make sure they are clear, relevant, have a measurable outcome, and can be recorded. Consider how well do they align with the role(s) you wish to take, and with the requirements given in the project brief. Think about the objectives you plan to choose, or that are mandated by the project. Are there any competencies that you need to focus on?</a:t>
            </a:r>
            <a:endParaRPr/>
          </a:p>
          <a:p>
            <a:pPr marL="0" lvl="0" indent="0" algn="l" rtl="0">
              <a:spcBef>
                <a:spcPts val="0"/>
              </a:spcBef>
              <a:spcAft>
                <a:spcPts val="0"/>
              </a:spcAft>
              <a:buNone/>
            </a:pPr>
            <a:endParaRPr/>
          </a:p>
          <a:p>
            <a:pPr marL="0" lvl="0" indent="0" algn="l" rtl="0">
              <a:spcBef>
                <a:spcPts val="0"/>
              </a:spcBef>
              <a:spcAft>
                <a:spcPts val="0"/>
              </a:spcAft>
              <a:buNone/>
            </a:pPr>
            <a:r>
              <a:rPr lang="en"/>
              <a:t>For each goal, find concrete examples of tasks you expect to undertake that will demonstrate this within the project for the block. Make sure the plan has an outcome that can be tracked and assessed. Make sure you have a clearly stated target for each goal. If you are unsure of how to demonstrate something, ask for help from your teachers.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a:extLst>
            <a:ext uri="{FF2B5EF4-FFF2-40B4-BE49-F238E27FC236}">
              <a16:creationId xmlns:a16="http://schemas.microsoft.com/office/drawing/2014/main" id="{D5CABDDF-2918-BCA9-3AD3-AC53B5164831}"/>
            </a:ext>
          </a:extLst>
        </p:cNvPr>
        <p:cNvGrpSpPr/>
        <p:nvPr/>
      </p:nvGrpSpPr>
      <p:grpSpPr>
        <a:xfrm>
          <a:off x="0" y="0"/>
          <a:ext cx="0" cy="0"/>
          <a:chOff x="0" y="0"/>
          <a:chExt cx="0" cy="0"/>
        </a:xfrm>
      </p:grpSpPr>
      <p:sp>
        <p:nvSpPr>
          <p:cNvPr id="140" name="Google Shape;140;g6b602ea5a7_1_93:notes">
            <a:extLst>
              <a:ext uri="{FF2B5EF4-FFF2-40B4-BE49-F238E27FC236}">
                <a16:creationId xmlns:a16="http://schemas.microsoft.com/office/drawing/2014/main" id="{1D80BCD9-10D8-A701-3CF7-90293F27C3B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6b602ea5a7_1_93:notes">
            <a:extLst>
              <a:ext uri="{FF2B5EF4-FFF2-40B4-BE49-F238E27FC236}">
                <a16:creationId xmlns:a16="http://schemas.microsoft.com/office/drawing/2014/main" id="{5CA2C12A-E4ED-6A48-0E94-DC50C36DED7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Describe your goals for this block using the SMARTER method. Make sure they are clear, relevant, have a measurable outcome, and can be recorded. Consider how well do they align with the role(s) you wish to take, and with the requirements given in the project brief. Think about the objectives you plan to choose, or that are mandated by the project. Are there any competencies that you need to focus on?</a:t>
            </a:r>
            <a:endParaRPr/>
          </a:p>
          <a:p>
            <a:pPr marL="0" lvl="0" indent="0" algn="l" rtl="0">
              <a:spcBef>
                <a:spcPts val="0"/>
              </a:spcBef>
              <a:spcAft>
                <a:spcPts val="0"/>
              </a:spcAft>
              <a:buNone/>
            </a:pPr>
            <a:endParaRPr/>
          </a:p>
          <a:p>
            <a:pPr marL="0" lvl="0" indent="0" algn="l" rtl="0">
              <a:spcBef>
                <a:spcPts val="0"/>
              </a:spcBef>
              <a:spcAft>
                <a:spcPts val="0"/>
              </a:spcAft>
              <a:buNone/>
            </a:pPr>
            <a:r>
              <a:rPr lang="en"/>
              <a:t>For each goal, find concrete examples of tasks you expect to undertake that will demonstrate this within the project for the block. Make sure the plan has an outcome that can be tracked and assessed. Make sure you have a clearly stated target for each goal. If you are unsure of how to demonstrate something, ask for help from your teachers.</a:t>
            </a:r>
            <a:endParaRPr/>
          </a:p>
        </p:txBody>
      </p:sp>
    </p:spTree>
    <p:extLst>
      <p:ext uri="{BB962C8B-B14F-4D97-AF65-F5344CB8AC3E}">
        <p14:creationId xmlns:p14="http://schemas.microsoft.com/office/powerpoint/2010/main" val="3278032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6b4f495656_0_6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6b4f495656_0_6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MUST BE UPDATED EVERY WEEK</a:t>
            </a:r>
            <a:endParaRPr/>
          </a:p>
          <a:p>
            <a:pPr marL="0" lvl="0" indent="0" algn="l" rtl="0">
              <a:spcBef>
                <a:spcPts val="0"/>
              </a:spcBef>
              <a:spcAft>
                <a:spcPts val="0"/>
              </a:spcAft>
              <a:buNone/>
            </a:pPr>
            <a:r>
              <a:rPr lang="en"/>
              <a:t>This is simply a log (journal) of what you do each day, and what you learn from it. It is your responsibility to update this regularly and frequently. Be sure to include working links to any specific evidence you are referencing (and make sure that you share your docs with the teaching team). Note: some of the required information may be captured in production documents such as your work log or peer reviews. </a:t>
            </a:r>
            <a:endParaRPr/>
          </a:p>
          <a:p>
            <a:pPr marL="0" lvl="0" indent="0" algn="l" rtl="0">
              <a:spcBef>
                <a:spcPts val="0"/>
              </a:spcBef>
              <a:spcAft>
                <a:spcPts val="0"/>
              </a:spcAft>
              <a:buNone/>
            </a:pPr>
            <a:r>
              <a:rPr lang="en"/>
              <a:t>In such cases, you simply need to provide links to those artifacts and may include any explanatory comment or reflection you feel is appropriate. </a:t>
            </a:r>
            <a:endParaRPr/>
          </a:p>
          <a:p>
            <a:pPr marL="0" lvl="0" indent="0" algn="l" rtl="0">
              <a:spcBef>
                <a:spcPts val="0"/>
              </a:spcBef>
              <a:spcAft>
                <a:spcPts val="0"/>
              </a:spcAft>
              <a:buNone/>
            </a:pPr>
            <a:r>
              <a:rPr lang="en"/>
              <a:t>(Some reflection is almost always a good idea as it provides the foundation for Section C.)</a:t>
            </a:r>
            <a:endParaRPr/>
          </a:p>
        </p:txBody>
      </p:sp>
    </p:spTree>
    <p:extLst>
      <p:ext uri="{BB962C8B-B14F-4D97-AF65-F5344CB8AC3E}">
        <p14:creationId xmlns:p14="http://schemas.microsoft.com/office/powerpoint/2010/main" val="3267376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75e44ff1a3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75e44ff1a3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75e44ff1a3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75e44ff1a3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75e44ff1a3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75e44ff1a3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6b602ea5a7_1_5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6b602ea5a7_1_5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983444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877827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782411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97772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539993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45870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893011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752333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260816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623156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6b4f495656_0_6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6b4f495656_0_6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MUST BE COMPLETED IN WEEK 8, BUT SHOULD BE UPDATED REGULARLY</a:t>
            </a:r>
            <a:endParaRPr/>
          </a:p>
          <a:p>
            <a:pPr marL="0" lvl="0" indent="0" algn="l" rtl="0">
              <a:spcBef>
                <a:spcPts val="0"/>
              </a:spcBef>
              <a:spcAft>
                <a:spcPts val="0"/>
              </a:spcAft>
              <a:buNone/>
            </a:pPr>
            <a:r>
              <a:rPr lang="en"/>
              <a:t>This is where you link your evidence to each of the Intended Learning Outcomes of this block.</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6b4f495656_0_7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638435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6b602ea5a7_1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924284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6b4f495656_0_7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316389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a:extLst>
            <a:ext uri="{FF2B5EF4-FFF2-40B4-BE49-F238E27FC236}">
              <a16:creationId xmlns:a16="http://schemas.microsoft.com/office/drawing/2014/main" id="{B8F160EC-5BBE-A783-36CF-204F52887513}"/>
            </a:ext>
          </a:extLst>
        </p:cNvPr>
        <p:cNvGrpSpPr/>
        <p:nvPr/>
      </p:nvGrpSpPr>
      <p:grpSpPr>
        <a:xfrm>
          <a:off x="0" y="0"/>
          <a:ext cx="0" cy="0"/>
          <a:chOff x="0" y="0"/>
          <a:chExt cx="0" cy="0"/>
        </a:xfrm>
      </p:grpSpPr>
      <p:sp>
        <p:nvSpPr>
          <p:cNvPr id="390" name="Google Shape;390;g6b602ea5a7_1_270:notes">
            <a:extLst>
              <a:ext uri="{FF2B5EF4-FFF2-40B4-BE49-F238E27FC236}">
                <a16:creationId xmlns:a16="http://schemas.microsoft.com/office/drawing/2014/main" id="{81D4952B-AD4F-0F42-D324-5D81ED9157A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a:extLst>
              <a:ext uri="{FF2B5EF4-FFF2-40B4-BE49-F238E27FC236}">
                <a16:creationId xmlns:a16="http://schemas.microsoft.com/office/drawing/2014/main" id="{CB8CF310-8582-0A1B-7BCD-5B938739D52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4170152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6b4f495656_0_7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9942396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a:extLst>
            <a:ext uri="{FF2B5EF4-FFF2-40B4-BE49-F238E27FC236}">
              <a16:creationId xmlns:a16="http://schemas.microsoft.com/office/drawing/2014/main" id="{AE447756-D18E-579D-2E8D-CA9E36B09C5E}"/>
            </a:ext>
          </a:extLst>
        </p:cNvPr>
        <p:cNvGrpSpPr/>
        <p:nvPr/>
      </p:nvGrpSpPr>
      <p:grpSpPr>
        <a:xfrm>
          <a:off x="0" y="0"/>
          <a:ext cx="0" cy="0"/>
          <a:chOff x="0" y="0"/>
          <a:chExt cx="0" cy="0"/>
        </a:xfrm>
      </p:grpSpPr>
      <p:sp>
        <p:nvSpPr>
          <p:cNvPr id="390" name="Google Shape;390;g6b602ea5a7_1_270:notes">
            <a:extLst>
              <a:ext uri="{FF2B5EF4-FFF2-40B4-BE49-F238E27FC236}">
                <a16:creationId xmlns:a16="http://schemas.microsoft.com/office/drawing/2014/main" id="{E520C49D-E449-AFF1-1A01-FB125F2F0A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a:extLst>
              <a:ext uri="{FF2B5EF4-FFF2-40B4-BE49-F238E27FC236}">
                <a16:creationId xmlns:a16="http://schemas.microsoft.com/office/drawing/2014/main" id="{727C839A-CFE7-F3EA-09A9-0B31D5BDF93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3888602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6b4f495656_0_7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3766264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a:extLst>
            <a:ext uri="{FF2B5EF4-FFF2-40B4-BE49-F238E27FC236}">
              <a16:creationId xmlns:a16="http://schemas.microsoft.com/office/drawing/2014/main" id="{F51BFFAF-FD50-7E37-69D9-98E8B38B0453}"/>
            </a:ext>
          </a:extLst>
        </p:cNvPr>
        <p:cNvGrpSpPr/>
        <p:nvPr/>
      </p:nvGrpSpPr>
      <p:grpSpPr>
        <a:xfrm>
          <a:off x="0" y="0"/>
          <a:ext cx="0" cy="0"/>
          <a:chOff x="0" y="0"/>
          <a:chExt cx="0" cy="0"/>
        </a:xfrm>
      </p:grpSpPr>
      <p:sp>
        <p:nvSpPr>
          <p:cNvPr id="390" name="Google Shape;390;g6b602ea5a7_1_270:notes">
            <a:extLst>
              <a:ext uri="{FF2B5EF4-FFF2-40B4-BE49-F238E27FC236}">
                <a16:creationId xmlns:a16="http://schemas.microsoft.com/office/drawing/2014/main" id="{2EEC0BCF-8B71-BDDD-BCFD-B29358D53A4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a:extLst>
              <a:ext uri="{FF2B5EF4-FFF2-40B4-BE49-F238E27FC236}">
                <a16:creationId xmlns:a16="http://schemas.microsoft.com/office/drawing/2014/main" id="{A2A58287-4887-169C-F31A-8077578E473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5641093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6b4f495656_0_7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376335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a:extLst>
            <a:ext uri="{FF2B5EF4-FFF2-40B4-BE49-F238E27FC236}">
              <a16:creationId xmlns:a16="http://schemas.microsoft.com/office/drawing/2014/main" id="{9384BEED-04DD-2749-EF42-68B0CB796DDC}"/>
            </a:ext>
          </a:extLst>
        </p:cNvPr>
        <p:cNvGrpSpPr/>
        <p:nvPr/>
      </p:nvGrpSpPr>
      <p:grpSpPr>
        <a:xfrm>
          <a:off x="0" y="0"/>
          <a:ext cx="0" cy="0"/>
          <a:chOff x="0" y="0"/>
          <a:chExt cx="0" cy="0"/>
        </a:xfrm>
      </p:grpSpPr>
      <p:sp>
        <p:nvSpPr>
          <p:cNvPr id="390" name="Google Shape;390;g6b602ea5a7_1_270:notes">
            <a:extLst>
              <a:ext uri="{FF2B5EF4-FFF2-40B4-BE49-F238E27FC236}">
                <a16:creationId xmlns:a16="http://schemas.microsoft.com/office/drawing/2014/main" id="{159DFD56-F277-A150-498E-3CF673D9A97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a:extLst>
              <a:ext uri="{FF2B5EF4-FFF2-40B4-BE49-F238E27FC236}">
                <a16:creationId xmlns:a16="http://schemas.microsoft.com/office/drawing/2014/main" id="{36A58440-77C0-DA60-0B51-463B14EDDD2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2490980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6b4f495656_0_7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3989192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a:extLst>
            <a:ext uri="{FF2B5EF4-FFF2-40B4-BE49-F238E27FC236}">
              <a16:creationId xmlns:a16="http://schemas.microsoft.com/office/drawing/2014/main" id="{88FD4632-9D2E-2923-02B1-97E51C64B303}"/>
            </a:ext>
          </a:extLst>
        </p:cNvPr>
        <p:cNvGrpSpPr/>
        <p:nvPr/>
      </p:nvGrpSpPr>
      <p:grpSpPr>
        <a:xfrm>
          <a:off x="0" y="0"/>
          <a:ext cx="0" cy="0"/>
          <a:chOff x="0" y="0"/>
          <a:chExt cx="0" cy="0"/>
        </a:xfrm>
      </p:grpSpPr>
      <p:sp>
        <p:nvSpPr>
          <p:cNvPr id="390" name="Google Shape;390;g6b602ea5a7_1_270:notes">
            <a:extLst>
              <a:ext uri="{FF2B5EF4-FFF2-40B4-BE49-F238E27FC236}">
                <a16:creationId xmlns:a16="http://schemas.microsoft.com/office/drawing/2014/main" id="{8E6E6763-5886-5CA2-DCF5-D3E99FF0ECC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a:extLst>
              <a:ext uri="{FF2B5EF4-FFF2-40B4-BE49-F238E27FC236}">
                <a16:creationId xmlns:a16="http://schemas.microsoft.com/office/drawing/2014/main" id="{609038FD-4275-9092-D4C6-973B0C210E7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5956249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a:extLst>
            <a:ext uri="{FF2B5EF4-FFF2-40B4-BE49-F238E27FC236}">
              <a16:creationId xmlns:a16="http://schemas.microsoft.com/office/drawing/2014/main" id="{8732CB22-5B74-2462-CA75-52D89177224D}"/>
            </a:ext>
          </a:extLst>
        </p:cNvPr>
        <p:cNvGrpSpPr/>
        <p:nvPr/>
      </p:nvGrpSpPr>
      <p:grpSpPr>
        <a:xfrm>
          <a:off x="0" y="0"/>
          <a:ext cx="0" cy="0"/>
          <a:chOff x="0" y="0"/>
          <a:chExt cx="0" cy="0"/>
        </a:xfrm>
      </p:grpSpPr>
      <p:sp>
        <p:nvSpPr>
          <p:cNvPr id="360" name="Google Shape;360;g6b4f495656_0_703:notes">
            <a:extLst>
              <a:ext uri="{FF2B5EF4-FFF2-40B4-BE49-F238E27FC236}">
                <a16:creationId xmlns:a16="http://schemas.microsoft.com/office/drawing/2014/main" id="{3D34096A-B75A-C995-33F4-48AC3F84A8C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a:extLst>
              <a:ext uri="{FF2B5EF4-FFF2-40B4-BE49-F238E27FC236}">
                <a16:creationId xmlns:a16="http://schemas.microsoft.com/office/drawing/2014/main" id="{AFE6391E-642D-0390-F985-30B6AECFDCD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0297164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a:extLst>
            <a:ext uri="{FF2B5EF4-FFF2-40B4-BE49-F238E27FC236}">
              <a16:creationId xmlns:a16="http://schemas.microsoft.com/office/drawing/2014/main" id="{7B8C4D33-6990-CEB7-7935-5B6175B70911}"/>
            </a:ext>
          </a:extLst>
        </p:cNvPr>
        <p:cNvGrpSpPr/>
        <p:nvPr/>
      </p:nvGrpSpPr>
      <p:grpSpPr>
        <a:xfrm>
          <a:off x="0" y="0"/>
          <a:ext cx="0" cy="0"/>
          <a:chOff x="0" y="0"/>
          <a:chExt cx="0" cy="0"/>
        </a:xfrm>
      </p:grpSpPr>
      <p:sp>
        <p:nvSpPr>
          <p:cNvPr id="390" name="Google Shape;390;g6b602ea5a7_1_270:notes">
            <a:extLst>
              <a:ext uri="{FF2B5EF4-FFF2-40B4-BE49-F238E27FC236}">
                <a16:creationId xmlns:a16="http://schemas.microsoft.com/office/drawing/2014/main" id="{231DBF74-B1A8-0275-5B22-A8DCFCFD77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a:extLst>
              <a:ext uri="{FF2B5EF4-FFF2-40B4-BE49-F238E27FC236}">
                <a16:creationId xmlns:a16="http://schemas.microsoft.com/office/drawing/2014/main" id="{5A0C84FF-EF62-D438-4535-8963F8C7DD5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9725165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g6b4f495656_0_7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5" name="Google Shape;465;g6b4f495656_0_7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7764803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g6b602ea5a7_1_3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3" name="Google Shape;473;g6b602ea5a7_1_3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0026842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g6b4f495656_0_7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5" name="Google Shape;495;g6b4f495656_0_7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MUST BE COMPLETED IN WEEK 8</a:t>
            </a:r>
            <a:endParaRPr/>
          </a:p>
          <a:p>
            <a:pPr marL="0" lvl="0" indent="0" algn="l" rtl="0">
              <a:spcBef>
                <a:spcPts val="0"/>
              </a:spcBef>
              <a:spcAft>
                <a:spcPts val="0"/>
              </a:spcAft>
              <a:buNone/>
            </a:pPr>
            <a:r>
              <a:rPr lang="en"/>
              <a:t>Summative reflection on your progress during the block including a critical assessment of everything you did and learned during the block. This is a comprehensive review of everything recorded in Section B, evaluated against the goals and planning laid out in Section A.</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g6b602ea5a7_1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2" name="Google Shape;502;g6b602ea5a7_1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g6b602ea5a7_1_2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1" name="Google Shape;511;g6b602ea5a7_1_2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_1">
    <p:bg>
      <p:bgPr>
        <a:solidFill>
          <a:srgbClr val="EC781C"/>
        </a:solidFill>
        <a:effectLst/>
      </p:bgPr>
    </p:bg>
    <p:spTree>
      <p:nvGrpSpPr>
        <p:cNvPr id="1" name="Shape 9"/>
        <p:cNvGrpSpPr/>
        <p:nvPr/>
      </p:nvGrpSpPr>
      <p:grpSpPr>
        <a:xfrm>
          <a:off x="0" y="0"/>
          <a:ext cx="0" cy="0"/>
          <a:chOff x="0" y="0"/>
          <a:chExt cx="0" cy="0"/>
        </a:xfrm>
      </p:grpSpPr>
      <p:sp>
        <p:nvSpPr>
          <p:cNvPr id="10" name="Google Shape;10;p2"/>
          <p:cNvSpPr/>
          <p:nvPr/>
        </p:nvSpPr>
        <p:spPr>
          <a:xfrm>
            <a:off x="3109025" y="-1200"/>
            <a:ext cx="6035100" cy="51462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0" y="4363525"/>
            <a:ext cx="9144000" cy="7773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txBox="1">
            <a:spLocks noGrp="1"/>
          </p:cNvSpPr>
          <p:nvPr>
            <p:ph type="ctrTitle"/>
          </p:nvPr>
        </p:nvSpPr>
        <p:spPr>
          <a:xfrm>
            <a:off x="3657600" y="548650"/>
            <a:ext cx="4937700" cy="32643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FFFFF"/>
              </a:buClr>
              <a:buSzPts val="1800"/>
              <a:buNone/>
              <a:defRPr sz="1800">
                <a:solidFill>
                  <a:srgbClr val="FFFFFF"/>
                </a:solidFill>
              </a:defRPr>
            </a:lvl1pPr>
            <a:lvl2pPr lvl="1" algn="ctr" rtl="0">
              <a:spcBef>
                <a:spcPts val="0"/>
              </a:spcBef>
              <a:spcAft>
                <a:spcPts val="0"/>
              </a:spcAft>
              <a:buClr>
                <a:srgbClr val="FFFFFF"/>
              </a:buClr>
              <a:buSzPts val="3600"/>
              <a:buNone/>
              <a:defRPr sz="3600">
                <a:solidFill>
                  <a:srgbClr val="FFFFFF"/>
                </a:solidFill>
              </a:defRPr>
            </a:lvl2pPr>
            <a:lvl3pPr lvl="2" algn="ctr" rtl="0">
              <a:spcBef>
                <a:spcPts val="0"/>
              </a:spcBef>
              <a:spcAft>
                <a:spcPts val="0"/>
              </a:spcAft>
              <a:buClr>
                <a:srgbClr val="FFFFFF"/>
              </a:buClr>
              <a:buSzPts val="3600"/>
              <a:buNone/>
              <a:defRPr sz="3600">
                <a:solidFill>
                  <a:srgbClr val="FFFFFF"/>
                </a:solidFill>
              </a:defRPr>
            </a:lvl3pPr>
            <a:lvl4pPr lvl="3" algn="ctr" rtl="0">
              <a:spcBef>
                <a:spcPts val="0"/>
              </a:spcBef>
              <a:spcAft>
                <a:spcPts val="0"/>
              </a:spcAft>
              <a:buClr>
                <a:srgbClr val="FFFFFF"/>
              </a:buClr>
              <a:buSzPts val="3600"/>
              <a:buNone/>
              <a:defRPr sz="3600">
                <a:solidFill>
                  <a:srgbClr val="FFFFFF"/>
                </a:solidFill>
              </a:defRPr>
            </a:lvl4pPr>
            <a:lvl5pPr lvl="4" algn="ctr" rtl="0">
              <a:spcBef>
                <a:spcPts val="0"/>
              </a:spcBef>
              <a:spcAft>
                <a:spcPts val="0"/>
              </a:spcAft>
              <a:buClr>
                <a:srgbClr val="FFFFFF"/>
              </a:buClr>
              <a:buSzPts val="3600"/>
              <a:buNone/>
              <a:defRPr sz="3600">
                <a:solidFill>
                  <a:srgbClr val="FFFFFF"/>
                </a:solidFill>
              </a:defRPr>
            </a:lvl5pPr>
            <a:lvl6pPr lvl="5" algn="ctr" rtl="0">
              <a:spcBef>
                <a:spcPts val="0"/>
              </a:spcBef>
              <a:spcAft>
                <a:spcPts val="0"/>
              </a:spcAft>
              <a:buClr>
                <a:srgbClr val="FFFFFF"/>
              </a:buClr>
              <a:buSzPts val="3600"/>
              <a:buNone/>
              <a:defRPr sz="3600">
                <a:solidFill>
                  <a:srgbClr val="FFFFFF"/>
                </a:solidFill>
              </a:defRPr>
            </a:lvl6pPr>
            <a:lvl7pPr lvl="6" algn="ctr" rtl="0">
              <a:spcBef>
                <a:spcPts val="0"/>
              </a:spcBef>
              <a:spcAft>
                <a:spcPts val="0"/>
              </a:spcAft>
              <a:buClr>
                <a:srgbClr val="FFFFFF"/>
              </a:buClr>
              <a:buSzPts val="3600"/>
              <a:buNone/>
              <a:defRPr sz="3600">
                <a:solidFill>
                  <a:srgbClr val="FFFFFF"/>
                </a:solidFill>
              </a:defRPr>
            </a:lvl7pPr>
            <a:lvl8pPr lvl="7" algn="ctr" rtl="0">
              <a:spcBef>
                <a:spcPts val="0"/>
              </a:spcBef>
              <a:spcAft>
                <a:spcPts val="0"/>
              </a:spcAft>
              <a:buClr>
                <a:srgbClr val="FFFFFF"/>
              </a:buClr>
              <a:buSzPts val="3600"/>
              <a:buNone/>
              <a:defRPr sz="3600">
                <a:solidFill>
                  <a:srgbClr val="FFFFFF"/>
                </a:solidFill>
              </a:defRPr>
            </a:lvl8pPr>
            <a:lvl9pPr lvl="8" algn="ctr" rtl="0">
              <a:spcBef>
                <a:spcPts val="0"/>
              </a:spcBef>
              <a:spcAft>
                <a:spcPts val="0"/>
              </a:spcAft>
              <a:buClr>
                <a:srgbClr val="FFFFFF"/>
              </a:buClr>
              <a:buSzPts val="3600"/>
              <a:buNone/>
              <a:defRPr sz="3600">
                <a:solidFill>
                  <a:srgbClr val="FFFFFF"/>
                </a:solidFill>
              </a:defRPr>
            </a:lvl9pPr>
          </a:lstStyle>
          <a:p>
            <a:r>
              <a:rPr lang="en-GB"/>
              <a:t>Click to edit Master title style</a:t>
            </a:r>
            <a:endParaRPr/>
          </a:p>
        </p:txBody>
      </p:sp>
      <p:sp>
        <p:nvSpPr>
          <p:cNvPr id="13" name="Google Shape;13;p2"/>
          <p:cNvSpPr txBox="1">
            <a:spLocks noGrp="1"/>
          </p:cNvSpPr>
          <p:nvPr>
            <p:ph type="subTitle" idx="1"/>
          </p:nvPr>
        </p:nvSpPr>
        <p:spPr>
          <a:xfrm>
            <a:off x="548650" y="548650"/>
            <a:ext cx="2011800" cy="3264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FFFFF"/>
              </a:buClr>
              <a:buSzPts val="1800"/>
              <a:buNone/>
              <a:defRPr sz="1800">
                <a:solidFill>
                  <a:srgbClr val="FFFFFF"/>
                </a:solidFill>
              </a:defRPr>
            </a:lvl1pPr>
            <a:lvl2pPr lvl="1" algn="ctr" rtl="0">
              <a:lnSpc>
                <a:spcPct val="100000"/>
              </a:lnSpc>
              <a:spcBef>
                <a:spcPts val="0"/>
              </a:spcBef>
              <a:spcAft>
                <a:spcPts val="0"/>
              </a:spcAft>
              <a:buClr>
                <a:srgbClr val="FFFFFF"/>
              </a:buClr>
              <a:buSzPts val="3000"/>
              <a:buNone/>
              <a:defRPr sz="3000">
                <a:solidFill>
                  <a:srgbClr val="FFFFFF"/>
                </a:solidFill>
              </a:defRPr>
            </a:lvl2pPr>
            <a:lvl3pPr lvl="2" algn="ctr" rtl="0">
              <a:lnSpc>
                <a:spcPct val="100000"/>
              </a:lnSpc>
              <a:spcBef>
                <a:spcPts val="0"/>
              </a:spcBef>
              <a:spcAft>
                <a:spcPts val="0"/>
              </a:spcAft>
              <a:buClr>
                <a:srgbClr val="FFFFFF"/>
              </a:buClr>
              <a:buSzPts val="3000"/>
              <a:buNone/>
              <a:defRPr sz="3000">
                <a:solidFill>
                  <a:srgbClr val="FFFFFF"/>
                </a:solidFill>
              </a:defRPr>
            </a:lvl3pPr>
            <a:lvl4pPr lvl="3" algn="ctr" rtl="0">
              <a:lnSpc>
                <a:spcPct val="100000"/>
              </a:lnSpc>
              <a:spcBef>
                <a:spcPts val="0"/>
              </a:spcBef>
              <a:spcAft>
                <a:spcPts val="0"/>
              </a:spcAft>
              <a:buClr>
                <a:srgbClr val="FFFFFF"/>
              </a:buClr>
              <a:buSzPts val="3000"/>
              <a:buNone/>
              <a:defRPr sz="3000">
                <a:solidFill>
                  <a:srgbClr val="FFFFFF"/>
                </a:solidFill>
              </a:defRPr>
            </a:lvl4pPr>
            <a:lvl5pPr lvl="4" algn="ctr" rtl="0">
              <a:lnSpc>
                <a:spcPct val="100000"/>
              </a:lnSpc>
              <a:spcBef>
                <a:spcPts val="0"/>
              </a:spcBef>
              <a:spcAft>
                <a:spcPts val="0"/>
              </a:spcAft>
              <a:buClr>
                <a:srgbClr val="FFFFFF"/>
              </a:buClr>
              <a:buSzPts val="3000"/>
              <a:buNone/>
              <a:defRPr sz="3000">
                <a:solidFill>
                  <a:srgbClr val="FFFFFF"/>
                </a:solidFill>
              </a:defRPr>
            </a:lvl5pPr>
            <a:lvl6pPr lvl="5" algn="ctr" rtl="0">
              <a:lnSpc>
                <a:spcPct val="100000"/>
              </a:lnSpc>
              <a:spcBef>
                <a:spcPts val="0"/>
              </a:spcBef>
              <a:spcAft>
                <a:spcPts val="0"/>
              </a:spcAft>
              <a:buClr>
                <a:srgbClr val="FFFFFF"/>
              </a:buClr>
              <a:buSzPts val="3000"/>
              <a:buNone/>
              <a:defRPr sz="3000">
                <a:solidFill>
                  <a:srgbClr val="FFFFFF"/>
                </a:solidFill>
              </a:defRPr>
            </a:lvl6pPr>
            <a:lvl7pPr lvl="6" algn="ctr" rtl="0">
              <a:lnSpc>
                <a:spcPct val="100000"/>
              </a:lnSpc>
              <a:spcBef>
                <a:spcPts val="0"/>
              </a:spcBef>
              <a:spcAft>
                <a:spcPts val="0"/>
              </a:spcAft>
              <a:buClr>
                <a:srgbClr val="FFFFFF"/>
              </a:buClr>
              <a:buSzPts val="3000"/>
              <a:buNone/>
              <a:defRPr sz="3000">
                <a:solidFill>
                  <a:srgbClr val="FFFFFF"/>
                </a:solidFill>
              </a:defRPr>
            </a:lvl7pPr>
            <a:lvl8pPr lvl="7" algn="ctr" rtl="0">
              <a:lnSpc>
                <a:spcPct val="100000"/>
              </a:lnSpc>
              <a:spcBef>
                <a:spcPts val="0"/>
              </a:spcBef>
              <a:spcAft>
                <a:spcPts val="0"/>
              </a:spcAft>
              <a:buClr>
                <a:srgbClr val="FFFFFF"/>
              </a:buClr>
              <a:buSzPts val="3000"/>
              <a:buNone/>
              <a:defRPr sz="3000">
                <a:solidFill>
                  <a:srgbClr val="FFFFFF"/>
                </a:solidFill>
              </a:defRPr>
            </a:lvl8pPr>
            <a:lvl9pPr lvl="8" algn="ctr" rtl="0">
              <a:lnSpc>
                <a:spcPct val="100000"/>
              </a:lnSpc>
              <a:spcBef>
                <a:spcPts val="0"/>
              </a:spcBef>
              <a:spcAft>
                <a:spcPts val="0"/>
              </a:spcAft>
              <a:buClr>
                <a:srgbClr val="FFFFFF"/>
              </a:buClr>
              <a:buSzPts val="3000"/>
              <a:buNone/>
              <a:defRPr sz="3000">
                <a:solidFill>
                  <a:srgbClr val="FFFFFF"/>
                </a:solidFill>
              </a:defRPr>
            </a:lvl9pPr>
          </a:lstStyle>
          <a:p>
            <a:r>
              <a:rPr lang="en-GB"/>
              <a:t>Click to edit Master subtitle style</a:t>
            </a:r>
            <a:endParaRPr/>
          </a:p>
        </p:txBody>
      </p:sp>
      <p:pic>
        <p:nvPicPr>
          <p:cNvPr id="14" name="Google Shape;14;p2"/>
          <p:cNvPicPr preferRelativeResize="0"/>
          <p:nvPr/>
        </p:nvPicPr>
        <p:blipFill>
          <a:blip r:embed="rId2">
            <a:alphaModFix/>
          </a:blip>
          <a:stretch>
            <a:fillRect/>
          </a:stretch>
        </p:blipFill>
        <p:spPr>
          <a:xfrm>
            <a:off x="164592" y="4523578"/>
            <a:ext cx="1329394" cy="457200"/>
          </a:xfrm>
          <a:prstGeom prst="rect">
            <a:avLst/>
          </a:prstGeom>
          <a:noFill/>
          <a:ln>
            <a:noFill/>
          </a:ln>
        </p:spPr>
      </p:pic>
      <p:graphicFrame>
        <p:nvGraphicFramePr>
          <p:cNvPr id="4" name="Table 3">
            <a:extLst>
              <a:ext uri="{FF2B5EF4-FFF2-40B4-BE49-F238E27FC236}">
                <a16:creationId xmlns:a16="http://schemas.microsoft.com/office/drawing/2014/main" id="{9C37A2C8-F053-CFA5-72C7-D1B7AFD043D0}"/>
              </a:ext>
            </a:extLst>
          </p:cNvPr>
          <p:cNvGraphicFramePr>
            <a:graphicFrameLocks noGrp="1"/>
          </p:cNvGraphicFramePr>
          <p:nvPr userDrawn="1">
            <p:extLst>
              <p:ext uri="{D42A27DB-BD31-4B8C-83A1-F6EECF244321}">
                <p14:modId xmlns:p14="http://schemas.microsoft.com/office/powerpoint/2010/main" val="251012479"/>
              </p:ext>
            </p:extLst>
          </p:nvPr>
        </p:nvGraphicFramePr>
        <p:xfrm>
          <a:off x="1845398" y="4454995"/>
          <a:ext cx="7094899" cy="594360"/>
        </p:xfrm>
        <a:graphic>
          <a:graphicData uri="http://schemas.openxmlformats.org/drawingml/2006/table">
            <a:tbl>
              <a:tblPr firstRow="1" bandRow="1">
                <a:tableStyleId>{764D4AE7-FFBC-431D-9275-528F30A785D3}</a:tableStyleId>
              </a:tblPr>
              <a:tblGrid>
                <a:gridCol w="1189355">
                  <a:extLst>
                    <a:ext uri="{9D8B030D-6E8A-4147-A177-3AD203B41FA5}">
                      <a16:colId xmlns:a16="http://schemas.microsoft.com/office/drawing/2014/main" val="828907917"/>
                    </a:ext>
                  </a:extLst>
                </a:gridCol>
                <a:gridCol w="5905544">
                  <a:extLst>
                    <a:ext uri="{9D8B030D-6E8A-4147-A177-3AD203B41FA5}">
                      <a16:colId xmlns:a16="http://schemas.microsoft.com/office/drawing/2014/main" val="682174830"/>
                    </a:ext>
                  </a:extLst>
                </a:gridCol>
              </a:tblGrid>
              <a:tr h="18542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 sz="700" b="1">
                          <a:solidFill>
                            <a:srgbClr val="999999"/>
                          </a:solidFill>
                          <a:latin typeface="Helvetica Neue"/>
                          <a:ea typeface="Helvetica Neue"/>
                          <a:cs typeface="Helvetica Neue"/>
                          <a:sym typeface="Helvetica Neue"/>
                        </a:rPr>
                        <a:t>Project Brief</a:t>
                      </a:r>
                      <a:r>
                        <a:rPr lang="en-NL" sz="700" b="1">
                          <a:solidFill>
                            <a:srgbClr val="999999"/>
                          </a:solidFill>
                          <a:latin typeface="Helvetica Neue"/>
                          <a:ea typeface="Helvetica Neue"/>
                          <a:cs typeface="Helvetica Neue"/>
                          <a:sym typeface="Helvetica Neue"/>
                        </a:rPr>
                        <a:t>:</a:t>
                      </a:r>
                      <a:r>
                        <a:rPr lang="en" sz="700" b="1">
                          <a:solidFill>
                            <a:srgbClr val="999999"/>
                          </a:solidFill>
                          <a:latin typeface="Helvetica Neue"/>
                          <a:ea typeface="Helvetica Neue"/>
                          <a:cs typeface="Helvetica Neue"/>
                          <a:sym typeface="Helvetica Neue"/>
                        </a:rPr>
                        <a:t> </a:t>
                      </a:r>
                      <a:endParaRPr lang="en-NL" sz="700" b="1">
                        <a:solidFill>
                          <a:srgbClr val="999999"/>
                        </a:solidFill>
                        <a:latin typeface="Helvetica Neue"/>
                        <a:ea typeface="Helvetica Neue"/>
                        <a:cs typeface="Helvetica Neue"/>
                        <a:sym typeface="Helvetica Neue"/>
                      </a:endParaRPr>
                    </a:p>
                  </a:txBody>
                  <a:tcPr/>
                </a:tc>
                <a:tc>
                  <a:txBody>
                    <a:bodyPr/>
                    <a:lstStyle/>
                    <a:p>
                      <a:endParaRPr lang="en-GB" sz="700"/>
                    </a:p>
                  </a:txBody>
                  <a:tcPr/>
                </a:tc>
                <a:extLst>
                  <a:ext uri="{0D108BD9-81ED-4DB2-BD59-A6C34878D82A}">
                    <a16:rowId xmlns:a16="http://schemas.microsoft.com/office/drawing/2014/main" val="1000607423"/>
                  </a:ext>
                </a:extLst>
              </a:tr>
              <a:tr h="18542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700" b="1">
                          <a:solidFill>
                            <a:srgbClr val="999999"/>
                          </a:solidFill>
                          <a:latin typeface="Helvetica Neue"/>
                          <a:ea typeface="Helvetica Neue"/>
                          <a:cs typeface="Helvetica Neue"/>
                          <a:sym typeface="Helvetica Neue"/>
                        </a:rPr>
                        <a:t>Assessment Assignment:</a:t>
                      </a:r>
                      <a:endParaRPr lang="en-US" sz="700" b="1">
                        <a:latin typeface="Helvetica Neue"/>
                        <a:ea typeface="Helvetica Neue"/>
                        <a:cs typeface="Helvetica Neue"/>
                        <a:sym typeface="Helvetica Neue"/>
                      </a:endParaRPr>
                    </a:p>
                  </a:txBody>
                  <a:tcPr/>
                </a:tc>
                <a:tc>
                  <a:txBody>
                    <a:bodyPr/>
                    <a:lstStyle/>
                    <a:p>
                      <a:endParaRPr lang="en-GB" sz="700"/>
                    </a:p>
                  </a:txBody>
                  <a:tcPr/>
                </a:tc>
                <a:extLst>
                  <a:ext uri="{0D108BD9-81ED-4DB2-BD59-A6C34878D82A}">
                    <a16:rowId xmlns:a16="http://schemas.microsoft.com/office/drawing/2014/main" val="1233139930"/>
                  </a:ext>
                </a:extLst>
              </a:tr>
              <a:tr h="185420">
                <a:tc>
                  <a:txBody>
                    <a:bodyPr/>
                    <a:lstStyle/>
                    <a:p>
                      <a:r>
                        <a:rPr lang="en-NL" sz="700" b="1">
                          <a:solidFill>
                            <a:srgbClr val="999999"/>
                          </a:solidFill>
                          <a:latin typeface="Helvetica Neue"/>
                          <a:ea typeface="Helvetica Neue"/>
                          <a:cs typeface="Helvetica Neue"/>
                          <a:sym typeface="Helvetica Neue"/>
                        </a:rPr>
                        <a:t>Student </a:t>
                      </a:r>
                      <a:r>
                        <a:rPr lang="en" sz="700" b="1">
                          <a:solidFill>
                            <a:srgbClr val="999999"/>
                          </a:solidFill>
                          <a:latin typeface="Helvetica Neue"/>
                          <a:ea typeface="Helvetica Neue"/>
                          <a:cs typeface="Helvetica Neue"/>
                          <a:sym typeface="Helvetica Neue"/>
                        </a:rPr>
                        <a:t>GitHub Folder: </a:t>
                      </a:r>
                      <a:endParaRPr lang="en-GB" sz="700"/>
                    </a:p>
                  </a:txBody>
                  <a:tcPr/>
                </a:tc>
                <a:tc>
                  <a:txBody>
                    <a:bodyPr/>
                    <a:lstStyle/>
                    <a:p>
                      <a:endParaRPr lang="en-GB" sz="700"/>
                    </a:p>
                  </a:txBody>
                  <a:tcPr/>
                </a:tc>
                <a:extLst>
                  <a:ext uri="{0D108BD9-81ED-4DB2-BD59-A6C34878D82A}">
                    <a16:rowId xmlns:a16="http://schemas.microsoft.com/office/drawing/2014/main" val="1618248095"/>
                  </a:ext>
                </a:extLst>
              </a:tr>
            </a:tbl>
          </a:graphicData>
        </a:graphic>
      </p:graphicFrame>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p:cSld name="CUSTOM_1_2">
    <p:bg>
      <p:bgPr>
        <a:solidFill>
          <a:srgbClr val="666666"/>
        </a:solidFill>
        <a:effectLst/>
      </p:bgPr>
    </p:bg>
    <p:spTree>
      <p:nvGrpSpPr>
        <p:cNvPr id="1" name="Shape 17"/>
        <p:cNvGrpSpPr/>
        <p:nvPr/>
      </p:nvGrpSpPr>
      <p:grpSpPr>
        <a:xfrm>
          <a:off x="0" y="0"/>
          <a:ext cx="0" cy="0"/>
          <a:chOff x="0" y="0"/>
          <a:chExt cx="0" cy="0"/>
        </a:xfrm>
      </p:grpSpPr>
      <p:sp>
        <p:nvSpPr>
          <p:cNvPr id="18" name="Google Shape;18;p3"/>
          <p:cNvSpPr txBox="1">
            <a:spLocks noGrp="1"/>
          </p:cNvSpPr>
          <p:nvPr>
            <p:ph type="ctrTitle"/>
          </p:nvPr>
        </p:nvSpPr>
        <p:spPr>
          <a:xfrm>
            <a:off x="1828800" y="1453896"/>
            <a:ext cx="7315200" cy="1501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6000"/>
              <a:buFont typeface="Roboto Thin"/>
              <a:buNone/>
              <a:defRPr sz="6000" b="0">
                <a:solidFill>
                  <a:srgbClr val="FFFFFF"/>
                </a:solidFill>
                <a:latin typeface="Roboto Thin"/>
                <a:ea typeface="Roboto Thin"/>
                <a:cs typeface="Roboto Thin"/>
                <a:sym typeface="Roboto Thin"/>
              </a:defRPr>
            </a:lvl1pPr>
            <a:lvl2pPr lvl="1" algn="ctr" rtl="0">
              <a:spcBef>
                <a:spcPts val="0"/>
              </a:spcBef>
              <a:spcAft>
                <a:spcPts val="0"/>
              </a:spcAft>
              <a:buClr>
                <a:srgbClr val="FFFFFF"/>
              </a:buClr>
              <a:buSzPts val="3600"/>
              <a:buNone/>
              <a:defRPr sz="3600">
                <a:solidFill>
                  <a:srgbClr val="FFFFFF"/>
                </a:solidFill>
              </a:defRPr>
            </a:lvl2pPr>
            <a:lvl3pPr lvl="2" algn="ctr" rtl="0">
              <a:spcBef>
                <a:spcPts val="0"/>
              </a:spcBef>
              <a:spcAft>
                <a:spcPts val="0"/>
              </a:spcAft>
              <a:buClr>
                <a:srgbClr val="FFFFFF"/>
              </a:buClr>
              <a:buSzPts val="3600"/>
              <a:buNone/>
              <a:defRPr sz="3600">
                <a:solidFill>
                  <a:srgbClr val="FFFFFF"/>
                </a:solidFill>
              </a:defRPr>
            </a:lvl3pPr>
            <a:lvl4pPr lvl="3" algn="ctr" rtl="0">
              <a:spcBef>
                <a:spcPts val="0"/>
              </a:spcBef>
              <a:spcAft>
                <a:spcPts val="0"/>
              </a:spcAft>
              <a:buClr>
                <a:srgbClr val="FFFFFF"/>
              </a:buClr>
              <a:buSzPts val="3600"/>
              <a:buNone/>
              <a:defRPr sz="3600">
                <a:solidFill>
                  <a:srgbClr val="FFFFFF"/>
                </a:solidFill>
              </a:defRPr>
            </a:lvl4pPr>
            <a:lvl5pPr lvl="4" algn="ctr" rtl="0">
              <a:spcBef>
                <a:spcPts val="0"/>
              </a:spcBef>
              <a:spcAft>
                <a:spcPts val="0"/>
              </a:spcAft>
              <a:buClr>
                <a:srgbClr val="FFFFFF"/>
              </a:buClr>
              <a:buSzPts val="3600"/>
              <a:buNone/>
              <a:defRPr sz="3600">
                <a:solidFill>
                  <a:srgbClr val="FFFFFF"/>
                </a:solidFill>
              </a:defRPr>
            </a:lvl5pPr>
            <a:lvl6pPr lvl="5" algn="ctr" rtl="0">
              <a:spcBef>
                <a:spcPts val="0"/>
              </a:spcBef>
              <a:spcAft>
                <a:spcPts val="0"/>
              </a:spcAft>
              <a:buClr>
                <a:srgbClr val="FFFFFF"/>
              </a:buClr>
              <a:buSzPts val="3600"/>
              <a:buNone/>
              <a:defRPr sz="3600">
                <a:solidFill>
                  <a:srgbClr val="FFFFFF"/>
                </a:solidFill>
              </a:defRPr>
            </a:lvl6pPr>
            <a:lvl7pPr lvl="6" algn="ctr" rtl="0">
              <a:spcBef>
                <a:spcPts val="0"/>
              </a:spcBef>
              <a:spcAft>
                <a:spcPts val="0"/>
              </a:spcAft>
              <a:buClr>
                <a:srgbClr val="FFFFFF"/>
              </a:buClr>
              <a:buSzPts val="3600"/>
              <a:buNone/>
              <a:defRPr sz="3600">
                <a:solidFill>
                  <a:srgbClr val="FFFFFF"/>
                </a:solidFill>
              </a:defRPr>
            </a:lvl7pPr>
            <a:lvl8pPr lvl="7" algn="ctr" rtl="0">
              <a:spcBef>
                <a:spcPts val="0"/>
              </a:spcBef>
              <a:spcAft>
                <a:spcPts val="0"/>
              </a:spcAft>
              <a:buClr>
                <a:srgbClr val="FFFFFF"/>
              </a:buClr>
              <a:buSzPts val="3600"/>
              <a:buNone/>
              <a:defRPr sz="3600">
                <a:solidFill>
                  <a:srgbClr val="FFFFFF"/>
                </a:solidFill>
              </a:defRPr>
            </a:lvl8pPr>
            <a:lvl9pPr lvl="8" algn="ctr" rtl="0">
              <a:spcBef>
                <a:spcPts val="0"/>
              </a:spcBef>
              <a:spcAft>
                <a:spcPts val="0"/>
              </a:spcAft>
              <a:buClr>
                <a:srgbClr val="FFFFFF"/>
              </a:buClr>
              <a:buSzPts val="3600"/>
              <a:buNone/>
              <a:defRPr sz="3600">
                <a:solidFill>
                  <a:srgbClr val="FFFFFF"/>
                </a:solidFill>
              </a:defRPr>
            </a:lvl9pPr>
          </a:lstStyle>
          <a:p>
            <a:r>
              <a:rPr lang="en-GB"/>
              <a:t>Click to edit Master title style</a:t>
            </a:r>
            <a:endParaRPr/>
          </a:p>
        </p:txBody>
      </p:sp>
      <p:sp>
        <p:nvSpPr>
          <p:cNvPr id="19" name="Google Shape;19;p3"/>
          <p:cNvSpPr txBox="1">
            <a:spLocks noGrp="1"/>
          </p:cNvSpPr>
          <p:nvPr>
            <p:ph type="subTitle" idx="1"/>
          </p:nvPr>
        </p:nvSpPr>
        <p:spPr>
          <a:xfrm>
            <a:off x="1828800" y="2953512"/>
            <a:ext cx="7315200" cy="685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1pPr>
            <a:lvl2pPr lvl="1"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2pPr>
            <a:lvl3pPr lvl="2"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3pPr>
            <a:lvl4pPr lvl="3"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4pPr>
            <a:lvl5pPr lvl="4"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5pPr>
            <a:lvl6pPr lvl="5"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6pPr>
            <a:lvl7pPr lvl="6"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7pPr>
            <a:lvl8pPr lvl="7"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8pPr>
            <a:lvl9pPr lvl="8"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9pPr>
          </a:lstStyle>
          <a:p>
            <a:r>
              <a:rPr lang="en-GB"/>
              <a:t>Click to edit Master subtitle style</a:t>
            </a:r>
            <a:endParaRPr/>
          </a:p>
        </p:txBody>
      </p:sp>
      <p:sp>
        <p:nvSpPr>
          <p:cNvPr id="2" name="Rectangle 1">
            <a:extLst>
              <a:ext uri="{FF2B5EF4-FFF2-40B4-BE49-F238E27FC236}">
                <a16:creationId xmlns:a16="http://schemas.microsoft.com/office/drawing/2014/main" id="{ED2E902F-3793-054A-A49F-5F75EC799503}"/>
              </a:ext>
            </a:extLst>
          </p:cNvPr>
          <p:cNvSpPr/>
          <p:nvPr userDrawn="1"/>
        </p:nvSpPr>
        <p:spPr>
          <a:xfrm>
            <a:off x="0" y="4393870"/>
            <a:ext cx="9144000" cy="7496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Google Shape;20;p3"/>
          <p:cNvPicPr preferRelativeResize="0"/>
          <p:nvPr/>
        </p:nvPicPr>
        <p:blipFill>
          <a:blip r:embed="rId2">
            <a:alphaModFix/>
          </a:blip>
          <a:stretch>
            <a:fillRect/>
          </a:stretch>
        </p:blipFill>
        <p:spPr>
          <a:xfrm>
            <a:off x="7214616" y="4434840"/>
            <a:ext cx="1691640" cy="58267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Sub-Header">
  <p:cSld name="CUSTOM_1_2_1">
    <p:bg>
      <p:bgPr>
        <a:solidFill>
          <a:srgbClr val="666666"/>
        </a:solidFill>
        <a:effectLst/>
      </p:bgPr>
    </p:bg>
    <p:spTree>
      <p:nvGrpSpPr>
        <p:cNvPr id="1" name="Shape 21"/>
        <p:cNvGrpSpPr/>
        <p:nvPr/>
      </p:nvGrpSpPr>
      <p:grpSpPr>
        <a:xfrm>
          <a:off x="0" y="0"/>
          <a:ext cx="0" cy="0"/>
          <a:chOff x="0" y="0"/>
          <a:chExt cx="0" cy="0"/>
        </a:xfrm>
      </p:grpSpPr>
      <p:sp>
        <p:nvSpPr>
          <p:cNvPr id="22" name="Google Shape;22;p4"/>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Font typeface="Roboto Thin"/>
              <a:buNone/>
              <a:defRPr sz="6000" b="0">
                <a:latin typeface="Roboto Thin"/>
                <a:ea typeface="Roboto Thin"/>
                <a:cs typeface="Roboto Thin"/>
                <a:sym typeface="Roboto Thin"/>
              </a:defRPr>
            </a:lvl1pPr>
            <a:lvl2pPr lvl="1" algn="ctr" rtl="0">
              <a:spcBef>
                <a:spcPts val="0"/>
              </a:spcBef>
              <a:spcAft>
                <a:spcPts val="0"/>
              </a:spcAft>
              <a:buClr>
                <a:srgbClr val="434343"/>
              </a:buClr>
              <a:buSzPts val="3600"/>
              <a:buNone/>
              <a:defRPr sz="3600">
                <a:solidFill>
                  <a:srgbClr val="434343"/>
                </a:solidFill>
              </a:defRPr>
            </a:lvl2pPr>
            <a:lvl3pPr lvl="2" algn="ctr" rtl="0">
              <a:spcBef>
                <a:spcPts val="0"/>
              </a:spcBef>
              <a:spcAft>
                <a:spcPts val="0"/>
              </a:spcAft>
              <a:buClr>
                <a:srgbClr val="434343"/>
              </a:buClr>
              <a:buSzPts val="3600"/>
              <a:buNone/>
              <a:defRPr sz="3600">
                <a:solidFill>
                  <a:srgbClr val="434343"/>
                </a:solidFill>
              </a:defRPr>
            </a:lvl3pPr>
            <a:lvl4pPr lvl="3" algn="ctr" rtl="0">
              <a:spcBef>
                <a:spcPts val="0"/>
              </a:spcBef>
              <a:spcAft>
                <a:spcPts val="0"/>
              </a:spcAft>
              <a:buClr>
                <a:srgbClr val="434343"/>
              </a:buClr>
              <a:buSzPts val="3600"/>
              <a:buNone/>
              <a:defRPr sz="3600">
                <a:solidFill>
                  <a:srgbClr val="434343"/>
                </a:solidFill>
              </a:defRPr>
            </a:lvl4pPr>
            <a:lvl5pPr lvl="4" algn="ctr" rtl="0">
              <a:spcBef>
                <a:spcPts val="0"/>
              </a:spcBef>
              <a:spcAft>
                <a:spcPts val="0"/>
              </a:spcAft>
              <a:buClr>
                <a:srgbClr val="434343"/>
              </a:buClr>
              <a:buSzPts val="3600"/>
              <a:buNone/>
              <a:defRPr sz="3600">
                <a:solidFill>
                  <a:srgbClr val="434343"/>
                </a:solidFill>
              </a:defRPr>
            </a:lvl5pPr>
            <a:lvl6pPr lvl="5" algn="ctr" rtl="0">
              <a:spcBef>
                <a:spcPts val="0"/>
              </a:spcBef>
              <a:spcAft>
                <a:spcPts val="0"/>
              </a:spcAft>
              <a:buClr>
                <a:srgbClr val="434343"/>
              </a:buClr>
              <a:buSzPts val="3600"/>
              <a:buNone/>
              <a:defRPr sz="3600">
                <a:solidFill>
                  <a:srgbClr val="434343"/>
                </a:solidFill>
              </a:defRPr>
            </a:lvl6pPr>
            <a:lvl7pPr lvl="6" algn="ctr" rtl="0">
              <a:spcBef>
                <a:spcPts val="0"/>
              </a:spcBef>
              <a:spcAft>
                <a:spcPts val="0"/>
              </a:spcAft>
              <a:buClr>
                <a:srgbClr val="434343"/>
              </a:buClr>
              <a:buSzPts val="3600"/>
              <a:buNone/>
              <a:defRPr sz="3600">
                <a:solidFill>
                  <a:srgbClr val="434343"/>
                </a:solidFill>
              </a:defRPr>
            </a:lvl7pPr>
            <a:lvl8pPr lvl="7" algn="ctr" rtl="0">
              <a:spcBef>
                <a:spcPts val="0"/>
              </a:spcBef>
              <a:spcAft>
                <a:spcPts val="0"/>
              </a:spcAft>
              <a:buClr>
                <a:srgbClr val="434343"/>
              </a:buClr>
              <a:buSzPts val="3600"/>
              <a:buNone/>
              <a:defRPr sz="3600">
                <a:solidFill>
                  <a:srgbClr val="434343"/>
                </a:solidFill>
              </a:defRPr>
            </a:lvl8pPr>
            <a:lvl9pPr lvl="8" algn="ctr" rtl="0">
              <a:spcBef>
                <a:spcPts val="0"/>
              </a:spcBef>
              <a:spcAft>
                <a:spcPts val="0"/>
              </a:spcAft>
              <a:buClr>
                <a:srgbClr val="434343"/>
              </a:buClr>
              <a:buSzPts val="3600"/>
              <a:buNone/>
              <a:defRPr sz="3600">
                <a:solidFill>
                  <a:srgbClr val="434343"/>
                </a:solidFill>
              </a:defRPr>
            </a:lvl9pPr>
          </a:lstStyle>
          <a:p>
            <a:r>
              <a:rPr lang="en-GB"/>
              <a:t>Click to edit Master title style</a:t>
            </a:r>
            <a:endParaRPr/>
          </a:p>
        </p:txBody>
      </p:sp>
      <p:sp>
        <p:nvSpPr>
          <p:cNvPr id="23" name="Google Shape;23;p4"/>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1pPr>
            <a:lvl2pPr lvl="1"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2pPr>
            <a:lvl3pPr lvl="2"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3pPr>
            <a:lvl4pPr lvl="3"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4pPr>
            <a:lvl5pPr lvl="4"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5pPr>
            <a:lvl6pPr lvl="5"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6pPr>
            <a:lvl7pPr lvl="6"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7pPr>
            <a:lvl8pPr lvl="7"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8pPr>
            <a:lvl9pPr lvl="8"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9pPr>
          </a:lstStyle>
          <a:p>
            <a:r>
              <a:rPr lang="en-GB"/>
              <a:t>Click to edit Master subtitle style</a:t>
            </a:r>
            <a:endParaRPr/>
          </a:p>
        </p:txBody>
      </p:sp>
      <p:sp>
        <p:nvSpPr>
          <p:cNvPr id="24" name="Google Shape;24;p4"/>
          <p:cNvSpPr txBox="1">
            <a:spLocks noGrp="1"/>
          </p:cNvSpPr>
          <p:nvPr>
            <p:ph type="subTitle" idx="2"/>
          </p:nvPr>
        </p:nvSpPr>
        <p:spPr>
          <a:xfrm>
            <a:off x="3200400" y="3353563"/>
            <a:ext cx="5486400" cy="6858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000"/>
              <a:buFont typeface="Roboto Light"/>
              <a:buNone/>
              <a:defRPr>
                <a:latin typeface="Roboto Light"/>
                <a:ea typeface="Roboto Light"/>
                <a:cs typeface="Roboto Light"/>
                <a:sym typeface="Roboto Light"/>
              </a:defRPr>
            </a:lvl1pPr>
            <a:lvl2pPr lvl="1"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2pPr>
            <a:lvl3pPr lvl="2"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3pPr>
            <a:lvl4pPr lvl="3"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4pPr>
            <a:lvl5pPr lvl="4"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5pPr>
            <a:lvl6pPr lvl="5"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6pPr>
            <a:lvl7pPr lvl="6"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7pPr>
            <a:lvl8pPr lvl="7"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8pPr>
            <a:lvl9pPr lvl="8"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9pPr>
          </a:lstStyle>
          <a:p>
            <a:r>
              <a:rPr lang="en-GB"/>
              <a:t>Click to edit Master subtitle style</a:t>
            </a:r>
            <a:endParaRPr/>
          </a:p>
        </p:txBody>
      </p:sp>
      <p:sp>
        <p:nvSpPr>
          <p:cNvPr id="25" name="Google Shape;25;p4"/>
          <p:cNvSpPr txBox="1"/>
          <p:nvPr/>
        </p:nvSpPr>
        <p:spPr>
          <a:xfrm>
            <a:off x="-420624" y="749808"/>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sz="40000">
              <a:solidFill>
                <a:srgbClr val="B7B7B7"/>
              </a:solidFill>
              <a:latin typeface="Roboto"/>
              <a:ea typeface="Roboto"/>
              <a:cs typeface="Roboto"/>
              <a:sym typeface="Robot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efault">
  <p:cSld name="CUSTOM_2_4">
    <p:spTree>
      <p:nvGrpSpPr>
        <p:cNvPr id="1" name="Shape 26"/>
        <p:cNvGrpSpPr/>
        <p:nvPr/>
      </p:nvGrpSpPr>
      <p:grpSpPr>
        <a:xfrm>
          <a:off x="0" y="0"/>
          <a:ext cx="0" cy="0"/>
          <a:chOff x="0" y="0"/>
          <a:chExt cx="0" cy="0"/>
        </a:xfrm>
      </p:grpSpPr>
      <p:sp>
        <p:nvSpPr>
          <p:cNvPr id="27" name="Google Shape;27;p5"/>
          <p:cNvSpPr/>
          <p:nvPr/>
        </p:nvSpPr>
        <p:spPr>
          <a:xfrm>
            <a:off x="0" y="0"/>
            <a:ext cx="9144000" cy="576000"/>
          </a:xfrm>
          <a:prstGeom prst="rect">
            <a:avLst/>
          </a:prstGeom>
          <a:solidFill>
            <a:srgbClr val="EC78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5"/>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GB"/>
              <a:t>Click to edit Master title style</a:t>
            </a:r>
            <a:endParaRPr/>
          </a:p>
        </p:txBody>
      </p:sp>
      <p:sp>
        <p:nvSpPr>
          <p:cNvPr id="29" name="Google Shape;29;p5"/>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lvl1pPr lvl="0" algn="r" rtl="0">
              <a:spcBef>
                <a:spcPts val="0"/>
              </a:spcBef>
              <a:spcAft>
                <a:spcPts val="0"/>
              </a:spcAft>
              <a:buNone/>
              <a:defRPr sz="14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GB"/>
              <a:t>Click to edit Master title style</a:t>
            </a:r>
            <a:endParaRPr/>
          </a:p>
        </p:txBody>
      </p:sp>
      <p:sp>
        <p:nvSpPr>
          <p:cNvPr id="30" name="Google Shape;30;p5"/>
          <p:cNvSpPr txBox="1">
            <a:spLocks noGrp="1"/>
          </p:cNvSpPr>
          <p:nvPr>
            <p:ph type="subTitle" idx="1"/>
          </p:nvPr>
        </p:nvSpPr>
        <p:spPr>
          <a:xfrm>
            <a:off x="182880" y="667512"/>
            <a:ext cx="5486400" cy="4023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r>
              <a:rPr lang="en-GB"/>
              <a:t>Click to edit Master subtitle style</a:t>
            </a:r>
            <a:endParaRPr/>
          </a:p>
        </p:txBody>
      </p:sp>
      <p:sp>
        <p:nvSpPr>
          <p:cNvPr id="31" name="Google Shape;31;p5"/>
          <p:cNvSpPr txBox="1">
            <a:spLocks noGrp="1"/>
          </p:cNvSpPr>
          <p:nvPr>
            <p:ph type="body" idx="3"/>
          </p:nvPr>
        </p:nvSpPr>
        <p:spPr>
          <a:xfrm>
            <a:off x="182880" y="1069848"/>
            <a:ext cx="5486400" cy="38952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sz="1000"/>
            </a:lvl1pPr>
            <a:lvl2pPr marL="914400" lvl="1" indent="-292100" rtl="0">
              <a:spcBef>
                <a:spcPts val="800"/>
              </a:spcBef>
              <a:spcAft>
                <a:spcPts val="0"/>
              </a:spcAft>
              <a:buSzPts val="1000"/>
              <a:buChar char="○"/>
              <a:defRPr sz="1000"/>
            </a:lvl2pPr>
            <a:lvl3pPr marL="1371600" lvl="2" indent="-292100" rtl="0">
              <a:spcBef>
                <a:spcPts val="800"/>
              </a:spcBef>
              <a:spcAft>
                <a:spcPts val="0"/>
              </a:spcAft>
              <a:buSzPts val="1000"/>
              <a:buChar char="■"/>
              <a:defRPr sz="1000"/>
            </a:lvl3pPr>
            <a:lvl4pPr marL="1828800" lvl="3" indent="-292100" rtl="0">
              <a:spcBef>
                <a:spcPts val="800"/>
              </a:spcBef>
              <a:spcAft>
                <a:spcPts val="0"/>
              </a:spcAft>
              <a:buSzPts val="1000"/>
              <a:buChar char="●"/>
              <a:defRPr sz="1000"/>
            </a:lvl4pPr>
            <a:lvl5pPr marL="2286000" lvl="4" indent="-292100" rtl="0">
              <a:spcBef>
                <a:spcPts val="800"/>
              </a:spcBef>
              <a:spcAft>
                <a:spcPts val="0"/>
              </a:spcAft>
              <a:buSzPts val="1000"/>
              <a:buChar char="○"/>
              <a:defRPr sz="1000"/>
            </a:lvl5pPr>
            <a:lvl6pPr marL="2743200" lvl="5" indent="-292100" rtl="0">
              <a:spcBef>
                <a:spcPts val="800"/>
              </a:spcBef>
              <a:spcAft>
                <a:spcPts val="0"/>
              </a:spcAft>
              <a:buSzPts val="1000"/>
              <a:buChar char="■"/>
              <a:defRPr sz="1000"/>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sz="1000"/>
            </a:lvl8pPr>
            <a:lvl9pPr marL="4114800" lvl="8" indent="-292100" rtl="0">
              <a:spcBef>
                <a:spcPts val="800"/>
              </a:spcBef>
              <a:spcAft>
                <a:spcPts val="800"/>
              </a:spcAft>
              <a:buSzPts val="1000"/>
              <a:buChar char="■"/>
              <a:defRPr sz="1000"/>
            </a:lvl9pPr>
          </a:lstStyle>
          <a:p>
            <a:pPr lvl="0"/>
            <a:r>
              <a:rPr lang="en-GB"/>
              <a:t>Click to edit Master text styles</a:t>
            </a:r>
          </a:p>
        </p:txBody>
      </p:sp>
      <p:sp>
        <p:nvSpPr>
          <p:cNvPr id="32" name="Google Shape;32;p5"/>
          <p:cNvSpPr txBox="1">
            <a:spLocks noGrp="1"/>
          </p:cNvSpPr>
          <p:nvPr>
            <p:ph type="title" idx="4"/>
          </p:nvPr>
        </p:nvSpPr>
        <p:spPr>
          <a:xfrm>
            <a:off x="0" y="0"/>
            <a:ext cx="576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4800">
                <a:solidFill>
                  <a:schemeClr val="lt1"/>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GB"/>
              <a:t>Click to edit Master title style</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LO's" userDrawn="1">
  <p:cSld name="CUSTOM_2_3_1">
    <p:spTree>
      <p:nvGrpSpPr>
        <p:cNvPr id="1" name="Shape 33"/>
        <p:cNvGrpSpPr/>
        <p:nvPr/>
      </p:nvGrpSpPr>
      <p:grpSpPr>
        <a:xfrm>
          <a:off x="0" y="0"/>
          <a:ext cx="0" cy="0"/>
          <a:chOff x="0" y="0"/>
          <a:chExt cx="0" cy="0"/>
        </a:xfrm>
      </p:grpSpPr>
      <p:sp>
        <p:nvSpPr>
          <p:cNvPr id="34" name="Google Shape;34;p6"/>
          <p:cNvSpPr/>
          <p:nvPr/>
        </p:nvSpPr>
        <p:spPr>
          <a:xfrm>
            <a:off x="0" y="571460"/>
            <a:ext cx="9144000" cy="493800"/>
          </a:xfrm>
          <a:prstGeom prst="rect">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6"/>
          <p:cNvSpPr/>
          <p:nvPr/>
        </p:nvSpPr>
        <p:spPr>
          <a:xfrm>
            <a:off x="0" y="0"/>
            <a:ext cx="9144000" cy="572700"/>
          </a:xfrm>
          <a:prstGeom prst="rect">
            <a:avLst/>
          </a:prstGeom>
          <a:solidFill>
            <a:srgbClr val="EC78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6"/>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GB"/>
              <a:t>Click to edit Master title style</a:t>
            </a:r>
            <a:endParaRPr/>
          </a:p>
        </p:txBody>
      </p:sp>
      <p:sp>
        <p:nvSpPr>
          <p:cNvPr id="37" name="Google Shape;37;p6"/>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lvl1pPr lvl="0" algn="r" rtl="0">
              <a:spcBef>
                <a:spcPts val="0"/>
              </a:spcBef>
              <a:spcAft>
                <a:spcPts val="0"/>
              </a:spcAft>
              <a:buNone/>
              <a:defRPr sz="14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GB"/>
              <a:t>Click to edit Master title style</a:t>
            </a:r>
            <a:endParaRPr/>
          </a:p>
        </p:txBody>
      </p:sp>
      <p:sp>
        <p:nvSpPr>
          <p:cNvPr id="39" name="Google Shape;39;p6"/>
          <p:cNvSpPr txBox="1">
            <a:spLocks noGrp="1"/>
          </p:cNvSpPr>
          <p:nvPr>
            <p:ph type="title" idx="3"/>
          </p:nvPr>
        </p:nvSpPr>
        <p:spPr>
          <a:xfrm>
            <a:off x="2049462" y="0"/>
            <a:ext cx="4206300" cy="5760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900" i="1"/>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GB"/>
              <a:t>Click to edit Master title style</a:t>
            </a:r>
            <a:endParaRPr/>
          </a:p>
        </p:txBody>
      </p:sp>
      <p:sp>
        <p:nvSpPr>
          <p:cNvPr id="40" name="Google Shape;40;p6"/>
          <p:cNvSpPr txBox="1">
            <a:spLocks noGrp="1"/>
          </p:cNvSpPr>
          <p:nvPr>
            <p:ph type="title" idx="4"/>
          </p:nvPr>
        </p:nvSpPr>
        <p:spPr>
          <a:xfrm>
            <a:off x="68250" y="576000"/>
            <a:ext cx="839700" cy="4938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3600">
                <a:solidFill>
                  <a:srgbClr val="FFFFFF"/>
                </a:solidFill>
              </a:defRPr>
            </a:lvl1pPr>
            <a:lvl2pPr lvl="1" rtl="0">
              <a:spcBef>
                <a:spcPts val="0"/>
              </a:spcBef>
              <a:spcAft>
                <a:spcPts val="0"/>
              </a:spcAft>
              <a:buNone/>
              <a:defRPr>
                <a:solidFill>
                  <a:srgbClr val="FFFFFF"/>
                </a:solidFill>
              </a:defRPr>
            </a:lvl2pPr>
            <a:lvl3pPr lvl="2" rtl="0">
              <a:spcBef>
                <a:spcPts val="0"/>
              </a:spcBef>
              <a:spcAft>
                <a:spcPts val="0"/>
              </a:spcAft>
              <a:buNone/>
              <a:defRPr>
                <a:solidFill>
                  <a:srgbClr val="FFFFFF"/>
                </a:solidFill>
              </a:defRPr>
            </a:lvl3pPr>
            <a:lvl4pPr lvl="3" rtl="0">
              <a:spcBef>
                <a:spcPts val="0"/>
              </a:spcBef>
              <a:spcAft>
                <a:spcPts val="0"/>
              </a:spcAft>
              <a:buNone/>
              <a:defRPr>
                <a:solidFill>
                  <a:srgbClr val="FFFFFF"/>
                </a:solidFill>
              </a:defRPr>
            </a:lvl4pPr>
            <a:lvl5pPr lvl="4" rtl="0">
              <a:spcBef>
                <a:spcPts val="0"/>
              </a:spcBef>
              <a:spcAft>
                <a:spcPts val="0"/>
              </a:spcAft>
              <a:buNone/>
              <a:defRPr>
                <a:solidFill>
                  <a:srgbClr val="FFFFFF"/>
                </a:solidFill>
              </a:defRPr>
            </a:lvl5pPr>
            <a:lvl6pPr lvl="5" rtl="0">
              <a:spcBef>
                <a:spcPts val="0"/>
              </a:spcBef>
              <a:spcAft>
                <a:spcPts val="0"/>
              </a:spcAft>
              <a:buNone/>
              <a:defRPr>
                <a:solidFill>
                  <a:srgbClr val="FFFFFF"/>
                </a:solidFill>
              </a:defRPr>
            </a:lvl6pPr>
            <a:lvl7pPr lvl="6" rtl="0">
              <a:spcBef>
                <a:spcPts val="0"/>
              </a:spcBef>
              <a:spcAft>
                <a:spcPts val="0"/>
              </a:spcAft>
              <a:buNone/>
              <a:defRPr>
                <a:solidFill>
                  <a:srgbClr val="FFFFFF"/>
                </a:solidFill>
              </a:defRPr>
            </a:lvl7pPr>
            <a:lvl8pPr lvl="7" rtl="0">
              <a:spcBef>
                <a:spcPts val="0"/>
              </a:spcBef>
              <a:spcAft>
                <a:spcPts val="0"/>
              </a:spcAft>
              <a:buNone/>
              <a:defRPr>
                <a:solidFill>
                  <a:srgbClr val="FFFFFF"/>
                </a:solidFill>
              </a:defRPr>
            </a:lvl8pPr>
            <a:lvl9pPr lvl="8" rtl="0">
              <a:spcBef>
                <a:spcPts val="0"/>
              </a:spcBef>
              <a:spcAft>
                <a:spcPts val="0"/>
              </a:spcAft>
              <a:buNone/>
              <a:defRPr>
                <a:solidFill>
                  <a:srgbClr val="FFFFFF"/>
                </a:solidFill>
              </a:defRPr>
            </a:lvl9pPr>
          </a:lstStyle>
          <a:p>
            <a:r>
              <a:rPr lang="en-GB"/>
              <a:t>Click to edit Master title style</a:t>
            </a:r>
            <a:endParaRPr/>
          </a:p>
        </p:txBody>
      </p:sp>
      <p:sp>
        <p:nvSpPr>
          <p:cNvPr id="41" name="Google Shape;41;p6"/>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900" i="1">
                <a:solidFill>
                  <a:srgbClr val="FFFFFF"/>
                </a:solidFill>
              </a:defRPr>
            </a:lvl1pPr>
            <a:lvl2pPr lvl="1" rtl="0">
              <a:spcBef>
                <a:spcPts val="0"/>
              </a:spcBef>
              <a:spcAft>
                <a:spcPts val="0"/>
              </a:spcAft>
              <a:buNone/>
              <a:defRPr>
                <a:solidFill>
                  <a:srgbClr val="FFFFFF"/>
                </a:solidFill>
              </a:defRPr>
            </a:lvl2pPr>
            <a:lvl3pPr lvl="2" rtl="0">
              <a:spcBef>
                <a:spcPts val="0"/>
              </a:spcBef>
              <a:spcAft>
                <a:spcPts val="0"/>
              </a:spcAft>
              <a:buNone/>
              <a:defRPr>
                <a:solidFill>
                  <a:srgbClr val="FFFFFF"/>
                </a:solidFill>
              </a:defRPr>
            </a:lvl3pPr>
            <a:lvl4pPr lvl="3" rtl="0">
              <a:spcBef>
                <a:spcPts val="0"/>
              </a:spcBef>
              <a:spcAft>
                <a:spcPts val="0"/>
              </a:spcAft>
              <a:buNone/>
              <a:defRPr>
                <a:solidFill>
                  <a:srgbClr val="FFFFFF"/>
                </a:solidFill>
              </a:defRPr>
            </a:lvl4pPr>
            <a:lvl5pPr lvl="4" rtl="0">
              <a:spcBef>
                <a:spcPts val="0"/>
              </a:spcBef>
              <a:spcAft>
                <a:spcPts val="0"/>
              </a:spcAft>
              <a:buNone/>
              <a:defRPr>
                <a:solidFill>
                  <a:srgbClr val="FFFFFF"/>
                </a:solidFill>
              </a:defRPr>
            </a:lvl5pPr>
            <a:lvl6pPr lvl="5" rtl="0">
              <a:spcBef>
                <a:spcPts val="0"/>
              </a:spcBef>
              <a:spcAft>
                <a:spcPts val="0"/>
              </a:spcAft>
              <a:buNone/>
              <a:defRPr>
                <a:solidFill>
                  <a:srgbClr val="FFFFFF"/>
                </a:solidFill>
              </a:defRPr>
            </a:lvl6pPr>
            <a:lvl7pPr lvl="6" rtl="0">
              <a:spcBef>
                <a:spcPts val="0"/>
              </a:spcBef>
              <a:spcAft>
                <a:spcPts val="0"/>
              </a:spcAft>
              <a:buNone/>
              <a:defRPr>
                <a:solidFill>
                  <a:srgbClr val="FFFFFF"/>
                </a:solidFill>
              </a:defRPr>
            </a:lvl7pPr>
            <a:lvl8pPr lvl="7" rtl="0">
              <a:spcBef>
                <a:spcPts val="0"/>
              </a:spcBef>
              <a:spcAft>
                <a:spcPts val="0"/>
              </a:spcAft>
              <a:buNone/>
              <a:defRPr>
                <a:solidFill>
                  <a:srgbClr val="FFFFFF"/>
                </a:solidFill>
              </a:defRPr>
            </a:lvl8pPr>
            <a:lvl9pPr lvl="8" rtl="0">
              <a:spcBef>
                <a:spcPts val="0"/>
              </a:spcBef>
              <a:spcAft>
                <a:spcPts val="0"/>
              </a:spcAft>
              <a:buNone/>
              <a:defRPr>
                <a:solidFill>
                  <a:srgbClr val="FFFFFF"/>
                </a:solidFill>
              </a:defRPr>
            </a:lvl9pPr>
          </a:lstStyle>
          <a:p>
            <a:r>
              <a:rPr lang="en-GB"/>
              <a:t>Click to edit Master title style</a:t>
            </a:r>
            <a:endParaRPr/>
          </a:p>
        </p:txBody>
      </p:sp>
      <p:sp>
        <p:nvSpPr>
          <p:cNvPr id="42" name="Google Shape;42;p6"/>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1200"/>
            </a:lvl1pPr>
            <a:lvl2pPr lvl="1" rtl="0">
              <a:spcBef>
                <a:spcPts val="0"/>
              </a:spcBef>
              <a:spcAft>
                <a:spcPts val="0"/>
              </a:spcAft>
              <a:buNone/>
              <a:defRPr sz="900"/>
            </a:lvl2pPr>
            <a:lvl3pPr lvl="2" rtl="0">
              <a:spcBef>
                <a:spcPts val="0"/>
              </a:spcBef>
              <a:spcAft>
                <a:spcPts val="0"/>
              </a:spcAft>
              <a:buNone/>
              <a:defRPr sz="900"/>
            </a:lvl3pPr>
            <a:lvl4pPr lvl="3" rtl="0">
              <a:spcBef>
                <a:spcPts val="0"/>
              </a:spcBef>
              <a:spcAft>
                <a:spcPts val="0"/>
              </a:spcAft>
              <a:buNone/>
              <a:defRPr sz="900"/>
            </a:lvl4pPr>
            <a:lvl5pPr lvl="4" rtl="0">
              <a:spcBef>
                <a:spcPts val="0"/>
              </a:spcBef>
              <a:spcAft>
                <a:spcPts val="0"/>
              </a:spcAft>
              <a:buNone/>
              <a:defRPr sz="900"/>
            </a:lvl5pPr>
            <a:lvl6pPr lvl="5" rtl="0">
              <a:spcBef>
                <a:spcPts val="0"/>
              </a:spcBef>
              <a:spcAft>
                <a:spcPts val="0"/>
              </a:spcAft>
              <a:buNone/>
              <a:defRPr sz="900"/>
            </a:lvl6pPr>
            <a:lvl7pPr lvl="6" rtl="0">
              <a:spcBef>
                <a:spcPts val="0"/>
              </a:spcBef>
              <a:spcAft>
                <a:spcPts val="0"/>
              </a:spcAft>
              <a:buNone/>
              <a:defRPr sz="900"/>
            </a:lvl7pPr>
            <a:lvl8pPr lvl="7" rtl="0">
              <a:spcBef>
                <a:spcPts val="0"/>
              </a:spcBef>
              <a:spcAft>
                <a:spcPts val="0"/>
              </a:spcAft>
              <a:buNone/>
              <a:defRPr sz="900"/>
            </a:lvl8pPr>
            <a:lvl9pPr lvl="8" rtl="0">
              <a:spcBef>
                <a:spcPts val="0"/>
              </a:spcBef>
              <a:spcAft>
                <a:spcPts val="0"/>
              </a:spcAft>
              <a:buNone/>
              <a:defRPr sz="900"/>
            </a:lvl9pPr>
          </a:lstStyle>
          <a:p>
            <a:r>
              <a:rPr lang="en-GB"/>
              <a:t>Click to edit Master title style</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3"/>
        <p:cNvGrpSpPr/>
        <p:nvPr/>
      </p:nvGrpSpPr>
      <p:grpSpPr>
        <a:xfrm>
          <a:off x="0" y="0"/>
          <a:ext cx="0" cy="0"/>
          <a:chOff x="0" y="0"/>
          <a:chExt cx="0" cy="0"/>
        </a:xfrm>
      </p:grpSpPr>
      <p:sp>
        <p:nvSpPr>
          <p:cNvPr id="84" name="Google Shape;84;p11"/>
          <p:cNvSpPr/>
          <p:nvPr/>
        </p:nvSpPr>
        <p:spPr>
          <a:xfrm>
            <a:off x="3108960" y="-1200"/>
            <a:ext cx="6035100" cy="5143500"/>
          </a:xfrm>
          <a:prstGeom prst="rect">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85" name="Google Shape;85;p11"/>
          <p:cNvSpPr txBox="1">
            <a:spLocks noGrp="1"/>
          </p:cNvSpPr>
          <p:nvPr>
            <p:ph type="title"/>
          </p:nvPr>
        </p:nvSpPr>
        <p:spPr>
          <a:xfrm>
            <a:off x="265500" y="308799"/>
            <a:ext cx="4045200" cy="1551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algn="ctr" rtl="0">
              <a:spcBef>
                <a:spcPts val="0"/>
              </a:spcBef>
              <a:spcAft>
                <a:spcPts val="0"/>
              </a:spcAft>
              <a:buSzPts val="3800"/>
              <a:buNone/>
              <a:defRPr sz="3800"/>
            </a:lvl2pPr>
            <a:lvl3pPr lvl="2" algn="ctr" rtl="0">
              <a:spcBef>
                <a:spcPts val="0"/>
              </a:spcBef>
              <a:spcAft>
                <a:spcPts val="0"/>
              </a:spcAft>
              <a:buSzPts val="3800"/>
              <a:buNone/>
              <a:defRPr sz="3800"/>
            </a:lvl3pPr>
            <a:lvl4pPr lvl="3" algn="ctr" rtl="0">
              <a:spcBef>
                <a:spcPts val="0"/>
              </a:spcBef>
              <a:spcAft>
                <a:spcPts val="0"/>
              </a:spcAft>
              <a:buSzPts val="3800"/>
              <a:buNone/>
              <a:defRPr sz="3800"/>
            </a:lvl4pPr>
            <a:lvl5pPr lvl="4" algn="ctr" rtl="0">
              <a:spcBef>
                <a:spcPts val="0"/>
              </a:spcBef>
              <a:spcAft>
                <a:spcPts val="0"/>
              </a:spcAft>
              <a:buSzPts val="3800"/>
              <a:buNone/>
              <a:defRPr sz="3800"/>
            </a:lvl5pPr>
            <a:lvl6pPr lvl="5" algn="ctr" rtl="0">
              <a:spcBef>
                <a:spcPts val="0"/>
              </a:spcBef>
              <a:spcAft>
                <a:spcPts val="0"/>
              </a:spcAft>
              <a:buSzPts val="3800"/>
              <a:buNone/>
              <a:defRPr sz="3800"/>
            </a:lvl6pPr>
            <a:lvl7pPr lvl="6" algn="ctr" rtl="0">
              <a:spcBef>
                <a:spcPts val="0"/>
              </a:spcBef>
              <a:spcAft>
                <a:spcPts val="0"/>
              </a:spcAft>
              <a:buSzPts val="3800"/>
              <a:buNone/>
              <a:defRPr sz="3800"/>
            </a:lvl7pPr>
            <a:lvl8pPr lvl="7" algn="ctr" rtl="0">
              <a:spcBef>
                <a:spcPts val="0"/>
              </a:spcBef>
              <a:spcAft>
                <a:spcPts val="0"/>
              </a:spcAft>
              <a:buSzPts val="3800"/>
              <a:buNone/>
              <a:defRPr sz="3800"/>
            </a:lvl8pPr>
            <a:lvl9pPr lvl="8" algn="ctr" rtl="0">
              <a:spcBef>
                <a:spcPts val="0"/>
              </a:spcBef>
              <a:spcAft>
                <a:spcPts val="0"/>
              </a:spcAft>
              <a:buSzPts val="3800"/>
              <a:buNone/>
              <a:defRPr sz="3800"/>
            </a:lvl9pPr>
          </a:lstStyle>
          <a:p>
            <a:r>
              <a:rPr lang="en-GB"/>
              <a:t>Click to edit Master title style</a:t>
            </a:r>
            <a:endParaRPr/>
          </a:p>
        </p:txBody>
      </p:sp>
      <p:sp>
        <p:nvSpPr>
          <p:cNvPr id="86" name="Google Shape;86;p11"/>
          <p:cNvSpPr txBox="1">
            <a:spLocks noGrp="1"/>
          </p:cNvSpPr>
          <p:nvPr>
            <p:ph type="subTitle" idx="1"/>
          </p:nvPr>
        </p:nvSpPr>
        <p:spPr>
          <a:xfrm>
            <a:off x="265500" y="1860700"/>
            <a:ext cx="4045200" cy="3012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000"/>
              <a:buNone/>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r>
              <a:rPr lang="en-GB"/>
              <a:t>Click to edit Master subtitle style</a:t>
            </a:r>
            <a:endParaRPr/>
          </a:p>
        </p:txBody>
      </p:sp>
      <p:sp>
        <p:nvSpPr>
          <p:cNvPr id="87" name="Google Shape;87;p11"/>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292100" rtl="0">
              <a:spcBef>
                <a:spcPts val="0"/>
              </a:spcBef>
              <a:spcAft>
                <a:spcPts val="0"/>
              </a:spcAft>
              <a:buClr>
                <a:schemeClr val="lt1"/>
              </a:buClr>
              <a:buSzPts val="1000"/>
              <a:buChar char="●"/>
              <a:defRPr>
                <a:solidFill>
                  <a:schemeClr val="lt1"/>
                </a:solidFill>
              </a:defRPr>
            </a:lvl1pPr>
            <a:lvl2pPr marL="914400" lvl="1" indent="-292100" rtl="0">
              <a:spcBef>
                <a:spcPts val="800"/>
              </a:spcBef>
              <a:spcAft>
                <a:spcPts val="0"/>
              </a:spcAft>
              <a:buClr>
                <a:schemeClr val="lt1"/>
              </a:buClr>
              <a:buSzPts val="1000"/>
              <a:buChar char="○"/>
              <a:defRPr>
                <a:solidFill>
                  <a:schemeClr val="lt1"/>
                </a:solidFill>
              </a:defRPr>
            </a:lvl2pPr>
            <a:lvl3pPr marL="1371600" lvl="2" indent="-292100" rtl="0">
              <a:spcBef>
                <a:spcPts val="800"/>
              </a:spcBef>
              <a:spcAft>
                <a:spcPts val="0"/>
              </a:spcAft>
              <a:buClr>
                <a:schemeClr val="lt1"/>
              </a:buClr>
              <a:buSzPts val="1000"/>
              <a:buChar char="■"/>
              <a:defRPr>
                <a:solidFill>
                  <a:schemeClr val="lt1"/>
                </a:solidFill>
              </a:defRPr>
            </a:lvl3pPr>
            <a:lvl4pPr marL="1828800" lvl="3" indent="-292100" rtl="0">
              <a:spcBef>
                <a:spcPts val="800"/>
              </a:spcBef>
              <a:spcAft>
                <a:spcPts val="0"/>
              </a:spcAft>
              <a:buClr>
                <a:schemeClr val="lt1"/>
              </a:buClr>
              <a:buSzPts val="1000"/>
              <a:buChar char="●"/>
              <a:defRPr>
                <a:solidFill>
                  <a:schemeClr val="lt1"/>
                </a:solidFill>
              </a:defRPr>
            </a:lvl4pPr>
            <a:lvl5pPr marL="2286000" lvl="4" indent="-292100" rtl="0">
              <a:spcBef>
                <a:spcPts val="800"/>
              </a:spcBef>
              <a:spcAft>
                <a:spcPts val="0"/>
              </a:spcAft>
              <a:buClr>
                <a:schemeClr val="lt1"/>
              </a:buClr>
              <a:buSzPts val="1000"/>
              <a:buChar char="○"/>
              <a:defRPr>
                <a:solidFill>
                  <a:schemeClr val="lt1"/>
                </a:solidFill>
              </a:defRPr>
            </a:lvl5pPr>
            <a:lvl6pPr marL="2743200" lvl="5" indent="-292100" rtl="0">
              <a:spcBef>
                <a:spcPts val="800"/>
              </a:spcBef>
              <a:spcAft>
                <a:spcPts val="0"/>
              </a:spcAft>
              <a:buClr>
                <a:schemeClr val="lt1"/>
              </a:buClr>
              <a:buSzPts val="1000"/>
              <a:buChar char="■"/>
              <a:defRPr>
                <a:solidFill>
                  <a:schemeClr val="lt1"/>
                </a:solidFill>
              </a:defRPr>
            </a:lvl6pPr>
            <a:lvl7pPr marL="3200400" lvl="6" indent="-292100" rtl="0">
              <a:spcBef>
                <a:spcPts val="800"/>
              </a:spcBef>
              <a:spcAft>
                <a:spcPts val="0"/>
              </a:spcAft>
              <a:buClr>
                <a:schemeClr val="lt1"/>
              </a:buClr>
              <a:buSzPts val="1000"/>
              <a:buChar char="●"/>
              <a:defRPr>
                <a:solidFill>
                  <a:schemeClr val="lt1"/>
                </a:solidFill>
              </a:defRPr>
            </a:lvl7pPr>
            <a:lvl8pPr marL="3657600" lvl="7" indent="-292100" rtl="0">
              <a:spcBef>
                <a:spcPts val="800"/>
              </a:spcBef>
              <a:spcAft>
                <a:spcPts val="0"/>
              </a:spcAft>
              <a:buClr>
                <a:schemeClr val="lt1"/>
              </a:buClr>
              <a:buSzPts val="1000"/>
              <a:buChar char="○"/>
              <a:defRPr>
                <a:solidFill>
                  <a:schemeClr val="lt1"/>
                </a:solidFill>
              </a:defRPr>
            </a:lvl8pPr>
            <a:lvl9pPr marL="4114800" lvl="8" indent="-292100" rtl="0">
              <a:spcBef>
                <a:spcPts val="800"/>
              </a:spcBef>
              <a:spcAft>
                <a:spcPts val="800"/>
              </a:spcAft>
              <a:buClr>
                <a:schemeClr val="lt1"/>
              </a:buClr>
              <a:buSzPts val="1000"/>
              <a:buChar char="■"/>
              <a:defRPr>
                <a:solidFill>
                  <a:schemeClr val="lt1"/>
                </a:solidFill>
              </a:defRPr>
            </a:lvl9pPr>
          </a:lstStyle>
          <a:p>
            <a:pPr lvl="0"/>
            <a:r>
              <a:rPr lang="en-GB"/>
              <a:t>Click to edit Master text styles</a:t>
            </a:r>
          </a:p>
        </p:txBody>
      </p:sp>
      <p:sp>
        <p:nvSpPr>
          <p:cNvPr id="88" name="Google Shape;88;p11"/>
          <p:cNvSpPr txBox="1">
            <a:spLocks noGrp="1"/>
          </p:cNvSpPr>
          <p:nvPr>
            <p:ph type="sldNum" idx="12"/>
          </p:nvPr>
        </p:nvSpPr>
        <p:spPr>
          <a:xfrm>
            <a:off x="90450" y="4873575"/>
            <a:ext cx="548700" cy="2697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Weeks">
  <p:cSld name="Weeks">
    <p:spTree>
      <p:nvGrpSpPr>
        <p:cNvPr id="1" name="Shape 45"/>
        <p:cNvGrpSpPr/>
        <p:nvPr/>
      </p:nvGrpSpPr>
      <p:grpSpPr>
        <a:xfrm>
          <a:off x="0" y="0"/>
          <a:ext cx="0" cy="0"/>
          <a:chOff x="0" y="0"/>
          <a:chExt cx="0" cy="0"/>
        </a:xfrm>
      </p:grpSpPr>
      <p:sp>
        <p:nvSpPr>
          <p:cNvPr id="46" name="Google Shape;46;p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r>
              <a:rPr lang="en-GB"/>
              <a:t>Click to edit Master subtitle style</a:t>
            </a:r>
            <a:endParaRPr/>
          </a:p>
        </p:txBody>
      </p:sp>
      <p:sp>
        <p:nvSpPr>
          <p:cNvPr id="47" name="Google Shape;47;p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pPr lvl="0"/>
            <a:r>
              <a:rPr lang="en-GB"/>
              <a:t>Click to edit Master text styles</a:t>
            </a:r>
          </a:p>
        </p:txBody>
      </p:sp>
      <p:sp>
        <p:nvSpPr>
          <p:cNvPr id="48" name="Google Shape;48;p7"/>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pPr lvl="0"/>
            <a:r>
              <a:rPr lang="en-GB"/>
              <a:t>Click to edit Master text styles</a:t>
            </a:r>
          </a:p>
        </p:txBody>
      </p:sp>
      <p:sp>
        <p:nvSpPr>
          <p:cNvPr id="49" name="Google Shape;49;p7"/>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r>
              <a:rPr lang="en-GB"/>
              <a:t>Click to edit Master subtitle style</a:t>
            </a:r>
            <a:endParaRPr/>
          </a:p>
        </p:txBody>
      </p:sp>
      <p:sp>
        <p:nvSpPr>
          <p:cNvPr id="50" name="Google Shape;50;p7"/>
          <p:cNvSpPr/>
          <p:nvPr/>
        </p:nvSpPr>
        <p:spPr>
          <a:xfrm>
            <a:off x="0" y="0"/>
            <a:ext cx="9144000" cy="576000"/>
          </a:xfrm>
          <a:prstGeom prst="rect">
            <a:avLst/>
          </a:prstGeom>
          <a:solidFill>
            <a:srgbClr val="EC78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GB"/>
              <a:t>Click to edit Master title style</a:t>
            </a:r>
            <a:endParaRPr/>
          </a:p>
        </p:txBody>
      </p:sp>
      <p:sp>
        <p:nvSpPr>
          <p:cNvPr id="52" name="Google Shape;52;p7"/>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4800">
                <a:solidFill>
                  <a:schemeClr val="lt1"/>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GB"/>
              <a:t>Click to edit Master title style</a:t>
            </a:r>
            <a:endParaRPr/>
          </a:p>
        </p:txBody>
      </p:sp>
      <p:sp>
        <p:nvSpPr>
          <p:cNvPr id="53" name="Google Shape;53;p7"/>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lvl1pPr lvl="0" algn="r" rtl="0">
              <a:spcBef>
                <a:spcPts val="0"/>
              </a:spcBef>
              <a:spcAft>
                <a:spcPts val="0"/>
              </a:spcAft>
              <a:buNone/>
              <a:defRPr sz="14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GB"/>
              <a:t>Click to edit Master title style</a:t>
            </a:r>
            <a:endParaRPr/>
          </a:p>
        </p:txBody>
      </p:sp>
    </p:spTree>
    <p:extLst>
      <p:ext uri="{BB962C8B-B14F-4D97-AF65-F5344CB8AC3E}">
        <p14:creationId xmlns:p14="http://schemas.microsoft.com/office/powerpoint/2010/main" val="1811834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Feedback Slides">
  <p:cSld name="Feedback Slides">
    <p:bg>
      <p:bgPr>
        <a:solidFill>
          <a:srgbClr val="134F5C"/>
        </a:solidFill>
        <a:effectLst/>
      </p:bgPr>
    </p:bg>
    <p:spTree>
      <p:nvGrpSpPr>
        <p:cNvPr id="1" name="Shape 65"/>
        <p:cNvGrpSpPr/>
        <p:nvPr/>
      </p:nvGrpSpPr>
      <p:grpSpPr>
        <a:xfrm>
          <a:off x="0" y="0"/>
          <a:ext cx="0" cy="0"/>
          <a:chOff x="0" y="0"/>
          <a:chExt cx="0" cy="0"/>
        </a:xfrm>
      </p:grpSpPr>
      <p:sp>
        <p:nvSpPr>
          <p:cNvPr id="66" name="Google Shape;66;p9"/>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r>
              <a:rPr lang="en-GB"/>
              <a:t>Click to edit Master subtitle style</a:t>
            </a:r>
            <a:endParaRPr/>
          </a:p>
        </p:txBody>
      </p:sp>
      <p:sp>
        <p:nvSpPr>
          <p:cNvPr id="67" name="Google Shape;67;p9"/>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pPr lvl="0"/>
            <a:r>
              <a:rPr lang="en-GB"/>
              <a:t>Click to edit Master text styles</a:t>
            </a:r>
          </a:p>
        </p:txBody>
      </p:sp>
      <p:sp>
        <p:nvSpPr>
          <p:cNvPr id="68" name="Google Shape;68;p9"/>
          <p:cNvSpPr/>
          <p:nvPr/>
        </p:nvSpPr>
        <p:spPr>
          <a:xfrm>
            <a:off x="0" y="0"/>
            <a:ext cx="9144000" cy="576000"/>
          </a:xfrm>
          <a:prstGeom prst="rect">
            <a:avLst/>
          </a:prstGeom>
          <a:solidFill>
            <a:srgbClr val="EC78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9"/>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GB"/>
              <a:t>Click to edit Master title style</a:t>
            </a:r>
            <a:endParaRPr/>
          </a:p>
        </p:txBody>
      </p:sp>
      <p:sp>
        <p:nvSpPr>
          <p:cNvPr id="70" name="Google Shape;70;p9"/>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4800">
                <a:solidFill>
                  <a:schemeClr val="lt1"/>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GB"/>
              <a:t>Click to edit Master title style</a:t>
            </a:r>
            <a:endParaRPr/>
          </a:p>
        </p:txBody>
      </p:sp>
      <p:sp>
        <p:nvSpPr>
          <p:cNvPr id="71" name="Google Shape;71;p9"/>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lvl1pPr lvl="0" algn="r" rtl="0">
              <a:spcBef>
                <a:spcPts val="0"/>
              </a:spcBef>
              <a:spcAft>
                <a:spcPts val="0"/>
              </a:spcAft>
              <a:buNone/>
              <a:defRPr sz="14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GB"/>
              <a:t>Click to edit Master title style</a:t>
            </a:r>
            <a:endParaRPr/>
          </a:p>
        </p:txBody>
      </p:sp>
    </p:spTree>
    <p:extLst>
      <p:ext uri="{BB962C8B-B14F-4D97-AF65-F5344CB8AC3E}">
        <p14:creationId xmlns:p14="http://schemas.microsoft.com/office/powerpoint/2010/main" val="22373867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Week 4 goals">
  <p:cSld name="Week 4 goals">
    <p:spTree>
      <p:nvGrpSpPr>
        <p:cNvPr id="1" name="Shape 54"/>
        <p:cNvGrpSpPr/>
        <p:nvPr/>
      </p:nvGrpSpPr>
      <p:grpSpPr>
        <a:xfrm>
          <a:off x="0" y="0"/>
          <a:ext cx="0" cy="0"/>
          <a:chOff x="0" y="0"/>
          <a:chExt cx="0" cy="0"/>
        </a:xfrm>
      </p:grpSpPr>
      <p:sp>
        <p:nvSpPr>
          <p:cNvPr id="55" name="Google Shape;55;p8"/>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r>
              <a:rPr lang="en-GB"/>
              <a:t>Click to edit Master subtitle style</a:t>
            </a:r>
            <a:endParaRPr/>
          </a:p>
        </p:txBody>
      </p:sp>
      <p:sp>
        <p:nvSpPr>
          <p:cNvPr id="56" name="Google Shape;56;p8"/>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pPr lvl="0"/>
            <a:r>
              <a:rPr lang="en-GB"/>
              <a:t>Click to edit Master text styles</a:t>
            </a:r>
          </a:p>
        </p:txBody>
      </p:sp>
      <p:sp>
        <p:nvSpPr>
          <p:cNvPr id="57" name="Google Shape;57;p8"/>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pPr lvl="0"/>
            <a:r>
              <a:rPr lang="en-GB"/>
              <a:t>Click to edit Master text styles</a:t>
            </a:r>
          </a:p>
        </p:txBody>
      </p:sp>
      <p:sp>
        <p:nvSpPr>
          <p:cNvPr id="58" name="Google Shape;58;p8"/>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r>
              <a:rPr lang="en-GB"/>
              <a:t>Click to edit Master subtitle style</a:t>
            </a:r>
            <a:endParaRPr/>
          </a:p>
        </p:txBody>
      </p:sp>
      <p:sp>
        <p:nvSpPr>
          <p:cNvPr id="59" name="Google Shape;59;p8"/>
          <p:cNvSpPr/>
          <p:nvPr/>
        </p:nvSpPr>
        <p:spPr>
          <a:xfrm>
            <a:off x="0" y="0"/>
            <a:ext cx="9144000" cy="576000"/>
          </a:xfrm>
          <a:prstGeom prst="rect">
            <a:avLst/>
          </a:prstGeom>
          <a:solidFill>
            <a:srgbClr val="EC78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8"/>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GB"/>
              <a:t>Click to edit Master title style</a:t>
            </a:r>
            <a:endParaRPr/>
          </a:p>
        </p:txBody>
      </p:sp>
      <p:sp>
        <p:nvSpPr>
          <p:cNvPr id="61" name="Google Shape;61;p8"/>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4800">
                <a:solidFill>
                  <a:schemeClr val="lt1"/>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GB"/>
              <a:t>Click to edit Master title style</a:t>
            </a:r>
            <a:endParaRPr/>
          </a:p>
        </p:txBody>
      </p:sp>
      <p:sp>
        <p:nvSpPr>
          <p:cNvPr id="62" name="Google Shape;62;p8"/>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lvl1pPr lvl="0" algn="r" rtl="0">
              <a:spcBef>
                <a:spcPts val="0"/>
              </a:spcBef>
              <a:spcAft>
                <a:spcPts val="0"/>
              </a:spcAft>
              <a:buNone/>
              <a:defRPr sz="14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GB"/>
              <a:t>Click to edit Master title style</a:t>
            </a:r>
            <a:endParaRPr/>
          </a:p>
        </p:txBody>
      </p:sp>
      <p:sp>
        <p:nvSpPr>
          <p:cNvPr id="63" name="Google Shape;63;p8"/>
          <p:cNvSpPr txBox="1">
            <a:spLocks noGrp="1"/>
          </p:cNvSpPr>
          <p:nvPr>
            <p:ph type="body" idx="7"/>
          </p:nvPr>
        </p:nvSpPr>
        <p:spPr>
          <a:xfrm>
            <a:off x="4663450" y="3172148"/>
            <a:ext cx="4297800" cy="16257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pPr lvl="0"/>
            <a:r>
              <a:rPr lang="en-GB"/>
              <a:t>Click to edit Master text styles</a:t>
            </a:r>
          </a:p>
        </p:txBody>
      </p:sp>
      <p:sp>
        <p:nvSpPr>
          <p:cNvPr id="64" name="Google Shape;64;p8"/>
          <p:cNvSpPr txBox="1">
            <a:spLocks noGrp="1"/>
          </p:cNvSpPr>
          <p:nvPr>
            <p:ph type="subTitle" idx="8"/>
          </p:nvPr>
        </p:nvSpPr>
        <p:spPr>
          <a:xfrm>
            <a:off x="4663440" y="2778402"/>
            <a:ext cx="42978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r>
              <a:rPr lang="en-GB"/>
              <a:t>Click to edit Master subtitle style</a:t>
            </a:r>
            <a:endParaRPr/>
          </a:p>
        </p:txBody>
      </p:sp>
    </p:spTree>
    <p:extLst>
      <p:ext uri="{BB962C8B-B14F-4D97-AF65-F5344CB8AC3E}">
        <p14:creationId xmlns:p14="http://schemas.microsoft.com/office/powerpoint/2010/main" val="32129193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ameday">
    <p:bg>
      <p:bgPr>
        <a:solidFill>
          <a:srgbClr val="666666"/>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64025"/>
            <a:ext cx="8520600" cy="5727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Clr>
                <a:srgbClr val="FFFFFF"/>
              </a:buClr>
              <a:buSzPts val="2000"/>
              <a:buFont typeface="Roboto Light"/>
              <a:buNone/>
              <a:defRPr sz="2000">
                <a:solidFill>
                  <a:srgbClr val="FFFFFF"/>
                </a:solidFill>
                <a:latin typeface="Roboto Light"/>
                <a:ea typeface="Roboto Light"/>
                <a:cs typeface="Roboto Light"/>
                <a:sym typeface="Roboto Light"/>
              </a:defRPr>
            </a:lvl1pPr>
            <a:lvl2pPr lvl="1">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2pPr>
            <a:lvl3pPr lvl="2">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3pPr>
            <a:lvl4pPr lvl="3">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4pPr>
            <a:lvl5pPr lvl="4">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5pPr>
            <a:lvl6pPr lvl="5">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6pPr>
            <a:lvl7pPr lvl="6">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7pPr>
            <a:lvl8pPr lvl="7">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8pPr>
            <a:lvl9pPr lvl="8">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9pPr>
          </a:lstStyle>
          <a:p>
            <a:endParaRPr/>
          </a:p>
        </p:txBody>
      </p:sp>
      <p:sp>
        <p:nvSpPr>
          <p:cNvPr id="7" name="Google Shape;7;p1"/>
          <p:cNvSpPr txBox="1">
            <a:spLocks noGrp="1"/>
          </p:cNvSpPr>
          <p:nvPr>
            <p:ph type="body" idx="1"/>
          </p:nvPr>
        </p:nvSpPr>
        <p:spPr>
          <a:xfrm>
            <a:off x="311700" y="636725"/>
            <a:ext cx="8520600" cy="3932100"/>
          </a:xfrm>
          <a:prstGeom prst="rect">
            <a:avLst/>
          </a:prstGeom>
          <a:noFill/>
          <a:ln>
            <a:noFill/>
          </a:ln>
        </p:spPr>
        <p:txBody>
          <a:bodyPr spcFirstLastPara="1" wrap="square" lIns="91425" tIns="91425" rIns="91425" bIns="91425" anchor="t" anchorCtr="0">
            <a:noAutofit/>
          </a:bodyPr>
          <a:lstStyle>
            <a:lvl1pPr marL="457200" lvl="0" indent="-292100">
              <a:lnSpc>
                <a:spcPct val="104000"/>
              </a:lnSpc>
              <a:spcBef>
                <a:spcPts val="0"/>
              </a:spcBef>
              <a:spcAft>
                <a:spcPts val="0"/>
              </a:spcAft>
              <a:buClr>
                <a:srgbClr val="FFFFFF"/>
              </a:buClr>
              <a:buSzPts val="1000"/>
              <a:buFont typeface="Roboto"/>
              <a:buChar char="●"/>
              <a:defRPr sz="1000">
                <a:solidFill>
                  <a:srgbClr val="FFFFFF"/>
                </a:solidFill>
                <a:latin typeface="Roboto"/>
                <a:ea typeface="Roboto"/>
                <a:cs typeface="Roboto"/>
                <a:sym typeface="Roboto"/>
              </a:defRPr>
            </a:lvl1pPr>
            <a:lvl2pPr marL="914400" lvl="1" indent="-292100">
              <a:lnSpc>
                <a:spcPct val="104000"/>
              </a:lnSpc>
              <a:spcBef>
                <a:spcPts val="800"/>
              </a:spcBef>
              <a:spcAft>
                <a:spcPts val="0"/>
              </a:spcAft>
              <a:buClr>
                <a:srgbClr val="FFFFFF"/>
              </a:buClr>
              <a:buSzPts val="1000"/>
              <a:buFont typeface="Roboto"/>
              <a:buChar char="○"/>
              <a:defRPr sz="1000" i="1">
                <a:solidFill>
                  <a:srgbClr val="FFFFFF"/>
                </a:solidFill>
                <a:latin typeface="Roboto"/>
                <a:ea typeface="Roboto"/>
                <a:cs typeface="Roboto"/>
                <a:sym typeface="Roboto"/>
              </a:defRPr>
            </a:lvl2pPr>
            <a:lvl3pPr marL="1371600" lvl="2" indent="-292100">
              <a:lnSpc>
                <a:spcPct val="104000"/>
              </a:lnSpc>
              <a:spcBef>
                <a:spcPts val="800"/>
              </a:spcBef>
              <a:spcAft>
                <a:spcPts val="0"/>
              </a:spcAft>
              <a:buClr>
                <a:srgbClr val="FFFFFF"/>
              </a:buClr>
              <a:buSzPts val="1000"/>
              <a:buFont typeface="Roboto"/>
              <a:buChar char="■"/>
              <a:defRPr sz="1000" u="sng">
                <a:solidFill>
                  <a:srgbClr val="FFFFFF"/>
                </a:solidFill>
                <a:latin typeface="Roboto"/>
                <a:ea typeface="Roboto"/>
                <a:cs typeface="Roboto"/>
                <a:sym typeface="Roboto"/>
              </a:defRPr>
            </a:lvl3pPr>
            <a:lvl4pPr marL="1828800" lvl="3" indent="-292100">
              <a:lnSpc>
                <a:spcPct val="104000"/>
              </a:lnSpc>
              <a:spcBef>
                <a:spcPts val="800"/>
              </a:spcBef>
              <a:spcAft>
                <a:spcPts val="0"/>
              </a:spcAft>
              <a:buClr>
                <a:srgbClr val="FFFFFF"/>
              </a:buClr>
              <a:buSzPts val="1000"/>
              <a:buFont typeface="Roboto"/>
              <a:buChar char="●"/>
              <a:defRPr sz="1000">
                <a:solidFill>
                  <a:srgbClr val="FFFFFF"/>
                </a:solidFill>
                <a:latin typeface="Roboto"/>
                <a:ea typeface="Roboto"/>
                <a:cs typeface="Roboto"/>
                <a:sym typeface="Roboto"/>
              </a:defRPr>
            </a:lvl4pPr>
            <a:lvl5pPr marL="2286000" lvl="4" indent="-292100">
              <a:lnSpc>
                <a:spcPct val="104000"/>
              </a:lnSpc>
              <a:spcBef>
                <a:spcPts val="800"/>
              </a:spcBef>
              <a:spcAft>
                <a:spcPts val="0"/>
              </a:spcAft>
              <a:buClr>
                <a:srgbClr val="FFFFFF"/>
              </a:buClr>
              <a:buSzPts val="1000"/>
              <a:buFont typeface="Roboto"/>
              <a:buChar char="○"/>
              <a:defRPr sz="1000" i="1">
                <a:solidFill>
                  <a:srgbClr val="FFFFFF"/>
                </a:solidFill>
                <a:latin typeface="Roboto"/>
                <a:ea typeface="Roboto"/>
                <a:cs typeface="Roboto"/>
                <a:sym typeface="Roboto"/>
              </a:defRPr>
            </a:lvl5pPr>
            <a:lvl6pPr marL="2743200" lvl="5" indent="-292100">
              <a:lnSpc>
                <a:spcPct val="104000"/>
              </a:lnSpc>
              <a:spcBef>
                <a:spcPts val="800"/>
              </a:spcBef>
              <a:spcAft>
                <a:spcPts val="0"/>
              </a:spcAft>
              <a:buClr>
                <a:srgbClr val="FFFFFF"/>
              </a:buClr>
              <a:buSzPts val="1000"/>
              <a:buFont typeface="Roboto"/>
              <a:buChar char="■"/>
              <a:defRPr sz="1000" u="sng">
                <a:solidFill>
                  <a:srgbClr val="FFFFFF"/>
                </a:solidFill>
                <a:latin typeface="Roboto"/>
                <a:ea typeface="Roboto"/>
                <a:cs typeface="Roboto"/>
                <a:sym typeface="Roboto"/>
              </a:defRPr>
            </a:lvl6pPr>
            <a:lvl7pPr marL="3200400" lvl="6" indent="-292100">
              <a:lnSpc>
                <a:spcPct val="104000"/>
              </a:lnSpc>
              <a:spcBef>
                <a:spcPts val="800"/>
              </a:spcBef>
              <a:spcAft>
                <a:spcPts val="0"/>
              </a:spcAft>
              <a:buClr>
                <a:srgbClr val="FFFFFF"/>
              </a:buClr>
              <a:buSzPts val="1000"/>
              <a:buFont typeface="Roboto"/>
              <a:buChar char="●"/>
              <a:defRPr sz="1000">
                <a:solidFill>
                  <a:srgbClr val="FFFFFF"/>
                </a:solidFill>
                <a:latin typeface="Roboto"/>
                <a:ea typeface="Roboto"/>
                <a:cs typeface="Roboto"/>
                <a:sym typeface="Roboto"/>
              </a:defRPr>
            </a:lvl7pPr>
            <a:lvl8pPr marL="3657600" lvl="7" indent="-292100">
              <a:lnSpc>
                <a:spcPct val="104000"/>
              </a:lnSpc>
              <a:spcBef>
                <a:spcPts val="800"/>
              </a:spcBef>
              <a:spcAft>
                <a:spcPts val="0"/>
              </a:spcAft>
              <a:buClr>
                <a:srgbClr val="FFFFFF"/>
              </a:buClr>
              <a:buSzPts val="1000"/>
              <a:buFont typeface="Roboto"/>
              <a:buChar char="○"/>
              <a:defRPr sz="1000" i="1">
                <a:solidFill>
                  <a:srgbClr val="FFFFFF"/>
                </a:solidFill>
                <a:latin typeface="Roboto"/>
                <a:ea typeface="Roboto"/>
                <a:cs typeface="Roboto"/>
                <a:sym typeface="Roboto"/>
              </a:defRPr>
            </a:lvl8pPr>
            <a:lvl9pPr marL="4114800" lvl="8" indent="-292100">
              <a:lnSpc>
                <a:spcPct val="104000"/>
              </a:lnSpc>
              <a:spcBef>
                <a:spcPts val="800"/>
              </a:spcBef>
              <a:spcAft>
                <a:spcPts val="800"/>
              </a:spcAft>
              <a:buClr>
                <a:srgbClr val="FFFFFF"/>
              </a:buClr>
              <a:buSzPts val="1000"/>
              <a:buFont typeface="Roboto"/>
              <a:buChar char="■"/>
              <a:defRPr sz="1000" u="sng">
                <a:solidFill>
                  <a:srgbClr val="FFFFFF"/>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90450" y="4873575"/>
            <a:ext cx="548700" cy="2697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latin typeface="Proxima Nova"/>
                <a:ea typeface="Proxima Nova"/>
                <a:cs typeface="Proxima Nova"/>
                <a:sym typeface="Proxima Nova"/>
              </a:defRPr>
            </a:lvl1pPr>
            <a:lvl2pPr lvl="1" algn="r">
              <a:buNone/>
              <a:defRPr sz="1000">
                <a:solidFill>
                  <a:schemeClr val="dk2"/>
                </a:solidFill>
                <a:latin typeface="Proxima Nova"/>
                <a:ea typeface="Proxima Nova"/>
                <a:cs typeface="Proxima Nova"/>
                <a:sym typeface="Proxima Nova"/>
              </a:defRPr>
            </a:lvl2pPr>
            <a:lvl3pPr lvl="2" algn="r">
              <a:buNone/>
              <a:defRPr sz="1000">
                <a:solidFill>
                  <a:schemeClr val="dk2"/>
                </a:solidFill>
                <a:latin typeface="Proxima Nova"/>
                <a:ea typeface="Proxima Nova"/>
                <a:cs typeface="Proxima Nova"/>
                <a:sym typeface="Proxima Nova"/>
              </a:defRPr>
            </a:lvl3pPr>
            <a:lvl4pPr lvl="3" algn="r">
              <a:buNone/>
              <a:defRPr sz="1000">
                <a:solidFill>
                  <a:schemeClr val="dk2"/>
                </a:solidFill>
                <a:latin typeface="Proxima Nova"/>
                <a:ea typeface="Proxima Nova"/>
                <a:cs typeface="Proxima Nova"/>
                <a:sym typeface="Proxima Nova"/>
              </a:defRPr>
            </a:lvl4pPr>
            <a:lvl5pPr lvl="4" algn="r">
              <a:buNone/>
              <a:defRPr sz="1000">
                <a:solidFill>
                  <a:schemeClr val="dk2"/>
                </a:solidFill>
                <a:latin typeface="Proxima Nova"/>
                <a:ea typeface="Proxima Nova"/>
                <a:cs typeface="Proxima Nova"/>
                <a:sym typeface="Proxima Nova"/>
              </a:defRPr>
            </a:lvl5pPr>
            <a:lvl6pPr lvl="5" algn="r">
              <a:buNone/>
              <a:defRPr sz="1000">
                <a:solidFill>
                  <a:schemeClr val="dk2"/>
                </a:solidFill>
                <a:latin typeface="Proxima Nova"/>
                <a:ea typeface="Proxima Nova"/>
                <a:cs typeface="Proxima Nova"/>
                <a:sym typeface="Proxima Nova"/>
              </a:defRPr>
            </a:lvl6pPr>
            <a:lvl7pPr lvl="6" algn="r">
              <a:buNone/>
              <a:defRPr sz="1000">
                <a:solidFill>
                  <a:schemeClr val="dk2"/>
                </a:solidFill>
                <a:latin typeface="Proxima Nova"/>
                <a:ea typeface="Proxima Nova"/>
                <a:cs typeface="Proxima Nova"/>
                <a:sym typeface="Proxima Nova"/>
              </a:defRPr>
            </a:lvl7pPr>
            <a:lvl8pPr lvl="7" algn="r">
              <a:buNone/>
              <a:defRPr sz="1000">
                <a:solidFill>
                  <a:schemeClr val="dk2"/>
                </a:solidFill>
                <a:latin typeface="Proxima Nova"/>
                <a:ea typeface="Proxima Nova"/>
                <a:cs typeface="Proxima Nova"/>
                <a:sym typeface="Proxima Nova"/>
              </a:defRPr>
            </a:lvl8pPr>
            <a:lvl9pPr lvl="8" algn="r">
              <a:buNone/>
              <a:defRPr sz="1000">
                <a:solidFill>
                  <a:schemeClr val="dk2"/>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7" r:id="rId6"/>
    <p:sldLayoutId id="2147483659" r:id="rId7"/>
    <p:sldLayoutId id="2147483660" r:id="rId8"/>
    <p:sldLayoutId id="2147483661" r:id="rId9"/>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adsai.buas.nl/Year1/BlockC/" TargetMode="External"/><Relationship Id="rId7"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github.com/BredaUniversityADSAI/2024-25c-fai1-adsai-CerenKurt243910/tree/main" TargetMode="External"/><Relationship Id="rId5" Type="http://schemas.openxmlformats.org/officeDocument/2006/relationships/hyperlink" Target="https://adsai.buas.nl/Year1/BlockC/DataLabTasks.html" TargetMode="External"/><Relationship Id="rId4" Type="http://schemas.openxmlformats.org/officeDocument/2006/relationships/hyperlink" Target="https://github.com/BredaUniversityADSAI/2024-25-y1d-personal-CerenKurt243910/tree/main/Block%20C%20Retake%20Files/ILO%203%20Retake/3.2%20A"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BredaUniversityADSAI/2024-25c-fai1-adsai-CerenKurt243910/tree/main/Week%201" TargetMode="External"/><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BredaUniversityADSAI/2024-25c-fai1-adsai-CerenKurt243910/tree/main/Week%202" TargetMode="External"/><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BredaUniversityADSAI/2024-25c-fai1-adsai-CerenKurt243910/tree/main/Week%203" TargetMode="External"/><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BredaUniversityADSAI/2024-25c-fai1-adsai-CerenKurt243910/tree/main/Week%204" TargetMode="External"/><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BredaUniversityADSAI/2024-25c-fai1-adsai-CerenKurt243910/tree/main/Week%205" TargetMode="External"/><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hyperlink" Target="https://github.com/BredaUniversityADSAI/2024-25c-fai1-adsai-CerenKurt243910/tree/main/Week%206" TargetMode="External"/><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hyperlink" Target="https://github.com/BredaUniversityADSAI/2024-25c-fai1-adsai-CerenKurt243910/tree/main" TargetMode="External"/><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hyperlink" Target="https://github.com/BredaUniversityADSAI/2024-25-y1d-personal-CerenKurt243910/blob/main/Block%20C%20Retake%20Files/Ceren%20Kurt_Learning_Log.pptx" TargetMode="External"/><Relationship Id="rId7" Type="http://schemas.openxmlformats.org/officeDocument/2006/relationships/hyperlink" Target="https://github.com/BredaUniversityADSAI/2024-25-y1d-personal-CerenKurt243910/tree/main/Block%20C%20Retake%20Files/ILO%201.3%20Retake/1.3%20B%20Retake" TargetMode="External"/><Relationship Id="rId2" Type="http://schemas.openxmlformats.org/officeDocument/2006/relationships/notesSlide" Target="../notesSlides/notesSlide27.xml"/><Relationship Id="rId1" Type="http://schemas.openxmlformats.org/officeDocument/2006/relationships/slideLayout" Target="../slideLayouts/slideLayout5.xml"/><Relationship Id="rId6" Type="http://schemas.openxmlformats.org/officeDocument/2006/relationships/hyperlink" Target="https://github.com/BredaUniversityADSAI/2024-25-y1d-personal-CerenKurt243910/tree/main/Block%20C%20Retake%20Files/ILO%201.3%20Retake/1.3%20A%20Retake" TargetMode="External"/><Relationship Id="rId5" Type="http://schemas.openxmlformats.org/officeDocument/2006/relationships/hyperlink" Target="https://github.com/BredaUniversityADSAI/2024-25-y1d-personal-CerenKurt243910/blob/main/Block%20C%20Retake%20Files/Self-Assessment_Rubric-Y1C_2024-25_ADSAI-Ceren1.xlsx" TargetMode="External"/><Relationship Id="rId4" Type="http://schemas.openxmlformats.org/officeDocument/2006/relationships/hyperlink" Target="https://github.com/BredaUniversityADSAI/2024-25-y1d-personal-CerenKurt243910/blob/main/Block%20C%20Retake%20Files/Worklog_Block_C.xlsx" TargetMode="Externa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hyperlink" Target="https://github.com/BredaUniversityADSAI/2024-25-y1d-personal-CerenKurt243910/blob/main/Block%20C%20Retake%20Files/Ceren%20Kurt_Learning_Log.pptx" TargetMode="External"/><Relationship Id="rId2" Type="http://schemas.openxmlformats.org/officeDocument/2006/relationships/notesSlide" Target="../notesSlides/notesSlide29.xml"/><Relationship Id="rId1" Type="http://schemas.openxmlformats.org/officeDocument/2006/relationships/slideLayout" Target="../slideLayouts/slideLayout5.xml"/><Relationship Id="rId6" Type="http://schemas.openxmlformats.org/officeDocument/2006/relationships/hyperlink" Target="https://github.com/BredaUniversityADSAI/2024-25c-fai1-adsai-CerenKurt243910/blob/main/Deliverables/AI-Powered%20Plant%20Health%20Classification.pdf" TargetMode="External"/><Relationship Id="rId5" Type="http://schemas.openxmlformats.org/officeDocument/2006/relationships/hyperlink" Target="https://github.com/BredaUniversityADSAI/2024-25-y1d-personal-CerenKurt243910/blob/main/Block%20C%20Retake%20Files/Self-Assessment_Rubric-Y1C_2024-25_ADSAI-Ceren1.xlsx" TargetMode="External"/><Relationship Id="rId4" Type="http://schemas.openxmlformats.org/officeDocument/2006/relationships/hyperlink" Target="https://github.com/BredaUniversityADSAI/2024-25-y1d-personal-CerenKurt243910/blob/main/Block%20C%20Retake%20Files/Worklog_Block_C.xlsx" TargetMode="Externa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hyperlink" Target="https://github.com/BredaUniversityADSAI/2024-25-y1d-personal-CerenKurt243910/blob/main/Block%20C%20Retake%20Files/Ceren%20Kurt_Learning_Log.pptx" TargetMode="External"/><Relationship Id="rId7" Type="http://schemas.openxmlformats.org/officeDocument/2006/relationships/hyperlink" Target="https://github.com/BredaUniversityADSAI/2024-25c-fai1-adsai-CerenKurt243910/blob/main/Deliverables/Responsible-AI-CEREN_24391_.ipynb" TargetMode="External"/><Relationship Id="rId2" Type="http://schemas.openxmlformats.org/officeDocument/2006/relationships/notesSlide" Target="../notesSlides/notesSlide31.xml"/><Relationship Id="rId1" Type="http://schemas.openxmlformats.org/officeDocument/2006/relationships/slideLayout" Target="../slideLayouts/slideLayout5.xml"/><Relationship Id="rId6" Type="http://schemas.openxmlformats.org/officeDocument/2006/relationships/hyperlink" Target="https://github.com/BredaUniversityADSAI/2024-25-y1d-personal-CerenKurt243910/tree/main/Block%20C%20Retake%20Files/ILO%203%20Retake/3.2%20A" TargetMode="External"/><Relationship Id="rId5" Type="http://schemas.openxmlformats.org/officeDocument/2006/relationships/hyperlink" Target="https://github.com/BredaUniversityADSAI/2024-25-y1d-personal-CerenKurt243910/blob/main/Block%20C%20Retake%20Files/Self-Assessment_Rubric-Y1C_2024-25_ADSAI-Ceren1.xlsx" TargetMode="External"/><Relationship Id="rId4" Type="http://schemas.openxmlformats.org/officeDocument/2006/relationships/hyperlink" Target="https://github.com/BredaUniversityADSAI/2024-25-y1d-personal-CerenKurt243910/blob/main/Block%20C%20Retake%20Files/Worklog_Block_C.xlsx" TargetMode="Externa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hyperlink" Target="https://github.com/BredaUniversityADSAI/2024-25-y1d-personal-CerenKurt243910/blob/main/Block%20C%20Retake%20Files/Ceren%20Kurt_Learning_Log.pptx" TargetMode="External"/><Relationship Id="rId2" Type="http://schemas.openxmlformats.org/officeDocument/2006/relationships/notesSlide" Target="../notesSlides/notesSlide33.xml"/><Relationship Id="rId1" Type="http://schemas.openxmlformats.org/officeDocument/2006/relationships/slideLayout" Target="../slideLayouts/slideLayout5.xml"/><Relationship Id="rId6" Type="http://schemas.openxmlformats.org/officeDocument/2006/relationships/hyperlink" Target="https://github.com/BredaUniversityADSAI/2024-25-y1d-personal-CerenKurt243910/blob/main/Block%20C%20Retake%20Files/ILO%204.1%20Retake/Business_Understanding_Template_Ceren_Kurt_243910.pdf" TargetMode="External"/><Relationship Id="rId5" Type="http://schemas.openxmlformats.org/officeDocument/2006/relationships/hyperlink" Target="https://github.com/BredaUniversityADSAI/2024-25-y1d-personal-CerenKurt243910/blob/main/Block%20C%20Retake%20Files/Self-Assessment_Rubric-Y1C_2024-25_ADSAI-Ceren1.xlsx" TargetMode="External"/><Relationship Id="rId4" Type="http://schemas.openxmlformats.org/officeDocument/2006/relationships/hyperlink" Target="https://github.com/BredaUniversityADSAI/2024-25-y1d-personal-CerenKurt243910/blob/main/Block%20C%20Retake%20Files/Worklog_Block_C.xlsx" TargetMode="Externa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hyperlink" Target="https://github.com/BredaUniversityADSAI/2024-25-y1d-personal-CerenKurt243910/blob/main/Block%20C%20Retake%20Files/Ceren%20Kurt_Learning_Log.pptx" TargetMode="External"/><Relationship Id="rId7" Type="http://schemas.openxmlformats.org/officeDocument/2006/relationships/hyperlink" Target="%5bhttps:/edubuas-my.sharepoint.com/:f:/g/personal/243910_buas_nl/Ei7ufG0GhchDgTr84aO_e1sBUhwHqzPn9ikbhdcsh_ptMg?e=7LnMLn" TargetMode="External"/><Relationship Id="rId2" Type="http://schemas.openxmlformats.org/officeDocument/2006/relationships/notesSlide" Target="../notesSlides/notesSlide35.xml"/><Relationship Id="rId1" Type="http://schemas.openxmlformats.org/officeDocument/2006/relationships/slideLayout" Target="../slideLayouts/slideLayout5.xml"/><Relationship Id="rId6" Type="http://schemas.openxmlformats.org/officeDocument/2006/relationships/hyperlink" Target="https://github.com/BredaUniversityADSAI/2024-25c-fai1-adsai-CerenKurt243910/blob/main/Deliverables/Ceren_Kurt_243910_Deep-Learning-Template.ipynb" TargetMode="External"/><Relationship Id="rId5" Type="http://schemas.openxmlformats.org/officeDocument/2006/relationships/hyperlink" Target="https://github.com/BredaUniversityADSAI/2024-25-y1d-personal-CerenKurt243910/blob/main/Block%20C%20Retake%20Files/Self-Assessment_Rubric-Y1C_2024-25_ADSAI-Ceren1.xlsx" TargetMode="External"/><Relationship Id="rId4" Type="http://schemas.openxmlformats.org/officeDocument/2006/relationships/hyperlink" Target="https://github.com/BredaUniversityADSAI/2024-25-y1d-personal-CerenKurt243910/blob/main/Block%20C%20Retake%20Files/Worklog_Block_C.xlsx" TargetMode="Externa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hyperlink" Target="https://github.com/BredaUniversityADSAI/2024-25-y1d-personal-CerenKurt243910/blob/main/Block%20C%20Retake%20Files/Ceren%20Kurt_Learning_Log.pptx" TargetMode="External"/><Relationship Id="rId2" Type="http://schemas.openxmlformats.org/officeDocument/2006/relationships/notesSlide" Target="../notesSlides/notesSlide37.xml"/><Relationship Id="rId1" Type="http://schemas.openxmlformats.org/officeDocument/2006/relationships/slideLayout" Target="../slideLayouts/slideLayout5.xml"/><Relationship Id="rId6" Type="http://schemas.openxmlformats.org/officeDocument/2006/relationships/hyperlink" Target="https://github.com/BredaUniversityADSAI/2024-25c-fai1-adsai-CerenKurt243910/blob/main/Deliverables/Ceren_Kurt_243910_Deep-Learning-Template.ipynb" TargetMode="External"/><Relationship Id="rId5" Type="http://schemas.openxmlformats.org/officeDocument/2006/relationships/hyperlink" Target="https://github.com/BredaUniversityADSAI/2024-25-y1d-personal-CerenKurt243910/blob/main/Block%20C%20Retake%20Files/Self-Assessment_Rubric-Y1C_2024-25_ADSAI-Ceren1.xlsx" TargetMode="External"/><Relationship Id="rId4" Type="http://schemas.openxmlformats.org/officeDocument/2006/relationships/hyperlink" Target="https://github.com/BredaUniversityADSAI/2024-25-y1d-personal-CerenKurt243910/blob/main/Block%20C%20Retake%20Files/Worklog_Block_C.xlsx" TargetMode="Externa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hyperlink" Target="https://github.com/BredaUniversityADSAI/2024-25-y1d-personal-CerenKurt243910/blob/main/Block%20C%20Retake%20Files/Ceren%20Kurt_Learning_Log.pptx" TargetMode="External"/><Relationship Id="rId2" Type="http://schemas.openxmlformats.org/officeDocument/2006/relationships/notesSlide" Target="../notesSlides/notesSlide39.xml"/><Relationship Id="rId1" Type="http://schemas.openxmlformats.org/officeDocument/2006/relationships/slideLayout" Target="../slideLayouts/slideLayout5.xml"/><Relationship Id="rId6" Type="http://schemas.openxmlformats.org/officeDocument/2006/relationships/hyperlink" Target="https://github.com/BredaUniversityADSAI/2024-25-y1d-personal-CerenKurt243910/blob/main/Block%20C%20Retake%20Files/ILO%209.1%20Retake/Human_Centered_AI_Ceren_Kurt_243910%20(1).pdf" TargetMode="External"/><Relationship Id="rId5" Type="http://schemas.openxmlformats.org/officeDocument/2006/relationships/hyperlink" Target="https://github.com/BredaUniversityADSAI/2024-25-y1d-personal-CerenKurt243910/blob/main/Block%20C%20Retake%20Files/Self-Assessment_Rubric-Y1C_2024-25_ADSAI-Ceren1.xlsx" TargetMode="External"/><Relationship Id="rId4" Type="http://schemas.openxmlformats.org/officeDocument/2006/relationships/hyperlink" Target="https://github.com/BredaUniversityADSAI/2024-25-y1d-personal-CerenKurt243910/blob/main/Block%20C%20Retake%20Files/Worklog_Block_C.xlsx" TargetMode="External"/></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0.xml"/><Relationship Id="rId1" Type="http://schemas.openxmlformats.org/officeDocument/2006/relationships/slideLayout" Target="../slideLayouts/slideLayout3.xml"/><Relationship Id="rId4" Type="http://schemas.openxmlformats.org/officeDocument/2006/relationships/image" Target="../media/image5.svg"/></Relationships>
</file>

<file path=ppt/slides/_rels/slide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1.xml"/><Relationship Id="rId1" Type="http://schemas.openxmlformats.org/officeDocument/2006/relationships/slideLayout" Target="../slideLayouts/slideLayout5.xml"/><Relationship Id="rId4" Type="http://schemas.openxmlformats.org/officeDocument/2006/relationships/image" Target="../media/image5.sv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2"/>
          <p:cNvSpPr txBox="1">
            <a:spLocks noGrp="1"/>
          </p:cNvSpPr>
          <p:nvPr>
            <p:ph type="ctrTitle"/>
          </p:nvPr>
        </p:nvSpPr>
        <p:spPr>
          <a:xfrm>
            <a:off x="3657600" y="548650"/>
            <a:ext cx="4937700" cy="3264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latin typeface="Roboto"/>
                <a:ea typeface="Roboto"/>
                <a:cs typeface="Roboto"/>
                <a:sym typeface="Roboto"/>
              </a:rPr>
              <a:t>Ceren Kurt </a:t>
            </a:r>
            <a:endParaRPr dirty="0">
              <a:solidFill>
                <a:srgbClr val="FFFFFF"/>
              </a:solidFill>
              <a:latin typeface="Roboto"/>
              <a:ea typeface="Roboto"/>
              <a:cs typeface="Roboto"/>
              <a:sym typeface="Roboto"/>
            </a:endParaRPr>
          </a:p>
          <a:p>
            <a:pPr marL="0" lvl="0" indent="0" algn="l" rtl="0">
              <a:spcBef>
                <a:spcPts val="0"/>
              </a:spcBef>
              <a:spcAft>
                <a:spcPts val="0"/>
              </a:spcAft>
              <a:buNone/>
            </a:pPr>
            <a:r>
              <a:rPr lang="en" dirty="0">
                <a:latin typeface="Roboto"/>
                <a:ea typeface="Roboto"/>
                <a:cs typeface="Roboto"/>
                <a:sym typeface="Roboto"/>
              </a:rPr>
              <a:t>243910</a:t>
            </a:r>
            <a:endParaRPr dirty="0">
              <a:solidFill>
                <a:srgbClr val="FFFFFF"/>
              </a:solidFill>
              <a:latin typeface="Roboto"/>
              <a:ea typeface="Roboto"/>
              <a:cs typeface="Roboto"/>
              <a:sym typeface="Roboto"/>
            </a:endParaRPr>
          </a:p>
        </p:txBody>
      </p:sp>
      <p:sp>
        <p:nvSpPr>
          <p:cNvPr id="95" name="Google Shape;95;p12"/>
          <p:cNvSpPr txBox="1">
            <a:spLocks noGrp="1"/>
          </p:cNvSpPr>
          <p:nvPr>
            <p:ph type="subTitle" idx="1"/>
          </p:nvPr>
        </p:nvSpPr>
        <p:spPr>
          <a:xfrm>
            <a:off x="548650" y="2571750"/>
            <a:ext cx="2011800" cy="1406525"/>
          </a:xfrm>
          <a:prstGeom prst="rect">
            <a:avLst/>
          </a:prstGeom>
        </p:spPr>
        <p:txBody>
          <a:bodyPr spcFirstLastPara="1" wrap="square" lIns="91425" tIns="91425" rIns="91425" bIns="91425" anchor="b" anchorCtr="0">
            <a:noAutofit/>
          </a:bodyPr>
          <a:lstStyle/>
          <a:p>
            <a:pPr marL="0" indent="0">
              <a:lnSpc>
                <a:spcPct val="104000"/>
              </a:lnSpc>
            </a:pPr>
            <a:r>
              <a:rPr lang="en" sz="1800" dirty="0">
                <a:solidFill>
                  <a:srgbClr val="434343"/>
                </a:solidFill>
              </a:rPr>
              <a:t>Learning Log</a:t>
            </a:r>
            <a:r>
              <a:rPr lang="en" dirty="0">
                <a:solidFill>
                  <a:srgbClr val="434343"/>
                </a:solidFill>
              </a:rPr>
              <a:t> </a:t>
            </a:r>
            <a:endParaRPr sz="1800" dirty="0">
              <a:solidFill>
                <a:srgbClr val="434343"/>
              </a:solidFill>
            </a:endParaRPr>
          </a:p>
          <a:p>
            <a:pPr marL="0" indent="0">
              <a:lnSpc>
                <a:spcPct val="104000"/>
              </a:lnSpc>
              <a:spcBef>
                <a:spcPts val="800"/>
              </a:spcBef>
              <a:spcAft>
                <a:spcPts val="800"/>
              </a:spcAft>
            </a:pPr>
            <a:r>
              <a:rPr lang="en" dirty="0">
                <a:solidFill>
                  <a:srgbClr val="434343"/>
                </a:solidFill>
              </a:rPr>
              <a:t>Year  </a:t>
            </a:r>
            <a:r>
              <a:rPr lang="en-US" dirty="0">
                <a:solidFill>
                  <a:srgbClr val="434343"/>
                </a:solidFill>
              </a:rPr>
              <a:t>1</a:t>
            </a:r>
            <a:endParaRPr lang="en" dirty="0">
              <a:solidFill>
                <a:srgbClr val="434343"/>
              </a:solidFill>
            </a:endParaRPr>
          </a:p>
          <a:p>
            <a:pPr marL="0" indent="0">
              <a:lnSpc>
                <a:spcPct val="104000"/>
              </a:lnSpc>
              <a:spcBef>
                <a:spcPts val="800"/>
              </a:spcBef>
              <a:spcAft>
                <a:spcPts val="800"/>
              </a:spcAft>
            </a:pPr>
            <a:r>
              <a:rPr lang="en" dirty="0">
                <a:solidFill>
                  <a:srgbClr val="434343"/>
                </a:solidFill>
              </a:rPr>
              <a:t>Block  </a:t>
            </a:r>
            <a:r>
              <a:rPr lang="en-US" dirty="0">
                <a:solidFill>
                  <a:srgbClr val="434343"/>
                </a:solidFill>
              </a:rPr>
              <a:t>C</a:t>
            </a:r>
            <a:endParaRPr sz="1800" dirty="0">
              <a:solidFill>
                <a:srgbClr val="434343"/>
              </a:solidFill>
            </a:endParaRPr>
          </a:p>
        </p:txBody>
      </p:sp>
      <p:sp>
        <p:nvSpPr>
          <p:cNvPr id="4" name="Google Shape;16;p2">
            <a:extLst>
              <a:ext uri="{FF2B5EF4-FFF2-40B4-BE49-F238E27FC236}">
                <a16:creationId xmlns:a16="http://schemas.microsoft.com/office/drawing/2014/main" id="{8758BBB5-F7B4-27C5-E103-E7FBDED4DBC2}"/>
              </a:ext>
            </a:extLst>
          </p:cNvPr>
          <p:cNvSpPr txBox="1"/>
          <p:nvPr/>
        </p:nvSpPr>
        <p:spPr>
          <a:xfrm>
            <a:off x="3036677" y="4408319"/>
            <a:ext cx="5944414" cy="232252"/>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700" dirty="0">
                <a:solidFill>
                  <a:srgbClr val="999999"/>
                </a:solidFill>
                <a:latin typeface="Helvetica Neue"/>
                <a:ea typeface="Roboto"/>
                <a:cs typeface="Roboto"/>
                <a:sym typeface="Helvetica Neue"/>
                <a:hlinkClick r:id="rId3"/>
              </a:rPr>
              <a:t>FAI1.P3-01 Project 1C ADS&amp;AI 2024-25</a:t>
            </a:r>
            <a:r>
              <a:rPr lang="en-US" sz="700" dirty="0">
                <a:solidFill>
                  <a:srgbClr val="999999"/>
                </a:solidFill>
                <a:latin typeface="Helvetica Neue"/>
                <a:ea typeface="Roboto"/>
                <a:cs typeface="Roboto"/>
                <a:sym typeface="Helvetica Neue"/>
              </a:rPr>
              <a:t>        , </a:t>
            </a:r>
            <a:r>
              <a:rPr lang="en-US" sz="700" dirty="0">
                <a:solidFill>
                  <a:srgbClr val="999999"/>
                </a:solidFill>
                <a:latin typeface="Helvetica Neue"/>
                <a:ea typeface="Roboto"/>
                <a:cs typeface="Roboto"/>
                <a:sym typeface="Helvetica Neue"/>
                <a:hlinkClick r:id="rId4"/>
              </a:rPr>
              <a:t>Block C RETAKE FILES LINK ON GITHUB </a:t>
            </a:r>
            <a:endParaRPr dirty="0">
              <a:latin typeface="Roboto"/>
              <a:ea typeface="Roboto"/>
              <a:cs typeface="Roboto"/>
              <a:sym typeface="Roboto"/>
            </a:endParaRPr>
          </a:p>
        </p:txBody>
      </p:sp>
      <p:sp>
        <p:nvSpPr>
          <p:cNvPr id="5" name="Google Shape;16;p2">
            <a:extLst>
              <a:ext uri="{FF2B5EF4-FFF2-40B4-BE49-F238E27FC236}">
                <a16:creationId xmlns:a16="http://schemas.microsoft.com/office/drawing/2014/main" id="{91019EC5-1870-195F-7F9F-5AA97F189468}"/>
              </a:ext>
            </a:extLst>
          </p:cNvPr>
          <p:cNvSpPr txBox="1"/>
          <p:nvPr/>
        </p:nvSpPr>
        <p:spPr>
          <a:xfrm>
            <a:off x="3036676" y="4625059"/>
            <a:ext cx="5944414" cy="232252"/>
          </a:xfrm>
          <a:prstGeom prst="rect">
            <a:avLst/>
          </a:prstGeom>
          <a:noFill/>
          <a:ln>
            <a:noFill/>
          </a:ln>
        </p:spPr>
        <p:txBody>
          <a:bodyPr spcFirstLastPara="1" wrap="square" lIns="91425" tIns="91425" rIns="91425" bIns="91425" anchor="t" anchorCtr="0">
            <a:noAutofit/>
          </a:bodyPr>
          <a:lstStyle/>
          <a:p>
            <a:pPr>
              <a:defRPr/>
            </a:pPr>
            <a:r>
              <a:rPr lang="en-US" sz="700" dirty="0">
                <a:solidFill>
                  <a:srgbClr val="999999"/>
                </a:solidFill>
                <a:latin typeface="Helvetica Neue"/>
                <a:ea typeface="Roboto"/>
                <a:cs typeface="Roboto"/>
                <a:sym typeface="Helvetica Neue"/>
                <a:hlinkClick r:id="rId5"/>
              </a:rPr>
              <a:t>DataLab Tasks</a:t>
            </a:r>
            <a:endParaRPr lang="en-US" sz="800" dirty="0">
              <a:latin typeface="Roboto"/>
              <a:ea typeface="Roboto"/>
              <a:cs typeface="Roboto"/>
              <a:sym typeface="Roboto"/>
            </a:endParaRPr>
          </a:p>
        </p:txBody>
      </p:sp>
      <p:sp>
        <p:nvSpPr>
          <p:cNvPr id="6" name="Google Shape;16;p2">
            <a:extLst>
              <a:ext uri="{FF2B5EF4-FFF2-40B4-BE49-F238E27FC236}">
                <a16:creationId xmlns:a16="http://schemas.microsoft.com/office/drawing/2014/main" id="{71C20FEA-7051-AFFA-02AF-093F08979088}"/>
              </a:ext>
            </a:extLst>
          </p:cNvPr>
          <p:cNvSpPr txBox="1"/>
          <p:nvPr/>
        </p:nvSpPr>
        <p:spPr>
          <a:xfrm>
            <a:off x="3036676" y="4798480"/>
            <a:ext cx="5944414" cy="232252"/>
          </a:xfrm>
          <a:prstGeom prst="rect">
            <a:avLst/>
          </a:prstGeom>
          <a:noFill/>
          <a:ln>
            <a:noFill/>
          </a:ln>
        </p:spPr>
        <p:txBody>
          <a:bodyPr spcFirstLastPara="1" wrap="square" lIns="91425" tIns="91425" rIns="91425" bIns="91425" anchor="t" anchorCtr="0">
            <a:noAutofit/>
          </a:bodyPr>
          <a:lstStyle/>
          <a:p>
            <a:pPr>
              <a:defRPr/>
            </a:pPr>
            <a:r>
              <a:rPr lang="en-US" sz="800" dirty="0">
                <a:latin typeface="Roboto"/>
                <a:ea typeface="Roboto"/>
                <a:cs typeface="Roboto"/>
                <a:sym typeface="Roboto"/>
                <a:hlinkClick r:id="rId6"/>
              </a:rPr>
              <a:t>https://github.com/BredaUniversityADSAI/2024-25c-fai1-adsai-CerenKurt243910/tree/main</a:t>
            </a:r>
            <a:r>
              <a:rPr lang="en-US" sz="800" dirty="0">
                <a:latin typeface="Roboto"/>
                <a:ea typeface="Roboto"/>
                <a:cs typeface="Roboto"/>
                <a:sym typeface="Roboto"/>
              </a:rPr>
              <a:t> </a:t>
            </a:r>
          </a:p>
          <a:p>
            <a:pPr>
              <a:defRPr/>
            </a:pPr>
            <a:endParaRPr lang="en-US" sz="800" dirty="0">
              <a:latin typeface="Roboto"/>
              <a:ea typeface="Roboto"/>
              <a:cs typeface="Roboto"/>
              <a:sym typeface="Roboto"/>
            </a:endParaRPr>
          </a:p>
        </p:txBody>
      </p:sp>
      <p:pic>
        <p:nvPicPr>
          <p:cNvPr id="2" name="Picture 1">
            <a:extLst>
              <a:ext uri="{FF2B5EF4-FFF2-40B4-BE49-F238E27FC236}">
                <a16:creationId xmlns:a16="http://schemas.microsoft.com/office/drawing/2014/main" id="{B76366C8-F595-8FD9-D633-2AF9E510E04C}"/>
              </a:ext>
            </a:extLst>
          </p:cNvPr>
          <p:cNvPicPr>
            <a:picLocks noChangeAspect="1"/>
          </p:cNvPicPr>
          <p:nvPr/>
        </p:nvPicPr>
        <p:blipFill>
          <a:blip r:embed="rId7"/>
          <a:stretch>
            <a:fillRect/>
          </a:stretch>
        </p:blipFill>
        <p:spPr>
          <a:xfrm>
            <a:off x="3925228" y="600849"/>
            <a:ext cx="1360449" cy="181279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3"/>
          <p:cNvSpPr txBox="1">
            <a:spLocks noGrp="1"/>
          </p:cNvSpPr>
          <p:nvPr>
            <p:ph type="title"/>
          </p:nvPr>
        </p:nvSpPr>
        <p:spPr>
          <a:xfrm>
            <a:off x="182880" y="2926080"/>
            <a:ext cx="2743200" cy="1551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How To Use</a:t>
            </a:r>
            <a:endParaRPr/>
          </a:p>
          <a:p>
            <a:pPr marL="0" lvl="0" indent="0" algn="ctr" rtl="0">
              <a:spcBef>
                <a:spcPts val="0"/>
              </a:spcBef>
              <a:spcAft>
                <a:spcPts val="0"/>
              </a:spcAft>
              <a:buNone/>
            </a:pPr>
            <a:r>
              <a:rPr lang="en"/>
              <a:t>This Template</a:t>
            </a:r>
            <a:endParaRPr/>
          </a:p>
        </p:txBody>
      </p:sp>
      <p:sp>
        <p:nvSpPr>
          <p:cNvPr id="102" name="Google Shape;102;p13"/>
          <p:cNvSpPr txBox="1">
            <a:spLocks noGrp="1"/>
          </p:cNvSpPr>
          <p:nvPr>
            <p:ph type="body" idx="2"/>
          </p:nvPr>
        </p:nvSpPr>
        <p:spPr>
          <a:xfrm>
            <a:off x="3383280" y="274320"/>
            <a:ext cx="5486400" cy="4599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As a student at Breda University of Applied Sciences studying to become a professional, you are required to provide evidence that demonstrates your professional learning and growth during the block. This template is intended to provide you with a well-structured and organised format for doing this effectively. Keep in mind that certain competencies may require you to update your evidence every week, and others may have only be relevant during a particular week or two.</a:t>
            </a:r>
            <a:endParaRPr dirty="0"/>
          </a:p>
          <a:p>
            <a:pPr marL="0" lvl="0" indent="0" algn="l" rtl="0">
              <a:spcBef>
                <a:spcPts val="800"/>
              </a:spcBef>
              <a:spcAft>
                <a:spcPts val="0"/>
              </a:spcAft>
              <a:buNone/>
            </a:pPr>
            <a:endParaRPr dirty="0"/>
          </a:p>
          <a:p>
            <a:pPr marL="0" lvl="0" indent="0" algn="l" rtl="0">
              <a:spcBef>
                <a:spcPts val="800"/>
              </a:spcBef>
              <a:spcAft>
                <a:spcPts val="0"/>
              </a:spcAft>
              <a:buNone/>
            </a:pPr>
            <a:r>
              <a:rPr lang="en" dirty="0"/>
              <a:t>With the evidence you present here teachers should get a clear and comprehensive overview of your progress, how you’ve engaged with feedback, as well as your general attitude and performance as a student and as an aspiring professional developer.</a:t>
            </a:r>
            <a:endParaRPr dirty="0"/>
          </a:p>
          <a:p>
            <a:pPr marL="0" lvl="0" indent="0" algn="l" rtl="0">
              <a:spcBef>
                <a:spcPts val="800"/>
              </a:spcBef>
              <a:spcAft>
                <a:spcPts val="0"/>
              </a:spcAft>
              <a:buNone/>
            </a:pPr>
            <a:endParaRPr dirty="0"/>
          </a:p>
          <a:p>
            <a:pPr marL="0" lvl="0" indent="0" algn="l" rtl="0">
              <a:spcBef>
                <a:spcPts val="800"/>
              </a:spcBef>
              <a:spcAft>
                <a:spcPts val="0"/>
              </a:spcAft>
              <a:buNone/>
            </a:pPr>
            <a:r>
              <a:rPr lang="en" dirty="0"/>
              <a:t>Note that number and size of text boxes and how they are organized on each slide may be modified as needed. It is up to you to decide what layout is most effective for the content you are providing. You may also add slides if needed, but try to be as economical as possible, i.e. quality over quantity. Focus on the things that are the most significant and meaningful.</a:t>
            </a:r>
            <a:endParaRPr dirty="0"/>
          </a:p>
          <a:p>
            <a:pPr marL="0" lvl="0" indent="0" algn="l" rtl="0">
              <a:spcBef>
                <a:spcPts val="800"/>
              </a:spcBef>
              <a:spcAft>
                <a:spcPts val="0"/>
              </a:spcAft>
              <a:buNone/>
            </a:pPr>
            <a:endParaRPr dirty="0"/>
          </a:p>
          <a:p>
            <a:pPr marL="0" lvl="0" indent="0" algn="l" rtl="0">
              <a:spcBef>
                <a:spcPts val="800"/>
              </a:spcBef>
              <a:spcAft>
                <a:spcPts val="800"/>
              </a:spcAft>
              <a:buNone/>
            </a:pPr>
            <a:r>
              <a:rPr lang="en" dirty="0"/>
              <a:t>You are also free to stylise this template to improve the graphic design and visual appeal, but please remember its purpose: to provide evidence of your progress towards becoming a professional developer. Changes should only enhance and extend the information, and may never subtract. I.e. do not delete anything or change the order of things. If in doubt, seek approval from your teachers!</a:t>
            </a:r>
            <a:endParaRPr dirty="0"/>
          </a:p>
        </p:txBody>
      </p:sp>
      <p:pic>
        <p:nvPicPr>
          <p:cNvPr id="1026" name="Picture 2" descr="Artificial intelligence brain">
            <a:extLst>
              <a:ext uri="{FF2B5EF4-FFF2-40B4-BE49-F238E27FC236}">
                <a16:creationId xmlns:a16="http://schemas.microsoft.com/office/drawing/2014/main" id="{31E76062-B307-B28D-6D09-6AB7455F1C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4" y="453863"/>
            <a:ext cx="3102126" cy="16152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4"/>
          <p:cNvSpPr txBox="1">
            <a:spLocks noGrp="1"/>
          </p:cNvSpPr>
          <p:nvPr>
            <p:ph type="title"/>
          </p:nvPr>
        </p:nvSpPr>
        <p:spPr>
          <a:xfrm>
            <a:off x="274320" y="308799"/>
            <a:ext cx="2560200" cy="1551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Learning Log</a:t>
            </a:r>
            <a:endParaRPr/>
          </a:p>
          <a:p>
            <a:pPr marL="0" lvl="0" indent="0" algn="ctr" rtl="0">
              <a:spcBef>
                <a:spcPts val="0"/>
              </a:spcBef>
              <a:spcAft>
                <a:spcPts val="0"/>
              </a:spcAft>
              <a:buNone/>
            </a:pPr>
            <a:r>
              <a:rPr lang="en"/>
              <a:t>Structure</a:t>
            </a:r>
            <a:endParaRPr/>
          </a:p>
        </p:txBody>
      </p:sp>
      <p:sp>
        <p:nvSpPr>
          <p:cNvPr id="109" name="Google Shape;109;p14"/>
          <p:cNvSpPr txBox="1">
            <a:spLocks noGrp="1"/>
          </p:cNvSpPr>
          <p:nvPr>
            <p:ph type="subTitle" idx="1"/>
          </p:nvPr>
        </p:nvSpPr>
        <p:spPr>
          <a:xfrm>
            <a:off x="274320" y="1860700"/>
            <a:ext cx="2560200" cy="3012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400"/>
              <a:t>Section A</a:t>
            </a:r>
            <a:endParaRPr sz="1400"/>
          </a:p>
          <a:p>
            <a:pPr marL="182880" lvl="0" indent="-180340" algn="l" rtl="0">
              <a:spcBef>
                <a:spcPts val="0"/>
              </a:spcBef>
              <a:spcAft>
                <a:spcPts val="0"/>
              </a:spcAft>
              <a:buSzPts val="1400"/>
              <a:buChar char="●"/>
            </a:pPr>
            <a:r>
              <a:rPr lang="en" sz="1400"/>
              <a:t>Starting this block</a:t>
            </a:r>
            <a:endParaRPr sz="1400"/>
          </a:p>
          <a:p>
            <a:pPr marL="182880" lvl="0" indent="-180340" algn="l" rtl="0">
              <a:spcBef>
                <a:spcPts val="0"/>
              </a:spcBef>
              <a:spcAft>
                <a:spcPts val="0"/>
              </a:spcAft>
              <a:buSzPts val="1400"/>
              <a:buChar char="●"/>
            </a:pPr>
            <a:r>
              <a:rPr lang="en" sz="1400"/>
              <a:t>Goals</a:t>
            </a:r>
            <a:endParaRPr sz="1400"/>
          </a:p>
          <a:p>
            <a:pPr marL="0" lvl="0" indent="0" algn="l" rtl="0">
              <a:spcBef>
                <a:spcPts val="0"/>
              </a:spcBef>
              <a:spcAft>
                <a:spcPts val="0"/>
              </a:spcAft>
              <a:buNone/>
            </a:pPr>
            <a:endParaRPr sz="1400"/>
          </a:p>
          <a:p>
            <a:pPr marL="0" lvl="0" indent="0" algn="l" rtl="0">
              <a:spcBef>
                <a:spcPts val="0"/>
              </a:spcBef>
              <a:spcAft>
                <a:spcPts val="0"/>
              </a:spcAft>
              <a:buNone/>
            </a:pPr>
            <a:r>
              <a:rPr lang="en" sz="1400"/>
              <a:t>Section B </a:t>
            </a:r>
            <a:endParaRPr sz="1400"/>
          </a:p>
          <a:p>
            <a:pPr marL="182880" lvl="0" indent="-180340" algn="l" rtl="0">
              <a:spcBef>
                <a:spcPts val="0"/>
              </a:spcBef>
              <a:spcAft>
                <a:spcPts val="0"/>
              </a:spcAft>
              <a:buSzPts val="1400"/>
              <a:buChar char="●"/>
            </a:pPr>
            <a:r>
              <a:rPr lang="en" sz="1400"/>
              <a:t>ILO section</a:t>
            </a:r>
            <a:endParaRPr sz="1400"/>
          </a:p>
          <a:p>
            <a:pPr marL="182880" lvl="0" indent="-180340" algn="l" rtl="0">
              <a:spcBef>
                <a:spcPts val="0"/>
              </a:spcBef>
              <a:spcAft>
                <a:spcPts val="0"/>
              </a:spcAft>
              <a:buSzPts val="1400"/>
              <a:buChar char="●"/>
            </a:pPr>
            <a:r>
              <a:rPr lang="en" sz="1400"/>
              <a:t>Week log section</a:t>
            </a:r>
            <a:endParaRPr sz="1400"/>
          </a:p>
          <a:p>
            <a:pPr marL="0" lvl="0" indent="0" algn="l" rtl="0">
              <a:spcBef>
                <a:spcPts val="0"/>
              </a:spcBef>
              <a:spcAft>
                <a:spcPts val="0"/>
              </a:spcAft>
              <a:buNone/>
            </a:pPr>
            <a:endParaRPr sz="1400"/>
          </a:p>
          <a:p>
            <a:pPr marL="0" lvl="0" indent="0" algn="l" rtl="0">
              <a:spcBef>
                <a:spcPts val="0"/>
              </a:spcBef>
              <a:spcAft>
                <a:spcPts val="0"/>
              </a:spcAft>
              <a:buNone/>
            </a:pPr>
            <a:r>
              <a:rPr lang="en" sz="1400"/>
              <a:t>Section C</a:t>
            </a:r>
            <a:endParaRPr sz="1400"/>
          </a:p>
          <a:p>
            <a:pPr marL="182880" lvl="0" indent="-180340" algn="l" rtl="0">
              <a:spcBef>
                <a:spcPts val="0"/>
              </a:spcBef>
              <a:spcAft>
                <a:spcPts val="0"/>
              </a:spcAft>
              <a:buSzPts val="1400"/>
              <a:buChar char="●"/>
            </a:pPr>
            <a:r>
              <a:rPr lang="en" sz="1400"/>
              <a:t>Block reflection</a:t>
            </a:r>
            <a:endParaRPr sz="1400"/>
          </a:p>
        </p:txBody>
      </p:sp>
      <p:sp>
        <p:nvSpPr>
          <p:cNvPr id="110" name="Google Shape;110;p14"/>
          <p:cNvSpPr txBox="1">
            <a:spLocks noGrp="1"/>
          </p:cNvSpPr>
          <p:nvPr>
            <p:ph type="body" idx="2"/>
          </p:nvPr>
        </p:nvSpPr>
        <p:spPr>
          <a:xfrm>
            <a:off x="3383280" y="274320"/>
            <a:ext cx="5486400" cy="4599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200" b="1" u="sng"/>
              <a:t>Section A - My Plan		</a:t>
            </a:r>
            <a:r>
              <a:rPr lang="en" i="1"/>
              <a:t>Must be completed in </a:t>
            </a:r>
            <a:r>
              <a:rPr lang="en" i="1" u="sng"/>
              <a:t>week 1</a:t>
            </a:r>
            <a:endParaRPr i="1" u="sng"/>
          </a:p>
          <a:p>
            <a:pPr marL="0" lvl="0" indent="0" algn="l" rtl="0">
              <a:spcBef>
                <a:spcPts val="800"/>
              </a:spcBef>
              <a:spcAft>
                <a:spcPts val="0"/>
              </a:spcAft>
              <a:buNone/>
            </a:pPr>
            <a:r>
              <a:rPr lang="en"/>
              <a:t>Your plan describes your goals for the block. Starting with where you are right now, where do you want to be at the end of the block? I.e. what role(s) will you take responsibility for, and how will you demonstrate progress relevant to the ILOs for this block? What tasks and deliverables are best aligned with your role and the project brief?</a:t>
            </a:r>
            <a:endParaRPr/>
          </a:p>
          <a:p>
            <a:pPr marL="0" lvl="0" indent="0" algn="l" rtl="0">
              <a:spcBef>
                <a:spcPts val="800"/>
              </a:spcBef>
              <a:spcAft>
                <a:spcPts val="0"/>
              </a:spcAft>
              <a:buNone/>
            </a:pPr>
            <a:r>
              <a:rPr lang="en" sz="1200" b="1" u="sng"/>
              <a:t>Section B - ILO’s		</a:t>
            </a:r>
            <a:r>
              <a:rPr lang="en" i="1"/>
              <a:t>Must be completed in </a:t>
            </a:r>
            <a:r>
              <a:rPr lang="en" i="1" u="sng"/>
              <a:t>week 8</a:t>
            </a:r>
            <a:r>
              <a:rPr lang="en" i="1"/>
              <a:t>, but should be updated </a:t>
            </a:r>
            <a:r>
              <a:rPr lang="en" i="1" u="sng"/>
              <a:t>regularly</a:t>
            </a:r>
            <a:endParaRPr i="1" u="sng"/>
          </a:p>
          <a:p>
            <a:pPr marL="0" lvl="0" indent="0" algn="l" rtl="0">
              <a:spcBef>
                <a:spcPts val="800"/>
              </a:spcBef>
              <a:spcAft>
                <a:spcPts val="0"/>
              </a:spcAft>
              <a:buNone/>
            </a:pPr>
            <a:r>
              <a:rPr lang="en"/>
              <a:t>This is where you link your evidence to each of the Intended Learning Outcomes of this block.</a:t>
            </a:r>
            <a:endParaRPr/>
          </a:p>
          <a:p>
            <a:pPr marL="0" lvl="0" indent="0" algn="l" rtl="0">
              <a:spcBef>
                <a:spcPts val="800"/>
              </a:spcBef>
              <a:spcAft>
                <a:spcPts val="0"/>
              </a:spcAft>
              <a:buNone/>
            </a:pPr>
            <a:r>
              <a:rPr lang="en" sz="1200" b="1" u="sng"/>
              <a:t>Section C - Weekly Log	</a:t>
            </a:r>
            <a:r>
              <a:rPr lang="en" i="1"/>
              <a:t>Must be updated </a:t>
            </a:r>
            <a:r>
              <a:rPr lang="en" i="1" u="sng"/>
              <a:t>every week</a:t>
            </a:r>
            <a:endParaRPr i="1" u="sng"/>
          </a:p>
          <a:p>
            <a:pPr marL="0" lvl="0" indent="0" algn="l" rtl="0">
              <a:spcBef>
                <a:spcPts val="800"/>
              </a:spcBef>
              <a:spcAft>
                <a:spcPts val="0"/>
              </a:spcAft>
              <a:buNone/>
            </a:pPr>
            <a:r>
              <a:rPr lang="en"/>
              <a:t>This is simply a log (journal) of what you do each day, and what you learn from it. It is your responsibility to update this regularly and frequently. Be sure to include working links to any specific evidence you are referencing (and make sure that you share your docs with the teaching team). Note: some of the required information may be captured in production documents such as your work log or peer reviews. </a:t>
            </a:r>
            <a:endParaRPr/>
          </a:p>
          <a:p>
            <a:pPr marL="0" lvl="0" indent="0" algn="l" rtl="0">
              <a:spcBef>
                <a:spcPts val="800"/>
              </a:spcBef>
              <a:spcAft>
                <a:spcPts val="0"/>
              </a:spcAft>
              <a:buNone/>
            </a:pPr>
            <a:r>
              <a:rPr lang="en"/>
              <a:t>In such cases, you simply need to provide links to those artifacts and may include any explanatory comment or reflection you feel is appropriate. </a:t>
            </a:r>
            <a:endParaRPr/>
          </a:p>
          <a:p>
            <a:pPr marL="0" lvl="0" indent="0" algn="l" rtl="0">
              <a:spcBef>
                <a:spcPts val="800"/>
              </a:spcBef>
              <a:spcAft>
                <a:spcPts val="0"/>
              </a:spcAft>
              <a:buNone/>
            </a:pPr>
            <a:r>
              <a:rPr lang="en"/>
              <a:t>(Some reflection is almost always a good idea as it provides the foundation for Section C.)</a:t>
            </a:r>
            <a:endParaRPr/>
          </a:p>
          <a:p>
            <a:pPr marL="0" lvl="0" indent="0" algn="l" rtl="0">
              <a:spcBef>
                <a:spcPts val="800"/>
              </a:spcBef>
              <a:spcAft>
                <a:spcPts val="0"/>
              </a:spcAft>
              <a:buNone/>
            </a:pPr>
            <a:r>
              <a:rPr lang="en" sz="1200" b="1" u="sng"/>
              <a:t>Section D - Reflection	</a:t>
            </a:r>
            <a:r>
              <a:rPr lang="en" i="1"/>
              <a:t>Must be completed in </a:t>
            </a:r>
            <a:r>
              <a:rPr lang="en" i="1" u="sng"/>
              <a:t>week 8</a:t>
            </a:r>
            <a:endParaRPr i="1" u="sng"/>
          </a:p>
          <a:p>
            <a:pPr marL="0" lvl="0" indent="0" algn="l" rtl="0">
              <a:spcBef>
                <a:spcPts val="800"/>
              </a:spcBef>
              <a:spcAft>
                <a:spcPts val="800"/>
              </a:spcAft>
              <a:buNone/>
            </a:pPr>
            <a:r>
              <a:rPr lang="en"/>
              <a:t>Summative reflection on your progress during the block including a critical assessment of everything you did and learned during the block. This is a comprehensive review of everything recorded in Section B, evaluated against the goals and planning laid out in Section A.</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9"/>
          <p:cNvSpPr txBox="1">
            <a:spLocks noGrp="1"/>
          </p:cNvSpPr>
          <p:nvPr>
            <p:ph type="ctrTitle"/>
          </p:nvPr>
        </p:nvSpPr>
        <p:spPr>
          <a:xfrm>
            <a:off x="1828800" y="1453896"/>
            <a:ext cx="73152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000"/>
              <a:t>Section A</a:t>
            </a:r>
            <a:endParaRPr sz="6000"/>
          </a:p>
        </p:txBody>
      </p:sp>
      <p:sp>
        <p:nvSpPr>
          <p:cNvPr id="154" name="Google Shape;154;p19"/>
          <p:cNvSpPr txBox="1">
            <a:spLocks noGrp="1"/>
          </p:cNvSpPr>
          <p:nvPr>
            <p:ph type="subTitle" idx="1"/>
          </p:nvPr>
        </p:nvSpPr>
        <p:spPr>
          <a:xfrm>
            <a:off x="1828800" y="2953512"/>
            <a:ext cx="73152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000"/>
              <a:t>Goal Setting</a:t>
            </a:r>
            <a:endParaRPr lang="en-US" sz="3000"/>
          </a:p>
        </p:txBody>
      </p:sp>
      <p:sp>
        <p:nvSpPr>
          <p:cNvPr id="155" name="Google Shape;155;p1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40000">
                <a:solidFill>
                  <a:srgbClr val="999999"/>
                </a:solidFill>
                <a:latin typeface="Roboto"/>
                <a:ea typeface="Roboto"/>
                <a:cs typeface="Roboto"/>
                <a:sym typeface="Roboto"/>
              </a:rPr>
              <a:t>A</a:t>
            </a:r>
            <a:endParaRPr sz="40000">
              <a:solidFill>
                <a:srgbClr val="999999"/>
              </a:solidFill>
              <a:latin typeface="Roboto"/>
              <a:ea typeface="Roboto"/>
              <a:cs typeface="Roboto"/>
              <a:sym typeface="Roboto"/>
            </a:endParaRPr>
          </a:p>
        </p:txBody>
      </p:sp>
      <p:sp>
        <p:nvSpPr>
          <p:cNvPr id="2" name="Rectangle: Rounded Corners 1">
            <a:extLst>
              <a:ext uri="{FF2B5EF4-FFF2-40B4-BE49-F238E27FC236}">
                <a16:creationId xmlns:a16="http://schemas.microsoft.com/office/drawing/2014/main" id="{4E84F48E-9152-454D-9754-FA0D0AD81F68}"/>
              </a:ext>
            </a:extLst>
          </p:cNvPr>
          <p:cNvSpPr/>
          <p:nvPr/>
        </p:nvSpPr>
        <p:spPr>
          <a:xfrm>
            <a:off x="2033752" y="404648"/>
            <a:ext cx="6232634" cy="730469"/>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NL" b="1" dirty="0">
                <a:latin typeface="Open Sans" panose="020B0606030504020204" pitchFamily="34" charset="0"/>
                <a:ea typeface="Open Sans" panose="020B0606030504020204" pitchFamily="34" charset="0"/>
                <a:cs typeface="Times New Roman" panose="02020603050405020304" pitchFamily="18" charset="0"/>
              </a:rPr>
              <a:t>In the first week</a:t>
            </a:r>
            <a:r>
              <a:rPr lang="en-NL" dirty="0">
                <a:latin typeface="Open Sans" panose="020B0606030504020204" pitchFamily="34" charset="0"/>
                <a:ea typeface="Open Sans" panose="020B0606030504020204" pitchFamily="34" charset="0"/>
                <a:cs typeface="Times New Roman" panose="02020603050405020304" pitchFamily="18" charset="0"/>
              </a:rPr>
              <a:t>, t</a:t>
            </a:r>
            <a:r>
              <a:rPr lang="en-GB" dirty="0">
                <a:effectLst/>
                <a:latin typeface="Open Sans" panose="020B0606030504020204" pitchFamily="34" charset="0"/>
                <a:ea typeface="Open Sans" panose="020B0606030504020204" pitchFamily="34" charset="0"/>
                <a:cs typeface="Times New Roman" panose="02020603050405020304" pitchFamily="18" charset="0"/>
              </a:rPr>
              <a:t>he student sets S.M.A.R.T.</a:t>
            </a:r>
            <a:r>
              <a:rPr lang="en-NL" dirty="0">
                <a:effectLst/>
                <a:latin typeface="Open Sans" panose="020B0606030504020204" pitchFamily="34" charset="0"/>
                <a:ea typeface="Open Sans" panose="020B0606030504020204" pitchFamily="34" charset="0"/>
                <a:cs typeface="Times New Roman" panose="02020603050405020304" pitchFamily="18" charset="0"/>
              </a:rPr>
              <a:t> </a:t>
            </a:r>
            <a:r>
              <a:rPr lang="en-GB" dirty="0">
                <a:effectLst/>
                <a:latin typeface="Open Sans" panose="020B0606030504020204" pitchFamily="34" charset="0"/>
                <a:ea typeface="Open Sans" panose="020B0606030504020204" pitchFamily="34" charset="0"/>
                <a:cs typeface="Times New Roman" panose="02020603050405020304" pitchFamily="18" charset="0"/>
              </a:rPr>
              <a:t>goals in alignment with the project brief, the assessment rubric, and their personal long-term goals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Where am I starting?</a:t>
            </a:r>
            <a:endParaRPr/>
          </a:p>
        </p:txBody>
      </p:sp>
      <p:sp>
        <p:nvSpPr>
          <p:cNvPr id="123" name="Google Shape;123;p16"/>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sz="1400" dirty="0"/>
              <a:t>1/1</a:t>
            </a:r>
            <a:endParaRPr sz="1400" dirty="0"/>
          </a:p>
        </p:txBody>
      </p:sp>
      <p:sp>
        <p:nvSpPr>
          <p:cNvPr id="124" name="Google Shape;124;p16"/>
          <p:cNvSpPr txBox="1">
            <a:spLocks noGrp="1"/>
          </p:cNvSpPr>
          <p:nvPr>
            <p:ph type="title" idx="4"/>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a:t>
            </a:r>
            <a:endParaRPr/>
          </a:p>
        </p:txBody>
      </p:sp>
      <p:sp>
        <p:nvSpPr>
          <p:cNvPr id="125" name="Google Shape;125;p16"/>
          <p:cNvSpPr txBox="1">
            <a:spLocks noGrp="1"/>
          </p:cNvSpPr>
          <p:nvPr>
            <p:ph type="subTitle" idx="1"/>
          </p:nvPr>
        </p:nvSpPr>
        <p:spPr>
          <a:xfrm>
            <a:off x="182880" y="1913470"/>
            <a:ext cx="8778300" cy="4023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dirty="0"/>
              <a:t>							</a:t>
            </a:r>
            <a:endParaRPr b="0" i="1" dirty="0"/>
          </a:p>
        </p:txBody>
      </p:sp>
      <p:sp>
        <p:nvSpPr>
          <p:cNvPr id="126" name="Google Shape;126;p16"/>
          <p:cNvSpPr txBox="1">
            <a:spLocks noGrp="1"/>
          </p:cNvSpPr>
          <p:nvPr>
            <p:ph type="body" idx="3"/>
          </p:nvPr>
        </p:nvSpPr>
        <p:spPr>
          <a:xfrm>
            <a:off x="182880" y="816077"/>
            <a:ext cx="5852100" cy="4218039"/>
          </a:xfrm>
          <a:prstGeom prst="rect">
            <a:avLst/>
          </a:prstGeom>
        </p:spPr>
        <p:txBody>
          <a:bodyPr spcFirstLastPara="1" wrap="square" lIns="91425" tIns="91425" rIns="91425" bIns="91425" anchor="t" anchorCtr="0">
            <a:noAutofit/>
          </a:bodyPr>
          <a:lstStyle/>
          <a:p>
            <a:pPr marL="0" indent="0" algn="just">
              <a:spcBef>
                <a:spcPts val="800"/>
              </a:spcBef>
              <a:buNone/>
            </a:pPr>
            <a:r>
              <a:rPr lang="en-US" sz="1400" b="1" dirty="0"/>
              <a:t>What I learned last block</a:t>
            </a:r>
            <a:endParaRPr lang="en" sz="1400" b="1" dirty="0"/>
          </a:p>
          <a:p>
            <a:pPr marL="0" lvl="0" indent="0" algn="just" rtl="0">
              <a:spcBef>
                <a:spcPts val="800"/>
              </a:spcBef>
              <a:spcAft>
                <a:spcPts val="0"/>
              </a:spcAft>
              <a:buNone/>
            </a:pPr>
            <a:r>
              <a:rPr lang="en-GB" dirty="0"/>
              <a:t>In the last block, I learned how to effectively work with datasets using Pandas and NumPy for data manipulation, SQL for database management, and visualization tools to analyze and present data. I also focused on applying these skills to a diabetes dataset, which helped me better understand data processing and the importance of visualizing insights for clearer decision-making.</a:t>
            </a:r>
            <a:endParaRPr lang="en-US" dirty="0"/>
          </a:p>
          <a:p>
            <a:pPr marL="0" lvl="0" indent="0" algn="just" rtl="0">
              <a:spcBef>
                <a:spcPts val="800"/>
              </a:spcBef>
              <a:spcAft>
                <a:spcPts val="0"/>
              </a:spcAft>
              <a:buNone/>
            </a:pPr>
            <a:endParaRPr lang="en-US" dirty="0"/>
          </a:p>
          <a:p>
            <a:pPr marL="0" indent="0" algn="just">
              <a:spcBef>
                <a:spcPts val="800"/>
              </a:spcBef>
              <a:buNone/>
            </a:pPr>
            <a:r>
              <a:rPr lang="en" sz="1400" b="1" dirty="0"/>
              <a:t>Feedback from the previous assessment</a:t>
            </a:r>
            <a:endParaRPr lang="en-US" dirty="0"/>
          </a:p>
          <a:p>
            <a:pPr marL="0" lvl="0" indent="0" algn="just" rtl="0">
              <a:spcBef>
                <a:spcPts val="800"/>
              </a:spcBef>
              <a:spcAft>
                <a:spcPts val="0"/>
              </a:spcAft>
              <a:buNone/>
            </a:pPr>
            <a:r>
              <a:rPr lang="en-GB" dirty="0"/>
              <a:t>In the previous assessment, the feedback emphasized my strong understanding of data manipulation and visualization techniques using Pandas, NumPy, and SQL. My ability to analyze and interpret the diabetes dataset was appreciated, but there was a suggestion to further refine my data visualization for more impactful insights. Additionally, while my use of SQL for querying was strong, exploring more advanced SQL techniques could help me become more efficient in handling larger datasets.</a:t>
            </a:r>
            <a:endParaRPr dirty="0"/>
          </a:p>
          <a:p>
            <a:pPr marL="0" lvl="0" indent="0" algn="just" rtl="0">
              <a:spcBef>
                <a:spcPts val="800"/>
              </a:spcBef>
              <a:spcAft>
                <a:spcPts val="0"/>
              </a:spcAft>
              <a:buNone/>
            </a:pPr>
            <a:r>
              <a:rPr lang="en" sz="1400" b="1" dirty="0"/>
              <a:t>My interpretation / key takeaways</a:t>
            </a:r>
          </a:p>
          <a:p>
            <a:pPr marL="0" lvl="0" indent="0" algn="just" rtl="0">
              <a:spcBef>
                <a:spcPts val="800"/>
              </a:spcBef>
              <a:spcAft>
                <a:spcPts val="0"/>
              </a:spcAft>
              <a:buNone/>
            </a:pPr>
            <a:r>
              <a:rPr lang="en-GB" sz="1050" dirty="0"/>
              <a:t>From the feedback, I learned that my data manipulation and analysis skills are on track, especially with tools like Pandas, NumPy, and SQL. However, there's room to improve my data visualization skills to make them more clear and impactful. I also need to explore more advanced SQL techniques to handle complex queries and large datasets more efficiently. This will help me grow further in data analysis and improve my overall approach.</a:t>
            </a:r>
            <a:endParaRPr sz="1050" dirty="0"/>
          </a:p>
          <a:p>
            <a:pPr marL="0" lvl="0" indent="0" algn="just" rtl="0">
              <a:spcBef>
                <a:spcPts val="800"/>
              </a:spcBef>
              <a:spcAft>
                <a:spcPts val="800"/>
              </a:spcAft>
              <a:buNone/>
            </a:pPr>
            <a:endParaRPr dirty="0"/>
          </a:p>
        </p:txBody>
      </p:sp>
      <p:sp>
        <p:nvSpPr>
          <p:cNvPr id="138" name="Google Shape;138;p17"/>
          <p:cNvSpPr txBox="1"/>
          <p:nvPr/>
        </p:nvSpPr>
        <p:spPr>
          <a:xfrm>
            <a:off x="8002115" y="665139"/>
            <a:ext cx="914400" cy="64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600" b="1" dirty="0">
                <a:solidFill>
                  <a:srgbClr val="434343"/>
                </a:solidFill>
                <a:latin typeface="Roboto"/>
                <a:ea typeface="Roboto"/>
                <a:cs typeface="Roboto"/>
                <a:sym typeface="Roboto"/>
              </a:rPr>
              <a:t>5.5</a:t>
            </a:r>
            <a:endParaRPr sz="3600" b="1" dirty="0">
              <a:solidFill>
                <a:srgbClr val="434343"/>
              </a:solidFill>
              <a:latin typeface="Roboto"/>
              <a:ea typeface="Roboto"/>
              <a:cs typeface="Roboto"/>
              <a:sym typeface="Roboto"/>
            </a:endParaRPr>
          </a:p>
        </p:txBody>
      </p:sp>
      <p:sp>
        <p:nvSpPr>
          <p:cNvPr id="3" name="TextBox 2">
            <a:extLst>
              <a:ext uri="{FF2B5EF4-FFF2-40B4-BE49-F238E27FC236}">
                <a16:creationId xmlns:a16="http://schemas.microsoft.com/office/drawing/2014/main" id="{9156ABB1-8FFA-E723-8CB4-7244488E2345}"/>
              </a:ext>
            </a:extLst>
          </p:cNvPr>
          <p:cNvSpPr txBox="1"/>
          <p:nvPr/>
        </p:nvSpPr>
        <p:spPr>
          <a:xfrm>
            <a:off x="5941502" y="915820"/>
            <a:ext cx="2100416" cy="307777"/>
          </a:xfrm>
          <a:prstGeom prst="rect">
            <a:avLst/>
          </a:prstGeom>
          <a:noFill/>
        </p:spPr>
        <p:txBody>
          <a:bodyPr wrap="square">
            <a:spAutoFit/>
          </a:bodyPr>
          <a:lstStyle/>
          <a:p>
            <a:r>
              <a:rPr lang="en-US" b="1" dirty="0">
                <a:solidFill>
                  <a:srgbClr val="FFFFFF"/>
                </a:solidFill>
                <a:latin typeface="Roboto"/>
                <a:ea typeface="Roboto"/>
                <a:cs typeface="Roboto"/>
                <a:sym typeface="Roboto"/>
              </a:rPr>
              <a:t>Previous block’s grade: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18"/>
          <p:cNvSpPr txBox="1">
            <a:spLocks noGrp="1"/>
          </p:cNvSpPr>
          <p:nvPr>
            <p:ph type="body" idx="3"/>
          </p:nvPr>
        </p:nvSpPr>
        <p:spPr>
          <a:xfrm>
            <a:off x="3108950" y="658312"/>
            <a:ext cx="5852100" cy="4297700"/>
          </a:xfrm>
          <a:prstGeom prst="rect">
            <a:avLst/>
          </a:prstGeom>
        </p:spPr>
        <p:txBody>
          <a:bodyPr spcFirstLastPara="1" wrap="square" lIns="91425" tIns="91425" rIns="91425" bIns="91425" anchor="t" anchorCtr="0">
            <a:noAutofit/>
          </a:bodyPr>
          <a:lstStyle/>
          <a:p>
            <a:pPr marL="0" lvl="0" indent="0" algn="l" rtl="0">
              <a:spcBef>
                <a:spcPts val="800"/>
              </a:spcBef>
              <a:spcAft>
                <a:spcPts val="0"/>
              </a:spcAft>
              <a:buNone/>
            </a:pPr>
            <a:r>
              <a:rPr lang="en" sz="1400" b="1" dirty="0">
                <a:latin typeface="Roboto" panose="02000000000000000000" pitchFamily="2" charset="0"/>
                <a:ea typeface="Roboto" panose="02000000000000000000" pitchFamily="2" charset="0"/>
                <a:cs typeface="Roboto" panose="02000000000000000000" pitchFamily="2" charset="0"/>
              </a:rPr>
              <a:t>Personal and professional development goals</a:t>
            </a:r>
            <a:endParaRPr sz="1400" b="1" dirty="0">
              <a:latin typeface="Roboto" panose="02000000000000000000" pitchFamily="2" charset="0"/>
              <a:ea typeface="Roboto" panose="02000000000000000000" pitchFamily="2" charset="0"/>
              <a:cs typeface="Roboto" panose="02000000000000000000" pitchFamily="2" charset="0"/>
            </a:endParaRPr>
          </a:p>
          <a:p>
            <a:pPr>
              <a:buFont typeface="Arial" panose="020B0604020202020204" pitchFamily="34" charset="0"/>
              <a:buChar char="•"/>
            </a:pPr>
            <a:r>
              <a:rPr lang="en-GB" dirty="0">
                <a:latin typeface="Roboto" panose="02000000000000000000" pitchFamily="2" charset="0"/>
                <a:ea typeface="Roboto" panose="02000000000000000000" pitchFamily="2" charset="0"/>
                <a:cs typeface="Roboto" panose="02000000000000000000" pitchFamily="2" charset="0"/>
              </a:rPr>
              <a:t>Python skill development – %60</a:t>
            </a:r>
          </a:p>
          <a:p>
            <a:pPr>
              <a:buFont typeface="Arial" panose="020B0604020202020204" pitchFamily="34" charset="0"/>
              <a:buChar char="•"/>
            </a:pPr>
            <a:r>
              <a:rPr lang="en-GB" dirty="0">
                <a:latin typeface="Roboto" panose="02000000000000000000" pitchFamily="2" charset="0"/>
                <a:ea typeface="Roboto" panose="02000000000000000000" pitchFamily="2" charset="0"/>
                <a:cs typeface="Roboto" panose="02000000000000000000" pitchFamily="2" charset="0"/>
              </a:rPr>
              <a:t>Learning log &amp; weekly progress tracking – %25</a:t>
            </a:r>
          </a:p>
          <a:p>
            <a:pPr>
              <a:buFont typeface="Arial" panose="020B0604020202020204" pitchFamily="34" charset="0"/>
              <a:buChar char="•"/>
            </a:pPr>
            <a:r>
              <a:rPr lang="en-GB" dirty="0">
                <a:latin typeface="Roboto" panose="02000000000000000000" pitchFamily="2" charset="0"/>
                <a:ea typeface="Roboto" panose="02000000000000000000" pitchFamily="2" charset="0"/>
                <a:cs typeface="Roboto" panose="02000000000000000000" pitchFamily="2" charset="0"/>
              </a:rPr>
              <a:t>Time management &amp; routine building – %15</a:t>
            </a:r>
          </a:p>
          <a:p>
            <a:pPr>
              <a:buNone/>
            </a:pPr>
            <a:r>
              <a:rPr lang="en-GB" b="1" dirty="0">
                <a:solidFill>
                  <a:srgbClr val="FFFF00"/>
                </a:solidFill>
                <a:latin typeface="Roboto" panose="02000000000000000000" pitchFamily="2" charset="0"/>
                <a:ea typeface="Roboto" panose="02000000000000000000" pitchFamily="2" charset="0"/>
                <a:cs typeface="Roboto" panose="02000000000000000000" pitchFamily="2" charset="0"/>
              </a:rPr>
              <a:t>Specific:</a:t>
            </a:r>
            <a:br>
              <a:rPr lang="en-GB" dirty="0">
                <a:latin typeface="Roboto" panose="02000000000000000000" pitchFamily="2" charset="0"/>
                <a:ea typeface="Roboto" panose="02000000000000000000" pitchFamily="2" charset="0"/>
                <a:cs typeface="Roboto" panose="02000000000000000000" pitchFamily="2" charset="0"/>
              </a:rPr>
            </a:br>
            <a:r>
              <a:rPr lang="en-GB" dirty="0">
                <a:latin typeface="Roboto" panose="02000000000000000000" pitchFamily="2" charset="0"/>
                <a:ea typeface="Roboto" panose="02000000000000000000" pitchFamily="2" charset="0"/>
                <a:cs typeface="Roboto" panose="02000000000000000000" pitchFamily="2" charset="0"/>
              </a:rPr>
              <a:t>This block, I want to get better at Python. I still feel stuck when writing code, especially with logic and debugging. My goal is to feel more confident and independent while coding.</a:t>
            </a:r>
          </a:p>
          <a:p>
            <a:pPr>
              <a:buNone/>
            </a:pPr>
            <a:r>
              <a:rPr lang="en-GB" b="1" dirty="0">
                <a:solidFill>
                  <a:srgbClr val="FFFF00"/>
                </a:solidFill>
                <a:latin typeface="Roboto" panose="02000000000000000000" pitchFamily="2" charset="0"/>
                <a:ea typeface="Roboto" panose="02000000000000000000" pitchFamily="2" charset="0"/>
                <a:cs typeface="Roboto" panose="02000000000000000000" pitchFamily="2" charset="0"/>
              </a:rPr>
              <a:t>Measurable:</a:t>
            </a:r>
            <a:br>
              <a:rPr lang="en-GB" dirty="0">
                <a:latin typeface="Roboto" panose="02000000000000000000" pitchFamily="2" charset="0"/>
                <a:ea typeface="Roboto" panose="02000000000000000000" pitchFamily="2" charset="0"/>
                <a:cs typeface="Roboto" panose="02000000000000000000" pitchFamily="2" charset="0"/>
              </a:rPr>
            </a:br>
            <a:r>
              <a:rPr lang="en-GB" dirty="0">
                <a:latin typeface="Roboto" panose="02000000000000000000" pitchFamily="2" charset="0"/>
                <a:ea typeface="Roboto" panose="02000000000000000000" pitchFamily="2" charset="0"/>
                <a:cs typeface="Roboto" panose="02000000000000000000" pitchFamily="2" charset="0"/>
              </a:rPr>
              <a:t>Each week, I’ll complete at least 2 Python exercises or mini projects (%60). I’ll upload them to GitHub and update my learning log regularly (%25). I’ll also plan my week ahead and reflect on how I use my time (%15).</a:t>
            </a:r>
          </a:p>
          <a:p>
            <a:pPr>
              <a:buNone/>
            </a:pPr>
            <a:r>
              <a:rPr lang="en-GB" b="1" dirty="0">
                <a:solidFill>
                  <a:srgbClr val="FFFF00"/>
                </a:solidFill>
                <a:latin typeface="Roboto" panose="02000000000000000000" pitchFamily="2" charset="0"/>
                <a:ea typeface="Roboto" panose="02000000000000000000" pitchFamily="2" charset="0"/>
                <a:cs typeface="Roboto" panose="02000000000000000000" pitchFamily="2" charset="0"/>
              </a:rPr>
              <a:t>Relevant:</a:t>
            </a:r>
            <a:br>
              <a:rPr lang="en-GB" dirty="0">
                <a:latin typeface="Roboto" panose="02000000000000000000" pitchFamily="2" charset="0"/>
                <a:ea typeface="Roboto" panose="02000000000000000000" pitchFamily="2" charset="0"/>
                <a:cs typeface="Roboto" panose="02000000000000000000" pitchFamily="2" charset="0"/>
              </a:rPr>
            </a:br>
            <a:r>
              <a:rPr lang="en-GB" dirty="0">
                <a:latin typeface="Roboto" panose="02000000000000000000" pitchFamily="2" charset="0"/>
                <a:ea typeface="Roboto" panose="02000000000000000000" pitchFamily="2" charset="0"/>
                <a:cs typeface="Roboto" panose="02000000000000000000" pitchFamily="2" charset="0"/>
              </a:rPr>
              <a:t>Python is super important for our machine learning tasks. If I improve this skill, I can contribute more during group work and also feel less lost in technical parts.</a:t>
            </a:r>
          </a:p>
          <a:p>
            <a:pPr>
              <a:buNone/>
            </a:pPr>
            <a:r>
              <a:rPr lang="en-GB" b="1" dirty="0">
                <a:solidFill>
                  <a:srgbClr val="FFFF00"/>
                </a:solidFill>
                <a:latin typeface="Roboto" panose="02000000000000000000" pitchFamily="2" charset="0"/>
                <a:ea typeface="Roboto" panose="02000000000000000000" pitchFamily="2" charset="0"/>
                <a:cs typeface="Roboto" panose="02000000000000000000" pitchFamily="2" charset="0"/>
              </a:rPr>
              <a:t>Time-bound:</a:t>
            </a:r>
            <a:br>
              <a:rPr lang="en-GB" dirty="0">
                <a:latin typeface="Roboto" panose="02000000000000000000" pitchFamily="2" charset="0"/>
                <a:ea typeface="Roboto" panose="02000000000000000000" pitchFamily="2" charset="0"/>
                <a:cs typeface="Roboto" panose="02000000000000000000" pitchFamily="2" charset="0"/>
              </a:rPr>
            </a:br>
            <a:r>
              <a:rPr lang="en-GB" dirty="0">
                <a:latin typeface="Roboto" panose="02000000000000000000" pitchFamily="2" charset="0"/>
                <a:ea typeface="Roboto" panose="02000000000000000000" pitchFamily="2" charset="0"/>
                <a:cs typeface="Roboto" panose="02000000000000000000" pitchFamily="2" charset="0"/>
              </a:rPr>
              <a:t>I’ll follow this plan until the end of Block C. Every week I’ll focus on a different topic like pandas, loops, or functions.</a:t>
            </a:r>
          </a:p>
          <a:p>
            <a:pPr>
              <a:buNone/>
            </a:pPr>
            <a:r>
              <a:rPr lang="en-GB" b="1" dirty="0">
                <a:solidFill>
                  <a:srgbClr val="FFFF00"/>
                </a:solidFill>
                <a:latin typeface="Roboto" panose="02000000000000000000" pitchFamily="2" charset="0"/>
                <a:ea typeface="Roboto" panose="02000000000000000000" pitchFamily="2" charset="0"/>
                <a:cs typeface="Roboto" panose="02000000000000000000" pitchFamily="2" charset="0"/>
              </a:rPr>
              <a:t>Evaluated:</a:t>
            </a:r>
            <a:br>
              <a:rPr lang="en-GB" dirty="0">
                <a:latin typeface="Roboto" panose="02000000000000000000" pitchFamily="2" charset="0"/>
                <a:ea typeface="Roboto" panose="02000000000000000000" pitchFamily="2" charset="0"/>
                <a:cs typeface="Roboto" panose="02000000000000000000" pitchFamily="2" charset="0"/>
              </a:rPr>
            </a:br>
            <a:r>
              <a:rPr lang="en-GB" dirty="0">
                <a:latin typeface="Roboto" panose="02000000000000000000" pitchFamily="2" charset="0"/>
                <a:ea typeface="Roboto" panose="02000000000000000000" pitchFamily="2" charset="0"/>
                <a:cs typeface="Roboto" panose="02000000000000000000" pitchFamily="2" charset="0"/>
              </a:rPr>
              <a:t>I’ll check my progress based on my GitHub uploads, log entries, and mentor or peer feedback.</a:t>
            </a:r>
          </a:p>
          <a:p>
            <a:pPr marL="165100" indent="0">
              <a:buNone/>
            </a:pPr>
            <a:r>
              <a:rPr lang="en-GB" b="1" dirty="0">
                <a:solidFill>
                  <a:srgbClr val="FFFF00"/>
                </a:solidFill>
                <a:latin typeface="Roboto" panose="02000000000000000000" pitchFamily="2" charset="0"/>
                <a:ea typeface="Roboto" panose="02000000000000000000" pitchFamily="2" charset="0"/>
                <a:cs typeface="Roboto" panose="02000000000000000000" pitchFamily="2" charset="0"/>
              </a:rPr>
              <a:t>Reviewed:</a:t>
            </a:r>
            <a:br>
              <a:rPr lang="en-GB" dirty="0">
                <a:latin typeface="Roboto" panose="02000000000000000000" pitchFamily="2" charset="0"/>
                <a:ea typeface="Roboto" panose="02000000000000000000" pitchFamily="2" charset="0"/>
                <a:cs typeface="Roboto" panose="02000000000000000000" pitchFamily="2" charset="0"/>
              </a:rPr>
            </a:br>
            <a:r>
              <a:rPr lang="en-GB" dirty="0">
                <a:latin typeface="Roboto" panose="02000000000000000000" pitchFamily="2" charset="0"/>
                <a:ea typeface="Roboto" panose="02000000000000000000" pitchFamily="2" charset="0"/>
                <a:cs typeface="Roboto" panose="02000000000000000000" pitchFamily="2" charset="0"/>
              </a:rPr>
              <a:t>At the end of each week, I’ll reflect on how things went. If I fall behind, I’ll adjust my plan and keep going.</a:t>
            </a:r>
          </a:p>
          <a:p>
            <a:endParaRPr lang="en-GB" dirty="0">
              <a:latin typeface="Roboto Light" panose="02000000000000000000" pitchFamily="2" charset="0"/>
              <a:ea typeface="Roboto Light" panose="02000000000000000000" pitchFamily="2" charset="0"/>
              <a:cs typeface="Roboto Light" panose="02000000000000000000" pitchFamily="2" charset="0"/>
            </a:endParaRPr>
          </a:p>
          <a:p>
            <a:pPr marL="165100" indent="0">
              <a:buNone/>
            </a:pPr>
            <a:r>
              <a:rPr lang="en-GB" sz="1600" b="1" dirty="0"/>
              <a:t>  I will explain the purpose of Block B in the next slide.</a:t>
            </a:r>
            <a:endParaRPr lang="en-GB" sz="1600" b="1" dirty="0">
              <a:latin typeface="Roboto Light" panose="02000000000000000000" pitchFamily="2" charset="0"/>
              <a:ea typeface="Roboto Light" panose="02000000000000000000" pitchFamily="2" charset="0"/>
              <a:cs typeface="Roboto Light" panose="02000000000000000000" pitchFamily="2" charset="0"/>
            </a:endParaRPr>
          </a:p>
        </p:txBody>
      </p:sp>
      <p:sp>
        <p:nvSpPr>
          <p:cNvPr id="144" name="Google Shape;144;p18"/>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What are my goals?</a:t>
            </a:r>
            <a:endParaRPr dirty="0"/>
          </a:p>
        </p:txBody>
      </p:sp>
      <p:sp>
        <p:nvSpPr>
          <p:cNvPr id="145" name="Google Shape;145;p18"/>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1/1</a:t>
            </a:r>
            <a:endParaRPr/>
          </a:p>
        </p:txBody>
      </p:sp>
      <p:sp>
        <p:nvSpPr>
          <p:cNvPr id="147" name="Google Shape;147;p18"/>
          <p:cNvSpPr txBox="1">
            <a:spLocks noGrp="1"/>
          </p:cNvSpPr>
          <p:nvPr>
            <p:ph type="title" idx="4"/>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a:t>
            </a:r>
            <a:endParaRPr/>
          </a:p>
        </p:txBody>
      </p:sp>
      <p:graphicFrame>
        <p:nvGraphicFramePr>
          <p:cNvPr id="148" name="Google Shape;148;p18"/>
          <p:cNvGraphicFramePr/>
          <p:nvPr>
            <p:extLst>
              <p:ext uri="{D42A27DB-BD31-4B8C-83A1-F6EECF244321}">
                <p14:modId xmlns:p14="http://schemas.microsoft.com/office/powerpoint/2010/main" val="2727034024"/>
              </p:ext>
            </p:extLst>
          </p:nvPr>
        </p:nvGraphicFramePr>
        <p:xfrm>
          <a:off x="182880" y="658368"/>
          <a:ext cx="2740000" cy="4297700"/>
        </p:xfrm>
        <a:graphic>
          <a:graphicData uri="http://schemas.openxmlformats.org/drawingml/2006/table">
            <a:tbl>
              <a:tblPr>
                <a:noFill/>
                <a:tableStyleId>{764D4AE7-FFBC-431D-9275-528F30A785D3}</a:tableStyleId>
              </a:tblPr>
              <a:tblGrid>
                <a:gridCol w="587150">
                  <a:extLst>
                    <a:ext uri="{9D8B030D-6E8A-4147-A177-3AD203B41FA5}">
                      <a16:colId xmlns:a16="http://schemas.microsoft.com/office/drawing/2014/main" val="20000"/>
                    </a:ext>
                  </a:extLst>
                </a:gridCol>
                <a:gridCol w="2152850">
                  <a:extLst>
                    <a:ext uri="{9D8B030D-6E8A-4147-A177-3AD203B41FA5}">
                      <a16:colId xmlns:a16="http://schemas.microsoft.com/office/drawing/2014/main" val="20001"/>
                    </a:ext>
                  </a:extLst>
                </a:gridCol>
              </a:tblGrid>
              <a:tr h="586050">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S</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C4125"/>
                    </a:solidFill>
                  </a:tcPr>
                </a:tc>
                <a:tc>
                  <a:txBody>
                    <a:bodyPr/>
                    <a:lstStyle/>
                    <a:p>
                      <a:pPr marL="0" lvl="0" indent="0" algn="l" rtl="0">
                        <a:lnSpc>
                          <a:spcPct val="115000"/>
                        </a:lnSpc>
                        <a:spcBef>
                          <a:spcPts val="0"/>
                        </a:spcBef>
                        <a:spcAft>
                          <a:spcPts val="0"/>
                        </a:spcAft>
                        <a:buNone/>
                      </a:pPr>
                      <a:r>
                        <a:rPr lang="en" sz="600" b="1">
                          <a:latin typeface="Roboto"/>
                          <a:ea typeface="Roboto"/>
                          <a:cs typeface="Roboto"/>
                          <a:sym typeface="Roboto"/>
                        </a:rPr>
                        <a:t>Specific:</a:t>
                      </a:r>
                      <a:r>
                        <a:rPr lang="en" sz="600">
                          <a:latin typeface="Roboto"/>
                          <a:ea typeface="Roboto"/>
                          <a:cs typeface="Roboto"/>
                          <a:sym typeface="Roboto"/>
                        </a:rPr>
                        <a:t> Be specific when determining your goal. The more specific the better. Putting a real figure to your goal helps make it measurable. When specific and measurable your subconscious mind cannot override your goals, they become achievable.</a:t>
                      </a:r>
                      <a:endParaRPr sz="60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0"/>
                  </a:ext>
                </a:extLst>
              </a:tr>
              <a:tr h="586050">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M</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E06666"/>
                    </a:solidFill>
                  </a:tcPr>
                </a:tc>
                <a:tc>
                  <a:txBody>
                    <a:bodyPr/>
                    <a:lstStyle/>
                    <a:p>
                      <a:pPr marL="0" lvl="0" indent="0" algn="l" rtl="0">
                        <a:lnSpc>
                          <a:spcPct val="115000"/>
                        </a:lnSpc>
                        <a:spcBef>
                          <a:spcPts val="0"/>
                        </a:spcBef>
                        <a:spcAft>
                          <a:spcPts val="0"/>
                        </a:spcAft>
                        <a:buNone/>
                      </a:pPr>
                      <a:r>
                        <a:rPr lang="en" sz="600" b="1">
                          <a:latin typeface="Roboto"/>
                          <a:ea typeface="Roboto"/>
                          <a:cs typeface="Roboto"/>
                          <a:sym typeface="Roboto"/>
                        </a:rPr>
                        <a:t>Measurable:</a:t>
                      </a:r>
                      <a:r>
                        <a:rPr lang="en" sz="600">
                          <a:latin typeface="Roboto"/>
                          <a:ea typeface="Roboto"/>
                          <a:cs typeface="Roboto"/>
                          <a:sym typeface="Roboto"/>
                        </a:rPr>
                        <a:t> This where you define a measurable and meaningful goal. It’s important to be able to track your progress. Without meaningful and measurable goals which you can track it’s easy to lose heart and focus.</a:t>
                      </a:r>
                      <a:endParaRPr sz="60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1"/>
                  </a:ext>
                </a:extLst>
              </a:tr>
              <a:tr h="586050">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A</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6B26B"/>
                    </a:solidFill>
                  </a:tcPr>
                </a:tc>
                <a:tc>
                  <a:txBody>
                    <a:bodyPr/>
                    <a:lstStyle/>
                    <a:p>
                      <a:pPr marL="0" lvl="0" indent="0" algn="l" rtl="0">
                        <a:lnSpc>
                          <a:spcPct val="115000"/>
                        </a:lnSpc>
                        <a:spcBef>
                          <a:spcPts val="0"/>
                        </a:spcBef>
                        <a:spcAft>
                          <a:spcPts val="0"/>
                        </a:spcAft>
                        <a:buNone/>
                      </a:pPr>
                      <a:r>
                        <a:rPr lang="en" sz="600" b="1">
                          <a:latin typeface="Roboto"/>
                          <a:ea typeface="Roboto"/>
                          <a:cs typeface="Roboto"/>
                          <a:sym typeface="Roboto"/>
                        </a:rPr>
                        <a:t>Achievable:</a:t>
                      </a:r>
                      <a:r>
                        <a:rPr lang="en" sz="600">
                          <a:latin typeface="Roboto"/>
                          <a:ea typeface="Roboto"/>
                          <a:cs typeface="Roboto"/>
                          <a:sym typeface="Roboto"/>
                        </a:rPr>
                        <a:t> Choosing realistic and short-term goals helps them be more achievable. Long-term goals can be larger and take more time to achieve. Planning smaller short-term goals as steps to larger long-term goals assists in achieving them.</a:t>
                      </a:r>
                      <a:endParaRPr sz="60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2"/>
                  </a:ext>
                </a:extLst>
              </a:tr>
              <a:tr h="586050">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R</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FD966"/>
                    </a:solidFill>
                  </a:tcPr>
                </a:tc>
                <a:tc>
                  <a:txBody>
                    <a:bodyPr/>
                    <a:lstStyle/>
                    <a:p>
                      <a:pPr marL="0" lvl="0" indent="0" algn="l" rtl="0">
                        <a:lnSpc>
                          <a:spcPct val="115000"/>
                        </a:lnSpc>
                        <a:spcBef>
                          <a:spcPts val="0"/>
                        </a:spcBef>
                        <a:spcAft>
                          <a:spcPts val="0"/>
                        </a:spcAft>
                        <a:buNone/>
                      </a:pPr>
                      <a:r>
                        <a:rPr lang="en" sz="600" b="1">
                          <a:latin typeface="Roboto"/>
                          <a:ea typeface="Roboto"/>
                          <a:cs typeface="Roboto"/>
                          <a:sym typeface="Roboto"/>
                        </a:rPr>
                        <a:t>Relevant:</a:t>
                      </a:r>
                      <a:r>
                        <a:rPr lang="en" sz="600">
                          <a:latin typeface="Roboto"/>
                          <a:ea typeface="Roboto"/>
                          <a:cs typeface="Roboto"/>
                          <a:sym typeface="Roboto"/>
                        </a:rPr>
                        <a:t> Each goal you set must be in line with your core values and in harmony with what YOU want out of life. Contradictions in values and goals leads to frustration and loss of motivation. Designing your goals with the expectation of your personal success.</a:t>
                      </a:r>
                      <a:endParaRPr sz="60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3"/>
                  </a:ext>
                </a:extLst>
              </a:tr>
              <a:tr h="586050">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T</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93C47D"/>
                    </a:solidFill>
                  </a:tcPr>
                </a:tc>
                <a:tc>
                  <a:txBody>
                    <a:bodyPr/>
                    <a:lstStyle/>
                    <a:p>
                      <a:pPr marL="0" lvl="0" indent="0" algn="l" rtl="0">
                        <a:lnSpc>
                          <a:spcPct val="115000"/>
                        </a:lnSpc>
                        <a:spcBef>
                          <a:spcPts val="0"/>
                        </a:spcBef>
                        <a:spcAft>
                          <a:spcPts val="0"/>
                        </a:spcAft>
                        <a:buNone/>
                      </a:pPr>
                      <a:r>
                        <a:rPr lang="en" sz="600" b="1">
                          <a:latin typeface="Roboto"/>
                          <a:ea typeface="Roboto"/>
                          <a:cs typeface="Roboto"/>
                          <a:sym typeface="Roboto"/>
                        </a:rPr>
                        <a:t>Time-Bound:</a:t>
                      </a:r>
                      <a:r>
                        <a:rPr lang="en" sz="600">
                          <a:latin typeface="Roboto"/>
                          <a:ea typeface="Roboto"/>
                          <a:cs typeface="Roboto"/>
                          <a:sym typeface="Roboto"/>
                        </a:rPr>
                        <a:t> Setting a time limit on achieving a goal makes it measurable. When a goal is measurable you can SEE your progress and support your motivation and commitment. Giving your goal a time limit assists you in holding yourself accountable to its completion.</a:t>
                      </a:r>
                      <a:endParaRPr sz="60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4"/>
                  </a:ext>
                </a:extLst>
              </a:tr>
              <a:tr h="683725">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E</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76A5AF"/>
                    </a:solidFill>
                  </a:tcPr>
                </a:tc>
                <a:tc>
                  <a:txBody>
                    <a:bodyPr/>
                    <a:lstStyle/>
                    <a:p>
                      <a:pPr marL="0" lvl="0" indent="0" algn="l" rtl="0">
                        <a:lnSpc>
                          <a:spcPct val="115000"/>
                        </a:lnSpc>
                        <a:spcBef>
                          <a:spcPts val="0"/>
                        </a:spcBef>
                        <a:spcAft>
                          <a:spcPts val="0"/>
                        </a:spcAft>
                        <a:buNone/>
                      </a:pPr>
                      <a:r>
                        <a:rPr lang="en" sz="600" b="1">
                          <a:latin typeface="Roboto"/>
                          <a:ea typeface="Roboto"/>
                          <a:cs typeface="Roboto"/>
                          <a:sym typeface="Roboto"/>
                        </a:rPr>
                        <a:t>Evaluate:</a:t>
                      </a:r>
                      <a:r>
                        <a:rPr lang="en" sz="600">
                          <a:latin typeface="Roboto"/>
                          <a:ea typeface="Roboto"/>
                          <a:cs typeface="Roboto"/>
                          <a:sym typeface="Roboto"/>
                        </a:rPr>
                        <a:t> By evaluating your goals on a regular basis you will be much more likely to achieve them. It is easy to forget about long-term goals if they are not revisited from time to time. This also helps you assess if the goal you are working on remains in line with your core values and helps you measure your progress.</a:t>
                      </a:r>
                      <a:endParaRPr sz="60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5"/>
                  </a:ext>
                </a:extLst>
              </a:tr>
              <a:tr h="683725">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R</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6D9EEB"/>
                    </a:solidFill>
                  </a:tcPr>
                </a:tc>
                <a:tc>
                  <a:txBody>
                    <a:bodyPr/>
                    <a:lstStyle/>
                    <a:p>
                      <a:pPr marL="0" lvl="0" indent="0" algn="l" rtl="0">
                        <a:lnSpc>
                          <a:spcPct val="115000"/>
                        </a:lnSpc>
                        <a:spcBef>
                          <a:spcPts val="0"/>
                        </a:spcBef>
                        <a:spcAft>
                          <a:spcPts val="0"/>
                        </a:spcAft>
                        <a:buNone/>
                      </a:pPr>
                      <a:r>
                        <a:rPr lang="en" sz="600" b="1">
                          <a:latin typeface="Roboto"/>
                          <a:ea typeface="Roboto"/>
                          <a:cs typeface="Roboto"/>
                          <a:sym typeface="Roboto"/>
                        </a:rPr>
                        <a:t>Readjust:</a:t>
                      </a:r>
                      <a:r>
                        <a:rPr lang="en" sz="600">
                          <a:latin typeface="Roboto"/>
                          <a:ea typeface="Roboto"/>
                          <a:cs typeface="Roboto"/>
                          <a:sym typeface="Roboto"/>
                        </a:rPr>
                        <a:t> Readjustments occur when goals are determined, through re-evaluation, to be misaligned with your values or long-term goals. This is especially helpful when you have been unable to achieve a goal in the time limits you set. This gives you the opportunity to modify your approach and increase your chances of success.</a:t>
                      </a:r>
                      <a:endParaRPr sz="60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2">
          <a:extLst>
            <a:ext uri="{FF2B5EF4-FFF2-40B4-BE49-F238E27FC236}">
              <a16:creationId xmlns:a16="http://schemas.microsoft.com/office/drawing/2014/main" id="{9447C2C9-65D4-CEB8-A84D-283428B3E3F7}"/>
            </a:ext>
          </a:extLst>
        </p:cNvPr>
        <p:cNvGrpSpPr/>
        <p:nvPr/>
      </p:nvGrpSpPr>
      <p:grpSpPr>
        <a:xfrm>
          <a:off x="0" y="0"/>
          <a:ext cx="0" cy="0"/>
          <a:chOff x="0" y="0"/>
          <a:chExt cx="0" cy="0"/>
        </a:xfrm>
      </p:grpSpPr>
      <p:sp>
        <p:nvSpPr>
          <p:cNvPr id="143" name="Google Shape;143;p18">
            <a:extLst>
              <a:ext uri="{FF2B5EF4-FFF2-40B4-BE49-F238E27FC236}">
                <a16:creationId xmlns:a16="http://schemas.microsoft.com/office/drawing/2014/main" id="{2B3FB3BE-BD0D-D3C9-2A22-6BB414D53A2D}"/>
              </a:ext>
            </a:extLst>
          </p:cNvPr>
          <p:cNvSpPr txBox="1">
            <a:spLocks noGrp="1"/>
          </p:cNvSpPr>
          <p:nvPr>
            <p:ph type="body" idx="3"/>
          </p:nvPr>
        </p:nvSpPr>
        <p:spPr>
          <a:xfrm>
            <a:off x="3108950" y="658312"/>
            <a:ext cx="5852100" cy="4297700"/>
          </a:xfrm>
          <a:prstGeom prst="rect">
            <a:avLst/>
          </a:prstGeom>
        </p:spPr>
        <p:txBody>
          <a:bodyPr spcFirstLastPara="1" wrap="square" lIns="91425" tIns="91425" rIns="91425" bIns="91425" anchor="t" anchorCtr="0">
            <a:noAutofit/>
          </a:bodyPr>
          <a:lstStyle/>
          <a:p>
            <a:r>
              <a:rPr lang="en-GB" b="1" dirty="0">
                <a:solidFill>
                  <a:srgbClr val="FFFF00"/>
                </a:solidFill>
                <a:latin typeface="Roboto" panose="02000000000000000000" pitchFamily="2" charset="0"/>
                <a:ea typeface="Roboto" panose="02000000000000000000" pitchFamily="2" charset="0"/>
                <a:cs typeface="Roboto" panose="02000000000000000000" pitchFamily="2" charset="0"/>
              </a:rPr>
              <a:t>Personal Goal:</a:t>
            </a:r>
            <a:br>
              <a:rPr lang="en-GB" dirty="0">
                <a:latin typeface="Roboto" panose="02000000000000000000" pitchFamily="2" charset="0"/>
                <a:ea typeface="Roboto" panose="02000000000000000000" pitchFamily="2" charset="0"/>
                <a:cs typeface="Roboto" panose="02000000000000000000" pitchFamily="2" charset="0"/>
              </a:rPr>
            </a:br>
            <a:r>
              <a:rPr lang="en-GB" dirty="0">
                <a:latin typeface="Roboto" panose="02000000000000000000" pitchFamily="2" charset="0"/>
                <a:ea typeface="Roboto" panose="02000000000000000000" pitchFamily="2" charset="0"/>
                <a:cs typeface="Roboto" panose="02000000000000000000" pitchFamily="2" charset="0"/>
              </a:rPr>
              <a:t>One of the personal challenges I’ve noticed in myself is poor time management. I often try to do too much at once or leave things to the last minute, which creates unnecessary stress and affects the quality of my work. During Block C, I want to focus on building a better daily and weekly routine. I’ll start using to-do lists, set clear weekly goals, and dedicate certain time blocks during the day just for learning or coding. My goal is to create a balance where I’m not just working harder, but also smarter. I’ll reflect each Sunday on how my time was spent, what I could improve, and what I’ll do differently next week.</a:t>
            </a:r>
          </a:p>
          <a:p>
            <a:r>
              <a:rPr lang="en-GB" b="1" dirty="0">
                <a:solidFill>
                  <a:srgbClr val="FFFF00"/>
                </a:solidFill>
                <a:latin typeface="Roboto" panose="02000000000000000000" pitchFamily="2" charset="0"/>
                <a:ea typeface="Roboto" panose="02000000000000000000" pitchFamily="2" charset="0"/>
                <a:cs typeface="Roboto" panose="02000000000000000000" pitchFamily="2" charset="0"/>
              </a:rPr>
              <a:t>Professional Goal:</a:t>
            </a:r>
            <a:br>
              <a:rPr lang="en-GB" dirty="0">
                <a:latin typeface="Roboto" panose="02000000000000000000" pitchFamily="2" charset="0"/>
                <a:ea typeface="Roboto" panose="02000000000000000000" pitchFamily="2" charset="0"/>
                <a:cs typeface="Roboto" panose="02000000000000000000" pitchFamily="2" charset="0"/>
              </a:rPr>
            </a:br>
            <a:r>
              <a:rPr lang="en-GB" dirty="0">
                <a:latin typeface="Roboto" panose="02000000000000000000" pitchFamily="2" charset="0"/>
                <a:ea typeface="Roboto" panose="02000000000000000000" pitchFamily="2" charset="0"/>
                <a:cs typeface="Roboto" panose="02000000000000000000" pitchFamily="2" charset="0"/>
              </a:rPr>
              <a:t>Professionally, I want to feel more confident and capable when it comes to technical tasks, especially in Python. Right now, I still rely heavily on examples or need help from others when debugging. I want to change that by consistently practicing and understanding Python at a deeper level. This includes writing my own scripts, solving small problems without copying solutions, and explaining my code clearly in my learning log. By the end of Block C, my goal is to be able to handle technical tasks more independently and contribute meaningful code to the team projects without hesitation.</a:t>
            </a:r>
          </a:p>
          <a:p>
            <a:pPr marL="0" lvl="0" indent="0" algn="l" rtl="0">
              <a:spcBef>
                <a:spcPts val="800"/>
              </a:spcBef>
              <a:spcAft>
                <a:spcPts val="0"/>
              </a:spcAft>
              <a:buNone/>
            </a:pPr>
            <a:endParaRPr lang="en-GB" dirty="0">
              <a:latin typeface="Roboto Light" panose="02000000000000000000" pitchFamily="2" charset="0"/>
              <a:ea typeface="Roboto Light" panose="02000000000000000000" pitchFamily="2" charset="0"/>
              <a:cs typeface="Roboto Light" panose="02000000000000000000" pitchFamily="2" charset="0"/>
            </a:endParaRPr>
          </a:p>
        </p:txBody>
      </p:sp>
      <p:sp>
        <p:nvSpPr>
          <p:cNvPr id="144" name="Google Shape;144;p18">
            <a:extLst>
              <a:ext uri="{FF2B5EF4-FFF2-40B4-BE49-F238E27FC236}">
                <a16:creationId xmlns:a16="http://schemas.microsoft.com/office/drawing/2014/main" id="{B07E7850-37E8-57DF-4AE0-20B420B0B2BB}"/>
              </a:ext>
            </a:extLst>
          </p:cNvPr>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What are my goals?</a:t>
            </a:r>
            <a:endParaRPr dirty="0"/>
          </a:p>
        </p:txBody>
      </p:sp>
      <p:sp>
        <p:nvSpPr>
          <p:cNvPr id="145" name="Google Shape;145;p18">
            <a:extLst>
              <a:ext uri="{FF2B5EF4-FFF2-40B4-BE49-F238E27FC236}">
                <a16:creationId xmlns:a16="http://schemas.microsoft.com/office/drawing/2014/main" id="{67B4790D-13CA-8507-13E6-BEEA7CE27B72}"/>
              </a:ext>
            </a:extLst>
          </p:cNvPr>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1/1</a:t>
            </a:r>
            <a:endParaRPr/>
          </a:p>
        </p:txBody>
      </p:sp>
      <p:sp>
        <p:nvSpPr>
          <p:cNvPr id="147" name="Google Shape;147;p18">
            <a:extLst>
              <a:ext uri="{FF2B5EF4-FFF2-40B4-BE49-F238E27FC236}">
                <a16:creationId xmlns:a16="http://schemas.microsoft.com/office/drawing/2014/main" id="{2502400E-5D6F-02AF-3765-FED86FCB5806}"/>
              </a:ext>
            </a:extLst>
          </p:cNvPr>
          <p:cNvSpPr txBox="1">
            <a:spLocks noGrp="1"/>
          </p:cNvSpPr>
          <p:nvPr>
            <p:ph type="title" idx="4"/>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a:t>
            </a:r>
            <a:endParaRPr/>
          </a:p>
        </p:txBody>
      </p:sp>
      <p:graphicFrame>
        <p:nvGraphicFramePr>
          <p:cNvPr id="148" name="Google Shape;148;p18">
            <a:extLst>
              <a:ext uri="{FF2B5EF4-FFF2-40B4-BE49-F238E27FC236}">
                <a16:creationId xmlns:a16="http://schemas.microsoft.com/office/drawing/2014/main" id="{07EA84B8-3E82-6349-61DF-082AE375B992}"/>
              </a:ext>
            </a:extLst>
          </p:cNvPr>
          <p:cNvGraphicFramePr/>
          <p:nvPr/>
        </p:nvGraphicFramePr>
        <p:xfrm>
          <a:off x="182880" y="658368"/>
          <a:ext cx="2740000" cy="4297700"/>
        </p:xfrm>
        <a:graphic>
          <a:graphicData uri="http://schemas.openxmlformats.org/drawingml/2006/table">
            <a:tbl>
              <a:tblPr>
                <a:noFill/>
                <a:tableStyleId>{764D4AE7-FFBC-431D-9275-528F30A785D3}</a:tableStyleId>
              </a:tblPr>
              <a:tblGrid>
                <a:gridCol w="587150">
                  <a:extLst>
                    <a:ext uri="{9D8B030D-6E8A-4147-A177-3AD203B41FA5}">
                      <a16:colId xmlns:a16="http://schemas.microsoft.com/office/drawing/2014/main" val="20000"/>
                    </a:ext>
                  </a:extLst>
                </a:gridCol>
                <a:gridCol w="2152850">
                  <a:extLst>
                    <a:ext uri="{9D8B030D-6E8A-4147-A177-3AD203B41FA5}">
                      <a16:colId xmlns:a16="http://schemas.microsoft.com/office/drawing/2014/main" val="20001"/>
                    </a:ext>
                  </a:extLst>
                </a:gridCol>
              </a:tblGrid>
              <a:tr h="586050">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S</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C4125"/>
                    </a:solidFill>
                  </a:tcPr>
                </a:tc>
                <a:tc>
                  <a:txBody>
                    <a:bodyPr/>
                    <a:lstStyle/>
                    <a:p>
                      <a:pPr marL="0" lvl="0" indent="0" algn="l" rtl="0">
                        <a:lnSpc>
                          <a:spcPct val="115000"/>
                        </a:lnSpc>
                        <a:spcBef>
                          <a:spcPts val="0"/>
                        </a:spcBef>
                        <a:spcAft>
                          <a:spcPts val="0"/>
                        </a:spcAft>
                        <a:buNone/>
                      </a:pPr>
                      <a:r>
                        <a:rPr lang="en" sz="600" b="1">
                          <a:latin typeface="Roboto"/>
                          <a:ea typeface="Roboto"/>
                          <a:cs typeface="Roboto"/>
                          <a:sym typeface="Roboto"/>
                        </a:rPr>
                        <a:t>Specific:</a:t>
                      </a:r>
                      <a:r>
                        <a:rPr lang="en" sz="600">
                          <a:latin typeface="Roboto"/>
                          <a:ea typeface="Roboto"/>
                          <a:cs typeface="Roboto"/>
                          <a:sym typeface="Roboto"/>
                        </a:rPr>
                        <a:t> Be specific when determining your goal. The more specific the better. Putting a real figure to your goal helps make it measurable. When specific and measurable your subconscious mind cannot override your goals, they become achievable.</a:t>
                      </a:r>
                      <a:endParaRPr sz="60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0"/>
                  </a:ext>
                </a:extLst>
              </a:tr>
              <a:tr h="586050">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M</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E06666"/>
                    </a:solidFill>
                  </a:tcPr>
                </a:tc>
                <a:tc>
                  <a:txBody>
                    <a:bodyPr/>
                    <a:lstStyle/>
                    <a:p>
                      <a:pPr marL="0" lvl="0" indent="0" algn="l" rtl="0">
                        <a:lnSpc>
                          <a:spcPct val="115000"/>
                        </a:lnSpc>
                        <a:spcBef>
                          <a:spcPts val="0"/>
                        </a:spcBef>
                        <a:spcAft>
                          <a:spcPts val="0"/>
                        </a:spcAft>
                        <a:buNone/>
                      </a:pPr>
                      <a:r>
                        <a:rPr lang="en" sz="600" b="1">
                          <a:latin typeface="Roboto"/>
                          <a:ea typeface="Roboto"/>
                          <a:cs typeface="Roboto"/>
                          <a:sym typeface="Roboto"/>
                        </a:rPr>
                        <a:t>Measurable:</a:t>
                      </a:r>
                      <a:r>
                        <a:rPr lang="en" sz="600">
                          <a:latin typeface="Roboto"/>
                          <a:ea typeface="Roboto"/>
                          <a:cs typeface="Roboto"/>
                          <a:sym typeface="Roboto"/>
                        </a:rPr>
                        <a:t> This where you define a measurable and meaningful goal. It’s important to be able to track your progress. Without meaningful and measurable goals which you can track it’s easy to lose heart and focus.</a:t>
                      </a:r>
                      <a:endParaRPr sz="60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1"/>
                  </a:ext>
                </a:extLst>
              </a:tr>
              <a:tr h="586050">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A</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6B26B"/>
                    </a:solidFill>
                  </a:tcPr>
                </a:tc>
                <a:tc>
                  <a:txBody>
                    <a:bodyPr/>
                    <a:lstStyle/>
                    <a:p>
                      <a:pPr marL="0" lvl="0" indent="0" algn="l" rtl="0">
                        <a:lnSpc>
                          <a:spcPct val="115000"/>
                        </a:lnSpc>
                        <a:spcBef>
                          <a:spcPts val="0"/>
                        </a:spcBef>
                        <a:spcAft>
                          <a:spcPts val="0"/>
                        </a:spcAft>
                        <a:buNone/>
                      </a:pPr>
                      <a:r>
                        <a:rPr lang="en" sz="600" b="1">
                          <a:latin typeface="Roboto"/>
                          <a:ea typeface="Roboto"/>
                          <a:cs typeface="Roboto"/>
                          <a:sym typeface="Roboto"/>
                        </a:rPr>
                        <a:t>Achievable:</a:t>
                      </a:r>
                      <a:r>
                        <a:rPr lang="en" sz="600">
                          <a:latin typeface="Roboto"/>
                          <a:ea typeface="Roboto"/>
                          <a:cs typeface="Roboto"/>
                          <a:sym typeface="Roboto"/>
                        </a:rPr>
                        <a:t> Choosing realistic and short-term goals helps them be more achievable. Long-term goals can be larger and take more time to achieve. Planning smaller short-term goals as steps to larger long-term goals assists in achieving them.</a:t>
                      </a:r>
                      <a:endParaRPr sz="60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2"/>
                  </a:ext>
                </a:extLst>
              </a:tr>
              <a:tr h="586050">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R</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FD966"/>
                    </a:solidFill>
                  </a:tcPr>
                </a:tc>
                <a:tc>
                  <a:txBody>
                    <a:bodyPr/>
                    <a:lstStyle/>
                    <a:p>
                      <a:pPr marL="0" lvl="0" indent="0" algn="l" rtl="0">
                        <a:lnSpc>
                          <a:spcPct val="115000"/>
                        </a:lnSpc>
                        <a:spcBef>
                          <a:spcPts val="0"/>
                        </a:spcBef>
                        <a:spcAft>
                          <a:spcPts val="0"/>
                        </a:spcAft>
                        <a:buNone/>
                      </a:pPr>
                      <a:r>
                        <a:rPr lang="en" sz="600" b="1">
                          <a:latin typeface="Roboto"/>
                          <a:ea typeface="Roboto"/>
                          <a:cs typeface="Roboto"/>
                          <a:sym typeface="Roboto"/>
                        </a:rPr>
                        <a:t>Relevant:</a:t>
                      </a:r>
                      <a:r>
                        <a:rPr lang="en" sz="600">
                          <a:latin typeface="Roboto"/>
                          <a:ea typeface="Roboto"/>
                          <a:cs typeface="Roboto"/>
                          <a:sym typeface="Roboto"/>
                        </a:rPr>
                        <a:t> Each goal you set must be in line with your core values and in harmony with what YOU want out of life. Contradictions in values and goals leads to frustration and loss of motivation. Designing your goals with the expectation of your personal success.</a:t>
                      </a:r>
                      <a:endParaRPr sz="60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3"/>
                  </a:ext>
                </a:extLst>
              </a:tr>
              <a:tr h="586050">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T</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93C47D"/>
                    </a:solidFill>
                  </a:tcPr>
                </a:tc>
                <a:tc>
                  <a:txBody>
                    <a:bodyPr/>
                    <a:lstStyle/>
                    <a:p>
                      <a:pPr marL="0" lvl="0" indent="0" algn="l" rtl="0">
                        <a:lnSpc>
                          <a:spcPct val="115000"/>
                        </a:lnSpc>
                        <a:spcBef>
                          <a:spcPts val="0"/>
                        </a:spcBef>
                        <a:spcAft>
                          <a:spcPts val="0"/>
                        </a:spcAft>
                        <a:buNone/>
                      </a:pPr>
                      <a:r>
                        <a:rPr lang="en" sz="600" b="1">
                          <a:latin typeface="Roboto"/>
                          <a:ea typeface="Roboto"/>
                          <a:cs typeface="Roboto"/>
                          <a:sym typeface="Roboto"/>
                        </a:rPr>
                        <a:t>Time-Bound:</a:t>
                      </a:r>
                      <a:r>
                        <a:rPr lang="en" sz="600">
                          <a:latin typeface="Roboto"/>
                          <a:ea typeface="Roboto"/>
                          <a:cs typeface="Roboto"/>
                          <a:sym typeface="Roboto"/>
                        </a:rPr>
                        <a:t> Setting a time limit on achieving a goal makes it measurable. When a goal is measurable you can SEE your progress and support your motivation and commitment. Giving your goal a time limit assists you in holding yourself accountable to its completion.</a:t>
                      </a:r>
                      <a:endParaRPr sz="60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4"/>
                  </a:ext>
                </a:extLst>
              </a:tr>
              <a:tr h="683725">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E</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76A5AF"/>
                    </a:solidFill>
                  </a:tcPr>
                </a:tc>
                <a:tc>
                  <a:txBody>
                    <a:bodyPr/>
                    <a:lstStyle/>
                    <a:p>
                      <a:pPr marL="0" lvl="0" indent="0" algn="l" rtl="0">
                        <a:lnSpc>
                          <a:spcPct val="115000"/>
                        </a:lnSpc>
                        <a:spcBef>
                          <a:spcPts val="0"/>
                        </a:spcBef>
                        <a:spcAft>
                          <a:spcPts val="0"/>
                        </a:spcAft>
                        <a:buNone/>
                      </a:pPr>
                      <a:r>
                        <a:rPr lang="en" sz="600" b="1">
                          <a:latin typeface="Roboto"/>
                          <a:ea typeface="Roboto"/>
                          <a:cs typeface="Roboto"/>
                          <a:sym typeface="Roboto"/>
                        </a:rPr>
                        <a:t>Evaluate:</a:t>
                      </a:r>
                      <a:r>
                        <a:rPr lang="en" sz="600">
                          <a:latin typeface="Roboto"/>
                          <a:ea typeface="Roboto"/>
                          <a:cs typeface="Roboto"/>
                          <a:sym typeface="Roboto"/>
                        </a:rPr>
                        <a:t> By evaluating your goals on a regular basis you will be much more likely to achieve them. It is easy to forget about long-term goals if they are not revisited from time to time. This also helps you assess if the goal you are working on remains in line with your core values and helps you measure your progress.</a:t>
                      </a:r>
                      <a:endParaRPr sz="60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5"/>
                  </a:ext>
                </a:extLst>
              </a:tr>
              <a:tr h="683725">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R</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6D9EEB"/>
                    </a:solidFill>
                  </a:tcPr>
                </a:tc>
                <a:tc>
                  <a:txBody>
                    <a:bodyPr/>
                    <a:lstStyle/>
                    <a:p>
                      <a:pPr marL="0" lvl="0" indent="0" algn="l" rtl="0">
                        <a:lnSpc>
                          <a:spcPct val="115000"/>
                        </a:lnSpc>
                        <a:spcBef>
                          <a:spcPts val="0"/>
                        </a:spcBef>
                        <a:spcAft>
                          <a:spcPts val="0"/>
                        </a:spcAft>
                        <a:buNone/>
                      </a:pPr>
                      <a:r>
                        <a:rPr lang="en" sz="600" b="1">
                          <a:latin typeface="Roboto"/>
                          <a:ea typeface="Roboto"/>
                          <a:cs typeface="Roboto"/>
                          <a:sym typeface="Roboto"/>
                        </a:rPr>
                        <a:t>Readjust:</a:t>
                      </a:r>
                      <a:r>
                        <a:rPr lang="en" sz="600">
                          <a:latin typeface="Roboto"/>
                          <a:ea typeface="Roboto"/>
                          <a:cs typeface="Roboto"/>
                          <a:sym typeface="Roboto"/>
                        </a:rPr>
                        <a:t> Readjustments occur when goals are determined, through re-evaluation, to be misaligned with your values or long-term goals. This is especially helpful when you have been unable to achieve a goal in the time limits you set. This gives you the opportunity to modify your approach and increase your chances of success.</a:t>
                      </a:r>
                      <a:endParaRPr sz="60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3933579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9"/>
          <p:cNvSpPr txBox="1">
            <a:spLocks noGrp="1"/>
          </p:cNvSpPr>
          <p:nvPr>
            <p:ph type="ctrTitle"/>
          </p:nvPr>
        </p:nvSpPr>
        <p:spPr>
          <a:xfrm>
            <a:off x="1828800" y="1453896"/>
            <a:ext cx="73152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000"/>
              <a:t>Section </a:t>
            </a:r>
            <a:r>
              <a:rPr lang="en"/>
              <a:t>B</a:t>
            </a:r>
            <a:endParaRPr sz="6000"/>
          </a:p>
        </p:txBody>
      </p:sp>
      <p:sp>
        <p:nvSpPr>
          <p:cNvPr id="154" name="Google Shape;154;p19"/>
          <p:cNvSpPr txBox="1">
            <a:spLocks noGrp="1"/>
          </p:cNvSpPr>
          <p:nvPr>
            <p:ph type="subTitle" idx="1"/>
          </p:nvPr>
        </p:nvSpPr>
        <p:spPr>
          <a:xfrm>
            <a:off x="1828800" y="2953512"/>
            <a:ext cx="73152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Progress Log</a:t>
            </a:r>
            <a:endParaRPr lang="en-US" sz="3000"/>
          </a:p>
        </p:txBody>
      </p:sp>
      <p:sp>
        <p:nvSpPr>
          <p:cNvPr id="155" name="Google Shape;155;p1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40000">
                <a:solidFill>
                  <a:srgbClr val="999999"/>
                </a:solidFill>
                <a:latin typeface="Roboto"/>
                <a:ea typeface="Roboto"/>
                <a:cs typeface="Roboto"/>
                <a:sym typeface="Roboto"/>
              </a:rPr>
              <a:t>B</a:t>
            </a:r>
            <a:endParaRPr sz="4000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530721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0"/>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r>
              <a:rPr lang="en"/>
              <a:t>Week 1 - Log</a:t>
            </a:r>
            <a:endParaRPr lang="en-US"/>
          </a:p>
        </p:txBody>
      </p:sp>
      <p:sp>
        <p:nvSpPr>
          <p:cNvPr id="161" name="Google Shape;161;p20"/>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dirty="0">
                <a:latin typeface="Roboto" panose="02000000000000000000" pitchFamily="2" charset="0"/>
                <a:ea typeface="Roboto" panose="02000000000000000000" pitchFamily="2" charset="0"/>
                <a:cs typeface="Roboto" panose="02000000000000000000" pitchFamily="2" charset="0"/>
              </a:rPr>
              <a:t>Reflection</a:t>
            </a:r>
            <a:endParaRPr dirty="0">
              <a:latin typeface="Roboto" panose="02000000000000000000" pitchFamily="2" charset="0"/>
              <a:ea typeface="Roboto" panose="02000000000000000000" pitchFamily="2" charset="0"/>
              <a:cs typeface="Roboto" panose="02000000000000000000" pitchFamily="2" charset="0"/>
            </a:endParaRPr>
          </a:p>
        </p:txBody>
      </p:sp>
      <p:sp>
        <p:nvSpPr>
          <p:cNvPr id="162" name="Google Shape;162;p20"/>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dirty="0">
                <a:latin typeface="Roboto" panose="02000000000000000000" pitchFamily="2" charset="0"/>
                <a:ea typeface="Roboto" panose="02000000000000000000" pitchFamily="2" charset="0"/>
                <a:cs typeface="Roboto" panose="02000000000000000000" pitchFamily="2" charset="0"/>
              </a:rPr>
              <a:t>What did you do?</a:t>
            </a:r>
            <a:endParaRPr dirty="0">
              <a:latin typeface="Roboto" panose="02000000000000000000" pitchFamily="2" charset="0"/>
              <a:ea typeface="Roboto" panose="02000000000000000000" pitchFamily="2" charset="0"/>
              <a:cs typeface="Roboto" panose="02000000000000000000" pitchFamily="2" charset="0"/>
            </a:endParaRPr>
          </a:p>
        </p:txBody>
      </p:sp>
      <p:sp>
        <p:nvSpPr>
          <p:cNvPr id="163" name="Google Shape;163;p20"/>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dirty="0">
                <a:solidFill>
                  <a:schemeClr val="accent6">
                    <a:lumMod val="40000"/>
                    <a:lumOff val="60000"/>
                  </a:schemeClr>
                </a:solidFill>
                <a:latin typeface="Roboto" panose="02000000000000000000" pitchFamily="2" charset="0"/>
                <a:ea typeface="Roboto" panose="02000000000000000000" pitchFamily="2" charset="0"/>
                <a:cs typeface="Roboto" panose="02000000000000000000" pitchFamily="2" charset="0"/>
              </a:rPr>
              <a:t>What goal(s) did you set for this week?</a:t>
            </a:r>
          </a:p>
          <a:p>
            <a:pPr marL="27940" lvl="0" indent="0" algn="l" rtl="0">
              <a:spcBef>
                <a:spcPts val="0"/>
              </a:spcBef>
              <a:spcAft>
                <a:spcPts val="0"/>
              </a:spcAft>
              <a:buSzPts val="1000"/>
              <a:buNone/>
            </a:pPr>
            <a:r>
              <a:rPr lang="en-GB" sz="900" dirty="0">
                <a:latin typeface="Roboto" panose="02000000000000000000" pitchFamily="2" charset="0"/>
                <a:ea typeface="Roboto" panose="02000000000000000000" pitchFamily="2" charset="0"/>
                <a:cs typeface="Roboto" panose="02000000000000000000" pitchFamily="2" charset="0"/>
              </a:rPr>
              <a:t>This week, I focused on understanding user needs, evaluating existing plant identification apps, and starting my project with a clear business and ethical foundation. I also wanted to explore dataset bias and prepare my DAPS diagram. </a:t>
            </a:r>
            <a:endParaRPr sz="900" dirty="0">
              <a:latin typeface="Roboto" panose="02000000000000000000" pitchFamily="2" charset="0"/>
              <a:ea typeface="Roboto" panose="02000000000000000000" pitchFamily="2" charset="0"/>
              <a:cs typeface="Roboto" panose="02000000000000000000" pitchFamily="2" charset="0"/>
            </a:endParaRPr>
          </a:p>
          <a:p>
            <a:pPr marL="182880" lvl="0" indent="-154940" algn="l" rtl="0">
              <a:spcBef>
                <a:spcPts val="0"/>
              </a:spcBef>
              <a:spcAft>
                <a:spcPts val="0"/>
              </a:spcAft>
              <a:buSzPts val="1000"/>
              <a:buChar char="●"/>
            </a:pPr>
            <a:r>
              <a:rPr lang="en" b="1" dirty="0">
                <a:solidFill>
                  <a:schemeClr val="accent6">
                    <a:lumMod val="40000"/>
                    <a:lumOff val="60000"/>
                  </a:schemeClr>
                </a:solidFill>
                <a:latin typeface="Roboto" panose="02000000000000000000" pitchFamily="2" charset="0"/>
                <a:ea typeface="Roboto" panose="02000000000000000000" pitchFamily="2" charset="0"/>
                <a:cs typeface="Roboto" panose="02000000000000000000" pitchFamily="2" charset="0"/>
              </a:rPr>
              <a:t>What have you actually been able to do? </a:t>
            </a:r>
          </a:p>
          <a:p>
            <a:pPr marL="182880" lvl="0" indent="-154940" algn="l" rtl="0">
              <a:spcBef>
                <a:spcPts val="0"/>
              </a:spcBef>
              <a:spcAft>
                <a:spcPts val="0"/>
              </a:spcAft>
              <a:buSzPts val="1000"/>
              <a:buChar char="●"/>
            </a:pPr>
            <a:r>
              <a:rPr lang="en-GB" sz="900" dirty="0">
                <a:solidFill>
                  <a:schemeClr val="bg1"/>
                </a:solidFill>
                <a:latin typeface="Roboto" panose="02000000000000000000" pitchFamily="2" charset="0"/>
                <a:ea typeface="Roboto" panose="02000000000000000000" pitchFamily="2" charset="0"/>
                <a:cs typeface="Roboto" panose="02000000000000000000" pitchFamily="2" charset="0"/>
              </a:rPr>
              <a:t>I completed detailed reviews of plant apps like PlantNet and PictureThis, and analyzed AlgorithmWatch’s report. I read papers on Human-Centered AI and the Extended Mind hypothesis. I created my DAPS diagram, completed the Business Understanding Template, and built my image dataset. I also finished quizzes on fairness, bias, and high-level AI design, and performed a bias analysis on my dataset.</a:t>
            </a:r>
            <a:endParaRPr sz="900" dirty="0">
              <a:solidFill>
                <a:schemeClr val="bg1"/>
              </a:solidFill>
              <a:latin typeface="Roboto" panose="02000000000000000000" pitchFamily="2" charset="0"/>
              <a:ea typeface="Roboto" panose="02000000000000000000" pitchFamily="2" charset="0"/>
              <a:cs typeface="Roboto" panose="02000000000000000000" pitchFamily="2" charset="0"/>
            </a:endParaRPr>
          </a:p>
          <a:p>
            <a:pPr marL="182880" lvl="0" indent="-154940" algn="l" rtl="0">
              <a:spcBef>
                <a:spcPts val="0"/>
              </a:spcBef>
              <a:spcAft>
                <a:spcPts val="0"/>
              </a:spcAft>
              <a:buSzPts val="1000"/>
              <a:buChar char="●"/>
            </a:pPr>
            <a:r>
              <a:rPr lang="en-GB" b="1" dirty="0">
                <a:solidFill>
                  <a:srgbClr val="FFFF00"/>
                </a:solidFill>
                <a:latin typeface="Roboto" panose="02000000000000000000" pitchFamily="2" charset="0"/>
                <a:ea typeface="Roboto" panose="02000000000000000000" pitchFamily="2" charset="0"/>
                <a:cs typeface="Roboto" panose="02000000000000000000" pitchFamily="2" charset="0"/>
              </a:rPr>
              <a:t>SMARTER Goal Progress (Time Management)</a:t>
            </a:r>
          </a:p>
          <a:p>
            <a:pPr marL="27940" lvl="0" indent="0" algn="l" rtl="0">
              <a:spcBef>
                <a:spcPts val="0"/>
              </a:spcBef>
              <a:spcAft>
                <a:spcPts val="0"/>
              </a:spcAft>
              <a:buSzPts val="1000"/>
              <a:buNone/>
            </a:pPr>
            <a:r>
              <a:rPr lang="en-GB" sz="900" dirty="0">
                <a:solidFill>
                  <a:schemeClr val="bg1"/>
                </a:solidFill>
                <a:latin typeface="Roboto" panose="02000000000000000000" pitchFamily="2" charset="0"/>
                <a:ea typeface="Roboto" panose="02000000000000000000" pitchFamily="2" charset="0"/>
                <a:cs typeface="Roboto" panose="02000000000000000000" pitchFamily="2" charset="0"/>
              </a:rPr>
              <a:t>This week, I planned my tasks in advance and managed to stick to my daily study routine without falling behind.</a:t>
            </a:r>
          </a:p>
          <a:p>
            <a:pPr marL="182880" lvl="0" indent="-154940" algn="l" rtl="0">
              <a:spcBef>
                <a:spcPts val="0"/>
              </a:spcBef>
              <a:spcAft>
                <a:spcPts val="0"/>
              </a:spcAft>
              <a:buSzPts val="1000"/>
              <a:buChar char="●"/>
            </a:pPr>
            <a:r>
              <a:rPr lang="en-GB" b="1" dirty="0">
                <a:solidFill>
                  <a:srgbClr val="FFFF00"/>
                </a:solidFill>
                <a:latin typeface="Roboto" panose="02000000000000000000" pitchFamily="2" charset="0"/>
                <a:ea typeface="Roboto" panose="02000000000000000000" pitchFamily="2" charset="0"/>
                <a:cs typeface="Roboto" panose="02000000000000000000" pitchFamily="2" charset="0"/>
              </a:rPr>
              <a:t> Professional Goal Progress (Python)</a:t>
            </a:r>
          </a:p>
          <a:p>
            <a:pPr marL="27940" lvl="0" indent="0" algn="l" rtl="0">
              <a:spcBef>
                <a:spcPts val="0"/>
              </a:spcBef>
              <a:spcAft>
                <a:spcPts val="0"/>
              </a:spcAft>
              <a:buSzPts val="1000"/>
              <a:buNone/>
            </a:pPr>
            <a:r>
              <a:rPr lang="en-GB" sz="900" dirty="0">
                <a:solidFill>
                  <a:schemeClr val="bg1"/>
                </a:solidFill>
                <a:latin typeface="Roboto" panose="02000000000000000000" pitchFamily="2" charset="0"/>
                <a:ea typeface="Roboto" panose="02000000000000000000" pitchFamily="2" charset="0"/>
                <a:cs typeface="Roboto" panose="02000000000000000000" pitchFamily="2" charset="0"/>
              </a:rPr>
              <a:t>Outside of the project, I continued working through Python Crash Course and completed a few practice exercises to strengthen my basics.</a:t>
            </a:r>
          </a:p>
          <a:p>
            <a:pPr marL="27940" indent="0">
              <a:buNone/>
            </a:pPr>
            <a:r>
              <a:rPr lang="en" b="1" dirty="0">
                <a:solidFill>
                  <a:schemeClr val="accent6">
                    <a:lumMod val="40000"/>
                    <a:lumOff val="60000"/>
                  </a:schemeClr>
                </a:solidFill>
                <a:latin typeface="Roboto" panose="02000000000000000000" pitchFamily="2" charset="0"/>
                <a:ea typeface="Roboto" panose="02000000000000000000" pitchFamily="2" charset="0"/>
                <a:cs typeface="Roboto" panose="02000000000000000000" pitchFamily="2" charset="0"/>
              </a:rPr>
              <a:t>Showcase the evidence of your progress (production artifacts, short descriptions-links-pictures animated gifs, etc.)</a:t>
            </a:r>
          </a:p>
          <a:p>
            <a:pPr marL="27940" lvl="0" indent="0" algn="l" rtl="0">
              <a:spcBef>
                <a:spcPts val="0"/>
              </a:spcBef>
              <a:spcAft>
                <a:spcPts val="0"/>
              </a:spcAft>
              <a:buSzPts val="1000"/>
              <a:buNone/>
            </a:pPr>
            <a:r>
              <a:rPr lang="en-NL" sz="1050" dirty="0">
                <a:solidFill>
                  <a:schemeClr val="bg1"/>
                </a:solidFill>
                <a:latin typeface="Roboto" panose="02000000000000000000" pitchFamily="2" charset="0"/>
                <a:ea typeface="Roboto" panose="02000000000000000000" pitchFamily="2" charset="0"/>
                <a:cs typeface="Roboto" panose="02000000000000000000" pitchFamily="2" charset="0"/>
                <a:hlinkClick r:id="rId3"/>
              </a:rPr>
              <a:t>https://github.com/BredaUniversityADSAI/2024-25c-fai1-adsai-CerenKurt243910/tree/main/Week%201</a:t>
            </a:r>
            <a:endParaRPr lang="en-GB" sz="1050" dirty="0">
              <a:solidFill>
                <a:schemeClr val="bg1"/>
              </a:solidFill>
              <a:latin typeface="Roboto" panose="02000000000000000000" pitchFamily="2" charset="0"/>
              <a:ea typeface="Roboto" panose="02000000000000000000" pitchFamily="2" charset="0"/>
              <a:cs typeface="Roboto" panose="02000000000000000000" pitchFamily="2" charset="0"/>
            </a:endParaRPr>
          </a:p>
          <a:p>
            <a:pPr marL="27940" lvl="0" indent="0" algn="l" rtl="0">
              <a:spcBef>
                <a:spcPts val="0"/>
              </a:spcBef>
              <a:spcAft>
                <a:spcPts val="0"/>
              </a:spcAft>
              <a:buSzPts val="1000"/>
              <a:buNone/>
            </a:pPr>
            <a:endParaRPr lang="en-NL" sz="105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64" name="Google Shape;164;p20"/>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rtl="0">
              <a:spcBef>
                <a:spcPts val="0"/>
              </a:spcBef>
              <a:spcAft>
                <a:spcPts val="0"/>
              </a:spcAft>
              <a:buSzPts val="1000"/>
              <a:buChar char="●"/>
            </a:pPr>
            <a:r>
              <a:rPr lang="en" b="1" dirty="0">
                <a:solidFill>
                  <a:schemeClr val="accent6">
                    <a:lumMod val="40000"/>
                    <a:lumOff val="60000"/>
                  </a:schemeClr>
                </a:solidFill>
                <a:latin typeface="Roboto" panose="02000000000000000000" pitchFamily="2" charset="0"/>
                <a:ea typeface="Roboto" panose="02000000000000000000" pitchFamily="2" charset="0"/>
                <a:cs typeface="Roboto" panose="02000000000000000000" pitchFamily="2" charset="0"/>
              </a:rPr>
              <a:t>How did the week go? </a:t>
            </a:r>
          </a:p>
          <a:p>
            <a:pPr marL="182880" lvl="0" indent="-154940" rtl="0">
              <a:spcBef>
                <a:spcPts val="0"/>
              </a:spcBef>
              <a:spcAft>
                <a:spcPts val="0"/>
              </a:spcAft>
              <a:buSzPts val="1000"/>
              <a:buChar char="●"/>
            </a:pPr>
            <a:r>
              <a:rPr lang="en-GB" sz="900" dirty="0">
                <a:solidFill>
                  <a:schemeClr val="bg1"/>
                </a:solidFill>
                <a:latin typeface="Roboto" panose="02000000000000000000" pitchFamily="2" charset="0"/>
                <a:ea typeface="Roboto" panose="02000000000000000000" pitchFamily="2" charset="0"/>
                <a:cs typeface="Roboto" panose="02000000000000000000" pitchFamily="2" charset="0"/>
              </a:rPr>
              <a:t>It was a busy but productive week. I covered a lot of research and made a strong start with my project.</a:t>
            </a:r>
            <a:endParaRPr b="1" dirty="0">
              <a:solidFill>
                <a:schemeClr val="accent6">
                  <a:lumMod val="40000"/>
                  <a:lumOff val="60000"/>
                </a:schemeClr>
              </a:solidFill>
              <a:latin typeface="Roboto" panose="02000000000000000000" pitchFamily="2" charset="0"/>
              <a:ea typeface="Roboto" panose="02000000000000000000" pitchFamily="2" charset="0"/>
              <a:cs typeface="Roboto" panose="02000000000000000000" pitchFamily="2" charset="0"/>
            </a:endParaRPr>
          </a:p>
          <a:p>
            <a:pPr marL="182880" lvl="0" indent="-154940" rtl="0">
              <a:spcBef>
                <a:spcPts val="0"/>
              </a:spcBef>
              <a:spcAft>
                <a:spcPts val="0"/>
              </a:spcAft>
              <a:buSzPts val="1000"/>
              <a:buChar char="●"/>
            </a:pPr>
            <a:r>
              <a:rPr lang="en" b="1" dirty="0">
                <a:solidFill>
                  <a:schemeClr val="accent6">
                    <a:lumMod val="40000"/>
                    <a:lumOff val="60000"/>
                  </a:schemeClr>
                </a:solidFill>
                <a:latin typeface="Roboto" panose="02000000000000000000" pitchFamily="2" charset="0"/>
                <a:ea typeface="Roboto" panose="02000000000000000000" pitchFamily="2" charset="0"/>
                <a:cs typeface="Roboto" panose="02000000000000000000" pitchFamily="2" charset="0"/>
              </a:rPr>
              <a:t>What went well? </a:t>
            </a:r>
          </a:p>
          <a:p>
            <a:pPr marL="182880" lvl="0" indent="-154940" rtl="0">
              <a:spcBef>
                <a:spcPts val="0"/>
              </a:spcBef>
              <a:spcAft>
                <a:spcPts val="0"/>
              </a:spcAft>
              <a:buSzPts val="1000"/>
              <a:buChar char="●"/>
            </a:pPr>
            <a:r>
              <a:rPr lang="en-GB" sz="900" dirty="0">
                <a:solidFill>
                  <a:schemeClr val="bg1"/>
                </a:solidFill>
                <a:latin typeface="Roboto" panose="02000000000000000000" pitchFamily="2" charset="0"/>
                <a:ea typeface="Roboto" panose="02000000000000000000" pitchFamily="2" charset="0"/>
                <a:cs typeface="Roboto" panose="02000000000000000000" pitchFamily="2" charset="0"/>
              </a:rPr>
              <a:t>I learned a lot from the HCAI resources and Extended Mind readings. Creating the DAPS diagram really helped me clarify the business value. Also, building my own dataset was very satisfying.</a:t>
            </a:r>
            <a:endParaRPr sz="900" dirty="0">
              <a:solidFill>
                <a:schemeClr val="bg1"/>
              </a:solidFill>
              <a:latin typeface="Roboto" panose="02000000000000000000" pitchFamily="2" charset="0"/>
              <a:ea typeface="Roboto" panose="02000000000000000000" pitchFamily="2" charset="0"/>
              <a:cs typeface="Roboto" panose="02000000000000000000" pitchFamily="2" charset="0"/>
            </a:endParaRPr>
          </a:p>
          <a:p>
            <a:pPr marL="182880" lvl="0" indent="-154940" rtl="0">
              <a:spcBef>
                <a:spcPts val="0"/>
              </a:spcBef>
              <a:spcAft>
                <a:spcPts val="0"/>
              </a:spcAft>
              <a:buSzPts val="1000"/>
              <a:buChar char="●"/>
            </a:pPr>
            <a:r>
              <a:rPr lang="en" b="1" dirty="0">
                <a:solidFill>
                  <a:schemeClr val="accent6">
                    <a:lumMod val="40000"/>
                    <a:lumOff val="60000"/>
                  </a:schemeClr>
                </a:solidFill>
                <a:latin typeface="Roboto" panose="02000000000000000000" pitchFamily="2" charset="0"/>
                <a:ea typeface="Roboto" panose="02000000000000000000" pitchFamily="2" charset="0"/>
                <a:cs typeface="Roboto" panose="02000000000000000000" pitchFamily="2" charset="0"/>
              </a:rPr>
              <a:t>What didn’t go so well? </a:t>
            </a:r>
          </a:p>
          <a:p>
            <a:pPr marL="182880" lvl="0" indent="-154940" rtl="0">
              <a:spcBef>
                <a:spcPts val="0"/>
              </a:spcBef>
              <a:spcAft>
                <a:spcPts val="0"/>
              </a:spcAft>
              <a:buSzPts val="1000"/>
              <a:buChar char="●"/>
            </a:pPr>
            <a:r>
              <a:rPr lang="en-GB" sz="900" dirty="0">
                <a:solidFill>
                  <a:schemeClr val="bg1"/>
                </a:solidFill>
                <a:latin typeface="Roboto" panose="02000000000000000000" pitchFamily="2" charset="0"/>
                <a:ea typeface="Roboto" panose="02000000000000000000" pitchFamily="2" charset="0"/>
                <a:cs typeface="Roboto" panose="02000000000000000000" pitchFamily="2" charset="0"/>
              </a:rPr>
              <a:t>Some of the ethical and fairness topics were harder to reflect on at first. Also, the DAPS diagram was challenging to finalize.</a:t>
            </a:r>
            <a:endParaRPr sz="900" dirty="0">
              <a:solidFill>
                <a:schemeClr val="bg1"/>
              </a:solidFill>
              <a:latin typeface="Roboto" panose="02000000000000000000" pitchFamily="2" charset="0"/>
              <a:ea typeface="Roboto" panose="02000000000000000000" pitchFamily="2" charset="0"/>
              <a:cs typeface="Roboto" panose="02000000000000000000" pitchFamily="2" charset="0"/>
            </a:endParaRPr>
          </a:p>
          <a:p>
            <a:pPr marL="182880" lvl="0" indent="-154940" rtl="0">
              <a:spcBef>
                <a:spcPts val="0"/>
              </a:spcBef>
              <a:spcAft>
                <a:spcPts val="0"/>
              </a:spcAft>
              <a:buSzPts val="1000"/>
              <a:buChar char="●"/>
            </a:pPr>
            <a:r>
              <a:rPr lang="en" b="1" dirty="0">
                <a:solidFill>
                  <a:schemeClr val="accent6">
                    <a:lumMod val="40000"/>
                    <a:lumOff val="60000"/>
                  </a:schemeClr>
                </a:solidFill>
                <a:latin typeface="Roboto" panose="02000000000000000000" pitchFamily="2" charset="0"/>
                <a:ea typeface="Roboto" panose="02000000000000000000" pitchFamily="2" charset="0"/>
                <a:cs typeface="Roboto" panose="02000000000000000000" pitchFamily="2" charset="0"/>
              </a:rPr>
              <a:t>What did you learn? </a:t>
            </a:r>
          </a:p>
          <a:p>
            <a:pPr marL="182880" lvl="0" indent="-154940" rtl="0">
              <a:spcBef>
                <a:spcPts val="0"/>
              </a:spcBef>
              <a:spcAft>
                <a:spcPts val="0"/>
              </a:spcAft>
              <a:buSzPts val="1000"/>
              <a:buChar char="●"/>
            </a:pPr>
            <a:r>
              <a:rPr lang="en-GB" sz="900" dirty="0">
                <a:solidFill>
                  <a:schemeClr val="bg1"/>
                </a:solidFill>
                <a:latin typeface="Roboto" panose="02000000000000000000" pitchFamily="2" charset="0"/>
                <a:ea typeface="Roboto" panose="02000000000000000000" pitchFamily="2" charset="0"/>
                <a:cs typeface="Roboto" panose="02000000000000000000" pitchFamily="2" charset="0"/>
              </a:rPr>
              <a:t>I learned how to analyze apps critically, how AI can extend human thinking, and how bias can exist even in plant datasets. I also gained a better understanding of the connection between business goals and AI project design.</a:t>
            </a:r>
            <a:endParaRPr sz="900" dirty="0">
              <a:solidFill>
                <a:schemeClr val="bg1"/>
              </a:solidFill>
              <a:latin typeface="Roboto" panose="02000000000000000000" pitchFamily="2" charset="0"/>
              <a:ea typeface="Roboto" panose="02000000000000000000" pitchFamily="2" charset="0"/>
              <a:cs typeface="Roboto" panose="02000000000000000000" pitchFamily="2" charset="0"/>
            </a:endParaRPr>
          </a:p>
          <a:p>
            <a:pPr marL="182880" lvl="0" indent="-154940" rtl="0">
              <a:spcBef>
                <a:spcPts val="0"/>
              </a:spcBef>
              <a:spcAft>
                <a:spcPts val="0"/>
              </a:spcAft>
              <a:buSzPts val="1000"/>
              <a:buChar char="●"/>
            </a:pPr>
            <a:r>
              <a:rPr lang="en" b="1" dirty="0">
                <a:solidFill>
                  <a:schemeClr val="accent6">
                    <a:lumMod val="40000"/>
                    <a:lumOff val="60000"/>
                  </a:schemeClr>
                </a:solidFill>
                <a:latin typeface="Roboto" panose="02000000000000000000" pitchFamily="2" charset="0"/>
                <a:ea typeface="Roboto" panose="02000000000000000000" pitchFamily="2" charset="0"/>
                <a:cs typeface="Roboto" panose="02000000000000000000" pitchFamily="2" charset="0"/>
              </a:rPr>
              <a:t>What could be added as an Action point looking forward to next week?</a:t>
            </a:r>
          </a:p>
          <a:p>
            <a:pPr marL="182880" lvl="0" indent="-154940" rtl="0">
              <a:spcBef>
                <a:spcPts val="0"/>
              </a:spcBef>
              <a:spcAft>
                <a:spcPts val="0"/>
              </a:spcAft>
              <a:buSzPts val="1000"/>
              <a:buChar char="●"/>
            </a:pPr>
            <a:r>
              <a:rPr lang="en-GB" sz="900" dirty="0">
                <a:solidFill>
                  <a:schemeClr val="bg1"/>
                </a:solidFill>
                <a:latin typeface="Roboto" panose="02000000000000000000" pitchFamily="2" charset="0"/>
                <a:ea typeface="Roboto" panose="02000000000000000000" pitchFamily="2" charset="0"/>
                <a:cs typeface="Roboto" panose="02000000000000000000" pitchFamily="2" charset="0"/>
              </a:rPr>
              <a:t>Next week, I want to go deeper into model development and start evaluating algorithms for plant classification. I’ll also focus on improving the structure of my evidence in the learning log.</a:t>
            </a:r>
          </a:p>
          <a:p>
            <a:pPr marL="182880" lvl="0" indent="-154940" rtl="0">
              <a:spcBef>
                <a:spcPts val="0"/>
              </a:spcBef>
              <a:spcAft>
                <a:spcPts val="0"/>
              </a:spcAft>
              <a:buSzPts val="1000"/>
              <a:buChar char="●"/>
            </a:pPr>
            <a:endParaRPr lang="en-NL"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65" name="Google Shape;165;p20"/>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166" name="Google Shape;166;p20"/>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1</a:t>
            </a:r>
            <a:endParaRPr/>
          </a:p>
        </p:txBody>
      </p:sp>
      <p:sp>
        <p:nvSpPr>
          <p:cNvPr id="167" name="Google Shape;167;p20"/>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1"/>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1 - Feedback</a:t>
            </a:r>
            <a:endParaRPr/>
          </a:p>
        </p:txBody>
      </p:sp>
      <p:sp>
        <p:nvSpPr>
          <p:cNvPr id="173" name="Google Shape;173;p21"/>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174" name="Google Shape;174;p21"/>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dirty="0"/>
              <a:t>[Asma Mogihimi/ peer]</a:t>
            </a:r>
            <a:r>
              <a:rPr lang="en" dirty="0"/>
              <a:t> Feedback</a:t>
            </a:r>
          </a:p>
          <a:p>
            <a:pPr marL="27940" lvl="0" indent="0" algn="l" rtl="0">
              <a:spcBef>
                <a:spcPts val="0"/>
              </a:spcBef>
              <a:spcAft>
                <a:spcPts val="0"/>
              </a:spcAft>
              <a:buSzPts val="1000"/>
              <a:buNone/>
            </a:pPr>
            <a:r>
              <a:rPr lang="en-GB" dirty="0"/>
              <a:t>Ceren has had a strong start to Block C. She approached her research tasks with curiosity and consistently completed them on time. Her ability to analyze existing apps and identify their limitations shows that she is thinking critically about user needs and product design.</a:t>
            </a:r>
            <a:br>
              <a:rPr lang="en-GB" dirty="0"/>
            </a:br>
            <a:r>
              <a:rPr lang="en-GB" dirty="0"/>
              <a:t>She also engaged with ethical concepts like fairness and bias in a thoughtful way, especially in how she applied them to her own dataset. I encouraged her to keep reflecting in her learning log and to structure her weekly goals more tightly going forward.</a:t>
            </a:r>
            <a:br>
              <a:rPr lang="en-GB" dirty="0"/>
            </a:br>
            <a:r>
              <a:rPr lang="en-GB" dirty="0"/>
              <a:t>Ceren seems well-organized and motivated, and I believe she will continue building on this momentum in the coming weeks.</a:t>
            </a:r>
            <a:endParaRPr dirty="0"/>
          </a:p>
        </p:txBody>
      </p:sp>
      <p:sp>
        <p:nvSpPr>
          <p:cNvPr id="175" name="Google Shape;175;p21"/>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2/2</a:t>
            </a:r>
            <a:endParaRPr/>
          </a:p>
        </p:txBody>
      </p:sp>
      <p:sp>
        <p:nvSpPr>
          <p:cNvPr id="176" name="Google Shape;176;p21"/>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1</a:t>
            </a:r>
            <a:endParaRPr/>
          </a:p>
        </p:txBody>
      </p:sp>
      <p:sp>
        <p:nvSpPr>
          <p:cNvPr id="2" name="TextBox 1">
            <a:extLst>
              <a:ext uri="{FF2B5EF4-FFF2-40B4-BE49-F238E27FC236}">
                <a16:creationId xmlns:a16="http://schemas.microsoft.com/office/drawing/2014/main" id="{0552F7A4-AA06-2A75-FC3F-16AA7F9A7FA4}"/>
              </a:ext>
            </a:extLst>
          </p:cNvPr>
          <p:cNvSpPr txBox="1"/>
          <p:nvPr/>
        </p:nvSpPr>
        <p:spPr>
          <a:xfrm>
            <a:off x="4735551" y="1230661"/>
            <a:ext cx="3657600" cy="1692771"/>
          </a:xfrm>
          <a:prstGeom prst="rect">
            <a:avLst/>
          </a:prstGeom>
          <a:noFill/>
        </p:spPr>
        <p:txBody>
          <a:bodyPr wrap="square" rtlCol="0">
            <a:spAutoFit/>
          </a:bodyPr>
          <a:lstStyle/>
          <a:p>
            <a:r>
              <a:rPr lang="en-GB" sz="1000" dirty="0">
                <a:solidFill>
                  <a:schemeClr val="bg1"/>
                </a:solidFill>
                <a:latin typeface="Roboto" panose="02000000000000000000" pitchFamily="2" charset="0"/>
                <a:ea typeface="Roboto" panose="02000000000000000000" pitchFamily="2" charset="0"/>
                <a:cs typeface="Roboto" panose="02000000000000000000" pitchFamily="2" charset="0"/>
              </a:rPr>
              <a:t>This week went well for me overall. I stayed on top of my plan and explored a wide range of topics, from app research to fairness in AI. The feedback helped me realize that I should keep reflecting more actively in my log, not just listing what I did.</a:t>
            </a:r>
            <a:br>
              <a:rPr lang="en-GB" sz="10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GB" sz="1000" dirty="0">
                <a:solidFill>
                  <a:schemeClr val="bg1"/>
                </a:solidFill>
                <a:latin typeface="Roboto" panose="02000000000000000000" pitchFamily="2" charset="0"/>
                <a:ea typeface="Roboto" panose="02000000000000000000" pitchFamily="2" charset="0"/>
                <a:cs typeface="Roboto" panose="02000000000000000000" pitchFamily="2" charset="0"/>
              </a:rPr>
              <a:t>I also agree with the idea of setting tighter weekly goals, so I’ll make my plans more specific starting next week. I'm happy with how I started the block and feel more motivated moving forward.</a:t>
            </a:r>
          </a:p>
          <a:p>
            <a:endParaRPr lang="en-NL" dirty="0"/>
          </a:p>
        </p:txBody>
      </p:sp>
      <p:sp>
        <p:nvSpPr>
          <p:cNvPr id="3" name="TextBox 2">
            <a:extLst>
              <a:ext uri="{FF2B5EF4-FFF2-40B4-BE49-F238E27FC236}">
                <a16:creationId xmlns:a16="http://schemas.microsoft.com/office/drawing/2014/main" id="{A20FDC42-9635-ACC5-1493-B2EFD3BA3E8E}"/>
              </a:ext>
            </a:extLst>
          </p:cNvPr>
          <p:cNvSpPr txBox="1"/>
          <p:nvPr/>
        </p:nvSpPr>
        <p:spPr>
          <a:xfrm>
            <a:off x="4893453" y="758952"/>
            <a:ext cx="3144644" cy="523220"/>
          </a:xfrm>
          <a:prstGeom prst="rect">
            <a:avLst/>
          </a:prstGeom>
          <a:noFill/>
        </p:spPr>
        <p:txBody>
          <a:bodyPr wrap="square" rtlCol="0">
            <a:spAutoFit/>
          </a:bodyPr>
          <a:lstStyle/>
          <a:p>
            <a:r>
              <a:rPr lang="en-US" sz="1400" b="1" dirty="0">
                <a:solidFill>
                  <a:schemeClr val="bg1"/>
                </a:solidFill>
                <a:latin typeface="Roboto" panose="02000000000000000000" pitchFamily="2" charset="0"/>
                <a:ea typeface="Roboto" panose="02000000000000000000" pitchFamily="2" charset="0"/>
                <a:cs typeface="Roboto" panose="02000000000000000000" pitchFamily="2" charset="0"/>
              </a:rPr>
              <a:t>Response for the feedback</a:t>
            </a:r>
          </a:p>
          <a:p>
            <a:endParaRPr lang="en-NL"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24"/>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2</a:t>
            </a:r>
            <a:r>
              <a:rPr lang="en"/>
              <a:t> - Log</a:t>
            </a:r>
            <a:endParaRPr/>
          </a:p>
        </p:txBody>
      </p:sp>
      <p:sp>
        <p:nvSpPr>
          <p:cNvPr id="203" name="Google Shape;203;p24"/>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dirty="0"/>
              <a:t>Reflection</a:t>
            </a:r>
            <a:endParaRPr dirty="0"/>
          </a:p>
        </p:txBody>
      </p:sp>
      <p:sp>
        <p:nvSpPr>
          <p:cNvPr id="204" name="Google Shape;204;p24"/>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05" name="Google Shape;205;p24"/>
          <p:cNvSpPr txBox="1">
            <a:spLocks noGrp="1"/>
          </p:cNvSpPr>
          <p:nvPr>
            <p:ph type="body" idx="2"/>
          </p:nvPr>
        </p:nvSpPr>
        <p:spPr>
          <a:xfrm>
            <a:off x="182750" y="1152698"/>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sz="900" b="1" dirty="0">
                <a:solidFill>
                  <a:srgbClr val="F7C7AC"/>
                </a:solidFill>
              </a:rPr>
              <a:t>What goal(s) did you set for this week?</a:t>
            </a:r>
          </a:p>
          <a:p>
            <a:pPr marL="27940" lvl="0" indent="0" algn="l" rtl="0">
              <a:spcBef>
                <a:spcPts val="0"/>
              </a:spcBef>
              <a:spcAft>
                <a:spcPts val="0"/>
              </a:spcAft>
              <a:buSzPts val="1000"/>
              <a:buNone/>
            </a:pPr>
            <a:r>
              <a:rPr lang="en-GB" sz="900" dirty="0"/>
              <a:t>My goal for this week was to dive deeper into AI fairness concepts while also getting hands-on experience with deep learning. I planned to finish the Responsible AI Template (Task 2.3 &amp; 2.4), create a group fairness infographic, and begin building simple neural networks using Keras.</a:t>
            </a:r>
          </a:p>
          <a:p>
            <a:pPr marL="182880" lvl="0" indent="-154940" algn="l" rtl="0">
              <a:spcBef>
                <a:spcPts val="0"/>
              </a:spcBef>
              <a:spcAft>
                <a:spcPts val="0"/>
              </a:spcAft>
              <a:buSzPts val="1000"/>
              <a:buChar char="●"/>
            </a:pPr>
            <a:r>
              <a:rPr lang="en" sz="900" b="1" dirty="0">
                <a:solidFill>
                  <a:srgbClr val="F7C7AC"/>
                </a:solidFill>
              </a:rPr>
              <a:t>What have you actually been able to do?  </a:t>
            </a:r>
          </a:p>
          <a:p>
            <a:pPr marL="27940" lvl="0" indent="0" algn="l" rtl="0">
              <a:spcBef>
                <a:spcPts val="0"/>
              </a:spcBef>
              <a:spcAft>
                <a:spcPts val="0"/>
              </a:spcAft>
              <a:buSzPts val="1000"/>
              <a:buNone/>
            </a:pPr>
            <a:r>
              <a:rPr lang="en-GB" sz="900" dirty="0"/>
              <a:t>I managed to complete everything I set out to do. I studied fairness in AI by reading articles and tutorials, explored different fairness metrics like Demographic Parity and Equal Opportunity, and created a visual infographic to compare them. I also filled out the Responsible AI template with my reflections and design choices.</a:t>
            </a:r>
          </a:p>
          <a:p>
            <a:pPr marL="27940" lvl="0" indent="0" algn="l" rtl="0">
              <a:spcBef>
                <a:spcPts val="0"/>
              </a:spcBef>
              <a:spcAft>
                <a:spcPts val="0"/>
              </a:spcAft>
              <a:buSzPts val="1000"/>
              <a:buNone/>
            </a:pPr>
            <a:r>
              <a:rPr lang="en-GB" sz="900" dirty="0"/>
              <a:t>On the technical side, I started working with Keras for the first time. I installed all required packages, went through Chapters 1 and 2 of “Deep Learning with Python,” and completed the first two chapters on DataCamp. </a:t>
            </a:r>
          </a:p>
          <a:p>
            <a:r>
              <a:rPr lang="en-GB" sz="900" b="1" dirty="0">
                <a:solidFill>
                  <a:srgbClr val="FFFF00"/>
                </a:solidFill>
              </a:rPr>
              <a:t>SMARTER Goal Progress : </a:t>
            </a:r>
            <a:r>
              <a:rPr lang="en-GB" sz="900" dirty="0"/>
              <a:t>I planned my tasks ahead this week and managed to stick to my schedule better than before. I felt more focused and less overwhelmed.</a:t>
            </a:r>
          </a:p>
          <a:p>
            <a:r>
              <a:rPr lang="en-GB" sz="900" b="1" dirty="0"/>
              <a:t> </a:t>
            </a:r>
            <a:r>
              <a:rPr lang="en-GB" sz="900" b="1" dirty="0">
                <a:solidFill>
                  <a:srgbClr val="FFFF00"/>
                </a:solidFill>
              </a:rPr>
              <a:t>Professional Goal Progress : </a:t>
            </a:r>
            <a:r>
              <a:rPr lang="en-GB" sz="900" dirty="0"/>
              <a:t>I continued working on my Python fundamentals outside of the project by doing extra practice exercises on W3Schools and reviewing loops and functions from the Python Crash Course book.</a:t>
            </a:r>
          </a:p>
          <a:p>
            <a:pPr marL="182880" lvl="0" indent="-154940" algn="l" rtl="0">
              <a:spcBef>
                <a:spcPts val="0"/>
              </a:spcBef>
              <a:spcAft>
                <a:spcPts val="0"/>
              </a:spcAft>
              <a:buSzPts val="1000"/>
              <a:buChar char="●"/>
            </a:pPr>
            <a:r>
              <a:rPr lang="en" sz="900" b="1" dirty="0">
                <a:solidFill>
                  <a:srgbClr val="F7C7AC"/>
                </a:solidFill>
              </a:rPr>
              <a:t>Showcase the evidence of your progress (production artifacts, short descriptions-links-pictures animated gifs, etc.)</a:t>
            </a:r>
          </a:p>
          <a:p>
            <a:pPr marL="182880" lvl="0" indent="-154940" algn="l" rtl="0">
              <a:spcBef>
                <a:spcPts val="0"/>
              </a:spcBef>
              <a:spcAft>
                <a:spcPts val="0"/>
              </a:spcAft>
              <a:buSzPts val="1000"/>
              <a:buChar char="●"/>
            </a:pPr>
            <a:r>
              <a:rPr lang="en-GB" sz="900" b="1" dirty="0">
                <a:solidFill>
                  <a:srgbClr val="F7C7AC"/>
                </a:solidFill>
                <a:hlinkClick r:id="rId3"/>
              </a:rPr>
              <a:t>https://github.com/BredaUniversityADSAI/2024-25c-fai1-adsai-CerenKurt243910/tree/main/Week%202</a:t>
            </a:r>
            <a:endParaRPr lang="en-GB" sz="900" b="1" dirty="0">
              <a:solidFill>
                <a:srgbClr val="F7C7AC"/>
              </a:solidFill>
            </a:endParaRPr>
          </a:p>
          <a:p>
            <a:pPr marL="182880" lvl="0" indent="-154940" algn="l" rtl="0">
              <a:spcBef>
                <a:spcPts val="0"/>
              </a:spcBef>
              <a:spcAft>
                <a:spcPts val="0"/>
              </a:spcAft>
              <a:buSzPts val="1000"/>
              <a:buChar char="●"/>
            </a:pPr>
            <a:endParaRPr sz="900" b="1" dirty="0">
              <a:solidFill>
                <a:srgbClr val="F7C7AC"/>
              </a:solidFill>
            </a:endParaRPr>
          </a:p>
        </p:txBody>
      </p:sp>
      <p:sp>
        <p:nvSpPr>
          <p:cNvPr id="206" name="Google Shape;206;p24"/>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dirty="0">
                <a:solidFill>
                  <a:srgbClr val="F7C7AC"/>
                </a:solidFill>
              </a:rPr>
              <a:t>How did the week go?</a:t>
            </a:r>
          </a:p>
          <a:p>
            <a:pPr marL="27940" lvl="0" indent="0" algn="l" rtl="0">
              <a:spcBef>
                <a:spcPts val="0"/>
              </a:spcBef>
              <a:spcAft>
                <a:spcPts val="0"/>
              </a:spcAft>
              <a:buSzPts val="1000"/>
              <a:buNone/>
            </a:pPr>
            <a:r>
              <a:rPr lang="en-GB" dirty="0"/>
              <a:t>This week felt much more balanced than the last one. I was able to manage time better, split up the tasks throughout the week, and didn’t feel overwhelmed like before. Having a clearer idea of what to do each day helped a lot.</a:t>
            </a:r>
            <a:r>
              <a:rPr lang="en" dirty="0"/>
              <a:t> </a:t>
            </a:r>
            <a:endParaRPr dirty="0"/>
          </a:p>
          <a:p>
            <a:pPr marL="182880" lvl="0" indent="-154940" algn="l" rtl="0">
              <a:spcBef>
                <a:spcPts val="0"/>
              </a:spcBef>
              <a:spcAft>
                <a:spcPts val="0"/>
              </a:spcAft>
              <a:buSzPts val="1000"/>
              <a:buChar char="●"/>
            </a:pPr>
            <a:r>
              <a:rPr lang="en" b="1" dirty="0">
                <a:solidFill>
                  <a:srgbClr val="F7C7AC"/>
                </a:solidFill>
              </a:rPr>
              <a:t>What went well?</a:t>
            </a:r>
          </a:p>
          <a:p>
            <a:pPr marL="27940" lvl="0" indent="0" algn="l" rtl="0">
              <a:spcBef>
                <a:spcPts val="0"/>
              </a:spcBef>
              <a:spcAft>
                <a:spcPts val="0"/>
              </a:spcAft>
              <a:buSzPts val="1000"/>
              <a:buNone/>
            </a:pPr>
            <a:r>
              <a:rPr lang="en" dirty="0"/>
              <a:t> </a:t>
            </a:r>
            <a:r>
              <a:rPr lang="en-GB" dirty="0"/>
              <a:t>I really enjoyed creating the infographic—it made me think about how to explain complex things in a simple way. The fairness metrics became clearer to me when I had to visualize and compare them. Also, starting with Keras was exciting. It was easier than I expected, and the DataCamp course explained things in a very beginner-friendly way.</a:t>
            </a:r>
            <a:endParaRPr dirty="0"/>
          </a:p>
          <a:p>
            <a:pPr marL="182880" lvl="0" indent="-154940" algn="l" rtl="0">
              <a:spcBef>
                <a:spcPts val="0"/>
              </a:spcBef>
              <a:spcAft>
                <a:spcPts val="0"/>
              </a:spcAft>
              <a:buSzPts val="1000"/>
              <a:buChar char="●"/>
            </a:pPr>
            <a:r>
              <a:rPr lang="en" b="1" dirty="0">
                <a:solidFill>
                  <a:srgbClr val="F7C7AC"/>
                </a:solidFill>
              </a:rPr>
              <a:t>What didn’t go so well? </a:t>
            </a:r>
          </a:p>
          <a:p>
            <a:pPr marL="27940" lvl="0" indent="0" algn="l" rtl="0">
              <a:spcBef>
                <a:spcPts val="0"/>
              </a:spcBef>
              <a:spcAft>
                <a:spcPts val="0"/>
              </a:spcAft>
              <a:buSzPts val="1000"/>
              <a:buNone/>
            </a:pPr>
            <a:r>
              <a:rPr lang="en-GB" dirty="0"/>
              <a:t>I spent more time than planned trying to calculate and understand Exact Match Ratio in my notebook. Also, writing reflections in the Responsible AI template took longer than I thought because I wanted to be very precise with my answers.</a:t>
            </a:r>
            <a:endParaRPr dirty="0"/>
          </a:p>
          <a:p>
            <a:pPr marL="182880" lvl="0" indent="-154940" algn="l" rtl="0">
              <a:spcBef>
                <a:spcPts val="0"/>
              </a:spcBef>
              <a:spcAft>
                <a:spcPts val="0"/>
              </a:spcAft>
              <a:buSzPts val="1000"/>
              <a:buChar char="●"/>
            </a:pPr>
            <a:r>
              <a:rPr lang="en" b="1" dirty="0">
                <a:solidFill>
                  <a:srgbClr val="F7C7AC"/>
                </a:solidFill>
              </a:rPr>
              <a:t>What did you learn? </a:t>
            </a:r>
          </a:p>
          <a:p>
            <a:pPr marL="27940" lvl="0" indent="0" algn="l" rtl="0">
              <a:spcBef>
                <a:spcPts val="0"/>
              </a:spcBef>
              <a:spcAft>
                <a:spcPts val="0"/>
              </a:spcAft>
              <a:buSzPts val="1000"/>
              <a:buNone/>
            </a:pPr>
            <a:r>
              <a:rPr lang="en-GB" dirty="0"/>
              <a:t>I learned how fairness works in real applications and how to build and train basic neural networks.</a:t>
            </a:r>
            <a:endParaRPr dirty="0"/>
          </a:p>
          <a:p>
            <a:pPr marL="182880" lvl="0" indent="-154940" algn="l" rtl="0">
              <a:spcBef>
                <a:spcPts val="0"/>
              </a:spcBef>
              <a:spcAft>
                <a:spcPts val="0"/>
              </a:spcAft>
              <a:buSzPts val="1000"/>
              <a:buChar char="●"/>
            </a:pPr>
            <a:r>
              <a:rPr lang="en" b="1" dirty="0">
                <a:solidFill>
                  <a:srgbClr val="F7C7AC"/>
                </a:solidFill>
              </a:rPr>
              <a:t>What could be added as an Action point looking forward to next week?</a:t>
            </a:r>
          </a:p>
          <a:p>
            <a:pPr marL="27940" indent="0">
              <a:buNone/>
            </a:pPr>
            <a:r>
              <a:rPr lang="en-GB" dirty="0"/>
              <a:t>Focus on writing cleaner code and start working on more advanced deep learning chapters.</a:t>
            </a:r>
          </a:p>
          <a:p>
            <a:pPr marL="182880" lvl="0" indent="-154940" algn="l" rtl="0">
              <a:spcBef>
                <a:spcPts val="0"/>
              </a:spcBef>
              <a:spcAft>
                <a:spcPts val="0"/>
              </a:spcAft>
              <a:buSzPts val="1000"/>
              <a:buChar char="●"/>
            </a:pPr>
            <a:endParaRPr dirty="0"/>
          </a:p>
        </p:txBody>
      </p:sp>
      <p:sp>
        <p:nvSpPr>
          <p:cNvPr id="207" name="Google Shape;207;p24"/>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208" name="Google Shape;208;p24"/>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t>2</a:t>
            </a:r>
            <a:endParaRPr/>
          </a:p>
        </p:txBody>
      </p:sp>
      <p:sp>
        <p:nvSpPr>
          <p:cNvPr id="209" name="Google Shape;209;p24"/>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25"/>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2</a:t>
            </a:r>
            <a:r>
              <a:rPr lang="en"/>
              <a:t> - Feedback</a:t>
            </a:r>
            <a:endParaRPr/>
          </a:p>
        </p:txBody>
      </p:sp>
      <p:sp>
        <p:nvSpPr>
          <p:cNvPr id="215" name="Google Shape;215;p25"/>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dirty="0"/>
              <a:t>Team, individual, peer, workshop feedback</a:t>
            </a:r>
            <a:endParaRPr dirty="0"/>
          </a:p>
        </p:txBody>
      </p:sp>
      <p:sp>
        <p:nvSpPr>
          <p:cNvPr id="216" name="Google Shape;216;p25"/>
          <p:cNvSpPr txBox="1">
            <a:spLocks noGrp="1"/>
          </p:cNvSpPr>
          <p:nvPr>
            <p:ph type="body" idx="2"/>
          </p:nvPr>
        </p:nvSpPr>
        <p:spPr>
          <a:xfrm>
            <a:off x="52039" y="1048215"/>
            <a:ext cx="4425336" cy="3916882"/>
          </a:xfrm>
          <a:prstGeom prst="rect">
            <a:avLst/>
          </a:prstGeom>
        </p:spPr>
        <p:txBody>
          <a:bodyPr spcFirstLastPara="1" wrap="square" lIns="91425" tIns="91425" rIns="91425" bIns="91425" anchor="t" anchorCtr="0">
            <a:noAutofit/>
          </a:bodyPr>
          <a:lstStyle/>
          <a:p>
            <a:pPr>
              <a:buNone/>
            </a:pPr>
            <a:endParaRPr lang="en-GB" dirty="0"/>
          </a:p>
          <a:p>
            <a:pPr>
              <a:buNone/>
            </a:pPr>
            <a:r>
              <a:rPr lang="en" b="1" dirty="0"/>
              <a:t>[</a:t>
            </a:r>
            <a:r>
              <a:rPr lang="en-GB" b="1" dirty="0"/>
              <a:t>Jaberi, Mohammadali (244437)</a:t>
            </a:r>
            <a:r>
              <a:rPr lang="en" b="1" dirty="0"/>
              <a:t> peer]</a:t>
            </a:r>
            <a:r>
              <a:rPr lang="en" dirty="0"/>
              <a:t> Feedback</a:t>
            </a:r>
            <a:endParaRPr lang="en-GB" dirty="0"/>
          </a:p>
          <a:p>
            <a:pPr>
              <a:buNone/>
            </a:pPr>
            <a:r>
              <a:rPr lang="en-GB" dirty="0"/>
              <a:t>I think Ceren had a really solid week. </a:t>
            </a:r>
          </a:p>
          <a:p>
            <a:pPr>
              <a:buNone/>
            </a:pPr>
            <a:r>
              <a:rPr lang="en-GB" dirty="0"/>
              <a:t>She’s clearly putting in a lot of effort, and it shows in how she explains </a:t>
            </a:r>
          </a:p>
          <a:p>
            <a:pPr>
              <a:buNone/>
            </a:pPr>
            <a:r>
              <a:rPr lang="en-GB" dirty="0"/>
              <a:t>things. Her understanding of fairness concepts was clear, and she </a:t>
            </a:r>
          </a:p>
          <a:p>
            <a:pPr>
              <a:buNone/>
            </a:pPr>
            <a:r>
              <a:rPr lang="en-GB" dirty="0"/>
              <a:t>managed to keep it simple without losing depth, which is honestly not </a:t>
            </a:r>
          </a:p>
          <a:p>
            <a:pPr>
              <a:buNone/>
            </a:pPr>
            <a:r>
              <a:rPr lang="en-GB" dirty="0"/>
              <a:t>that easy.</a:t>
            </a:r>
          </a:p>
        </p:txBody>
      </p:sp>
      <p:sp>
        <p:nvSpPr>
          <p:cNvPr id="217" name="Google Shape;217;p25"/>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2/2</a:t>
            </a:r>
            <a:endParaRPr/>
          </a:p>
        </p:txBody>
      </p:sp>
      <p:sp>
        <p:nvSpPr>
          <p:cNvPr id="218" name="Google Shape;218;p25"/>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2</a:t>
            </a:r>
            <a:endParaRPr/>
          </a:p>
        </p:txBody>
      </p:sp>
      <p:sp>
        <p:nvSpPr>
          <p:cNvPr id="3" name="TextBox 2">
            <a:extLst>
              <a:ext uri="{FF2B5EF4-FFF2-40B4-BE49-F238E27FC236}">
                <a16:creationId xmlns:a16="http://schemas.microsoft.com/office/drawing/2014/main" id="{E2DF5F96-989A-166B-F00E-312E5F352EF2}"/>
              </a:ext>
            </a:extLst>
          </p:cNvPr>
          <p:cNvSpPr txBox="1"/>
          <p:nvPr/>
        </p:nvSpPr>
        <p:spPr>
          <a:xfrm>
            <a:off x="4869366" y="758952"/>
            <a:ext cx="3947532" cy="523220"/>
          </a:xfrm>
          <a:prstGeom prst="rect">
            <a:avLst/>
          </a:prstGeom>
          <a:noFill/>
        </p:spPr>
        <p:txBody>
          <a:bodyPr wrap="square" rtlCol="0">
            <a:spAutoFit/>
          </a:bodyPr>
          <a:lstStyle/>
          <a:p>
            <a:r>
              <a:rPr lang="en-US" sz="1400" b="1" dirty="0">
                <a:solidFill>
                  <a:schemeClr val="bg1"/>
                </a:solidFill>
                <a:latin typeface="Roboto" panose="02000000000000000000" pitchFamily="2" charset="0"/>
                <a:ea typeface="Roboto" panose="02000000000000000000" pitchFamily="2" charset="0"/>
                <a:cs typeface="Roboto" panose="02000000000000000000" pitchFamily="2" charset="0"/>
              </a:rPr>
              <a:t>Response for the feedback</a:t>
            </a:r>
          </a:p>
          <a:p>
            <a:endParaRPr lang="en-NL" dirty="0"/>
          </a:p>
        </p:txBody>
      </p:sp>
      <p:sp>
        <p:nvSpPr>
          <p:cNvPr id="4" name="TextBox 3">
            <a:extLst>
              <a:ext uri="{FF2B5EF4-FFF2-40B4-BE49-F238E27FC236}">
                <a16:creationId xmlns:a16="http://schemas.microsoft.com/office/drawing/2014/main" id="{DBCAB7D7-CAC8-7B8E-1E2D-D903979A348F}"/>
              </a:ext>
            </a:extLst>
          </p:cNvPr>
          <p:cNvSpPr txBox="1"/>
          <p:nvPr/>
        </p:nvSpPr>
        <p:spPr>
          <a:xfrm>
            <a:off x="4928839" y="1152852"/>
            <a:ext cx="3888059" cy="1231106"/>
          </a:xfrm>
          <a:prstGeom prst="rect">
            <a:avLst/>
          </a:prstGeom>
          <a:noFill/>
        </p:spPr>
        <p:txBody>
          <a:bodyPr wrap="square" rtlCol="0">
            <a:spAutoFit/>
          </a:bodyPr>
          <a:lstStyle/>
          <a:p>
            <a:r>
              <a:rPr lang="en-GB" sz="1000" dirty="0">
                <a:solidFill>
                  <a:schemeClr val="bg1"/>
                </a:solidFill>
                <a:latin typeface="Roboto" panose="02000000000000000000" pitchFamily="2" charset="0"/>
                <a:ea typeface="Roboto" panose="02000000000000000000" pitchFamily="2" charset="0"/>
                <a:cs typeface="Roboto" panose="02000000000000000000" pitchFamily="2" charset="0"/>
              </a:rPr>
              <a:t>Thank you so much  That really means a lot! I tried to be more focused this week and actually felt more confident while working through the topics. I still second guess myself sometimes, especially with coding, but I’m trying to get out of that mindset and just keep practicing. It’s really encouraging to hear that it’s starting to show. I’ll keep building on this momentum.</a:t>
            </a:r>
          </a:p>
          <a:p>
            <a:endParaRPr lang="en-NL"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3</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59291" y="1152697"/>
            <a:ext cx="4294500" cy="3990803"/>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dirty="0">
                <a:solidFill>
                  <a:srgbClr val="F7C7AC"/>
                </a:solidFill>
              </a:rPr>
              <a:t>What goal(s) did you set for this week?</a:t>
            </a:r>
          </a:p>
          <a:p>
            <a:pPr>
              <a:buNone/>
            </a:pPr>
            <a:r>
              <a:rPr lang="en-GB" dirty="0"/>
              <a:t>This week, my goals were to:</a:t>
            </a:r>
          </a:p>
          <a:p>
            <a:pPr>
              <a:buFont typeface="Arial" panose="020B0604020202020204" pitchFamily="34" charset="0"/>
              <a:buChar char="•"/>
            </a:pPr>
            <a:r>
              <a:rPr lang="en-GB" dirty="0"/>
              <a:t>Train models on the IMDB, Reuters, and California housing datasets and evaluate their performance.</a:t>
            </a:r>
          </a:p>
          <a:p>
            <a:pPr>
              <a:buFont typeface="Arial" panose="020B0604020202020204" pitchFamily="34" charset="0"/>
              <a:buChar char="•"/>
            </a:pPr>
            <a:r>
              <a:rPr lang="en-GB" dirty="0"/>
              <a:t>Complete the relevant quizzes on deep learning and UX design concepts.</a:t>
            </a:r>
          </a:p>
          <a:p>
            <a:pPr>
              <a:buFont typeface="Arial" panose="020B0604020202020204" pitchFamily="34" charset="0"/>
              <a:buChar char="•"/>
            </a:pPr>
            <a:r>
              <a:rPr lang="en-GB" dirty="0"/>
              <a:t>Work on the design of the plant health tracking app using Figma, focusing on interaction design and prototyping.</a:t>
            </a:r>
          </a:p>
          <a:p>
            <a:pPr>
              <a:buFont typeface="Arial" panose="020B0604020202020204" pitchFamily="34" charset="0"/>
              <a:buChar char="•"/>
            </a:pPr>
            <a:r>
              <a:rPr lang="en-GB" dirty="0"/>
              <a:t>Further explore neural network architecture, including MLPs and gradient descent, and understand their implementation.</a:t>
            </a:r>
          </a:p>
          <a:p>
            <a:pPr>
              <a:buFont typeface="Arial" panose="020B0604020202020204" pitchFamily="34" charset="0"/>
              <a:buChar char="•"/>
            </a:pPr>
            <a:r>
              <a:rPr lang="en-GB" dirty="0"/>
              <a:t>Complete the "UX Foundations: Interaction Design" course to deepen my understanding of UI/UX principles and </a:t>
            </a:r>
            <a:r>
              <a:rPr lang="en-GB" b="1" dirty="0"/>
              <a:t>human-</a:t>
            </a:r>
            <a:r>
              <a:rPr lang="en-GB" b="1" dirty="0" err="1"/>
              <a:t>centered</a:t>
            </a:r>
            <a:r>
              <a:rPr lang="en-GB" b="1" dirty="0"/>
              <a:t> design.</a:t>
            </a:r>
            <a:endParaRPr b="1" dirty="0"/>
          </a:p>
          <a:p>
            <a:pPr marL="182880" lvl="0" indent="-154940" algn="l" rtl="0">
              <a:spcBef>
                <a:spcPts val="0"/>
              </a:spcBef>
              <a:spcAft>
                <a:spcPts val="0"/>
              </a:spcAft>
              <a:buSzPts val="1000"/>
              <a:buChar char="●"/>
            </a:pPr>
            <a:r>
              <a:rPr lang="en" b="1" dirty="0">
                <a:solidFill>
                  <a:srgbClr val="F7C7AC"/>
                </a:solidFill>
              </a:rPr>
              <a:t>What have you actually been able to do? </a:t>
            </a:r>
          </a:p>
          <a:p>
            <a:pPr>
              <a:buNone/>
            </a:pPr>
            <a:r>
              <a:rPr lang="en-GB" sz="700" dirty="0"/>
              <a:t>I successfully trained models for the IMDB, Reuters, and California housing datasets, performing the necessary data preprocessing, model training, and evaluation. These tasks also included understanding model performance and identifying areas for improvement, such as fine-tuning hyperparameters and addressing overfitting.</a:t>
            </a:r>
          </a:p>
          <a:p>
            <a:pPr>
              <a:buNone/>
            </a:pPr>
            <a:r>
              <a:rPr lang="en-GB" sz="700" dirty="0"/>
              <a:t>Additionally, I completed the </a:t>
            </a:r>
            <a:r>
              <a:rPr lang="en-GB" sz="700" dirty="0" err="1"/>
              <a:t>DataLab</a:t>
            </a:r>
            <a:r>
              <a:rPr lang="en-GB" sz="700" dirty="0"/>
              <a:t> Preparation quiz and implemented a naive gradient descent algorithm in the Week 3 notebook. This helped me understand the mechanics of gradient descent and its role in training neural networks.</a:t>
            </a:r>
          </a:p>
          <a:p>
            <a:r>
              <a:rPr lang="en-GB" sz="700" dirty="0"/>
              <a:t>On the design front, I worked on creating a plant health app prototype in Figma, exploring various design approaches to make the app user-friendly. I also explored key concepts of interaction design by completing the UX Foundations course, which helped me better understand how design shapes user experience.</a:t>
            </a:r>
          </a:p>
          <a:p>
            <a:pPr marL="182880" lvl="0" indent="-154940" algn="l" rtl="0">
              <a:spcBef>
                <a:spcPts val="0"/>
              </a:spcBef>
              <a:spcAft>
                <a:spcPts val="0"/>
              </a:spcAft>
              <a:buSzPts val="1000"/>
              <a:buChar char="●"/>
            </a:pPr>
            <a:endParaRPr sz="600" b="1" dirty="0">
              <a:solidFill>
                <a:srgbClr val="F7C7AC"/>
              </a:solidFill>
            </a:endParaRPr>
          </a:p>
          <a:p>
            <a:pPr marL="182880" lvl="0" indent="-154940" algn="l" rtl="0">
              <a:spcBef>
                <a:spcPts val="0"/>
              </a:spcBef>
              <a:spcAft>
                <a:spcPts val="0"/>
              </a:spcAft>
              <a:buSzPts val="1000"/>
              <a:buChar char="●"/>
            </a:pPr>
            <a:r>
              <a:rPr lang="en" sz="600" dirty="0"/>
              <a:t>Showcase the evidence of your progress (production artifacts, short descriptions-links-pictures animated gifs, etc.)</a:t>
            </a:r>
          </a:p>
          <a:p>
            <a:pPr marL="182880" lvl="0" indent="-154940" algn="l" rtl="0">
              <a:spcBef>
                <a:spcPts val="0"/>
              </a:spcBef>
              <a:spcAft>
                <a:spcPts val="0"/>
              </a:spcAft>
              <a:buSzPts val="1000"/>
              <a:buChar char="●"/>
            </a:pPr>
            <a:r>
              <a:rPr lang="en-GB" sz="600" dirty="0">
                <a:hlinkClick r:id="rId3"/>
              </a:rPr>
              <a:t>https://github.com/BredaUniversityADSAI/2024-25c-fai1-adsai-CerenKurt243910/tree/main/Week%203</a:t>
            </a:r>
            <a:endParaRPr lang="en-GB" sz="600" dirty="0"/>
          </a:p>
          <a:p>
            <a:pPr marL="182880" lvl="0" indent="-154940" algn="l" rtl="0">
              <a:spcBef>
                <a:spcPts val="0"/>
              </a:spcBef>
              <a:spcAft>
                <a:spcPts val="0"/>
              </a:spcAft>
              <a:buSzPts val="1000"/>
              <a:buChar char="●"/>
            </a:pPr>
            <a:endParaRPr sz="600" dirty="0"/>
          </a:p>
        </p:txBody>
      </p:sp>
      <p:sp>
        <p:nvSpPr>
          <p:cNvPr id="227" name="Google Shape;227;p26"/>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sz="900" dirty="0">
                <a:solidFill>
                  <a:srgbClr val="F7C7AC"/>
                </a:solidFill>
              </a:rPr>
              <a:t>How did the week go? </a:t>
            </a:r>
          </a:p>
          <a:p>
            <a:pPr marL="182880" lvl="0" indent="-154940" algn="l" rtl="0">
              <a:spcBef>
                <a:spcPts val="0"/>
              </a:spcBef>
              <a:spcAft>
                <a:spcPts val="0"/>
              </a:spcAft>
              <a:buSzPts val="1000"/>
              <a:buChar char="●"/>
            </a:pPr>
            <a:r>
              <a:rPr lang="en-GB" sz="900" dirty="0"/>
              <a:t>Model Training and Evaluation: The training of models on the IMDB, Reuters, and California housing datasets went smoothly. I was able to understand the evaluation metrics and apply them correctly. The performance was reasonable, but there’s still room for improvement through hyperparameter </a:t>
            </a:r>
            <a:r>
              <a:rPr lang="en-GB" sz="900" dirty="0" err="1"/>
              <a:t>tuning.UX</a:t>
            </a:r>
            <a:r>
              <a:rPr lang="en-GB" sz="900" dirty="0"/>
              <a:t> Design: I was able to effectively use Figma for creating a mobile app design. The tools I learned through the UX Foundations course helped me design a clean, user-friendly interface for the plant health app.</a:t>
            </a:r>
            <a:endParaRPr sz="900" dirty="0"/>
          </a:p>
          <a:p>
            <a:pPr marL="182880" lvl="0" indent="-154940" algn="l" rtl="0">
              <a:spcBef>
                <a:spcPts val="0"/>
              </a:spcBef>
              <a:spcAft>
                <a:spcPts val="0"/>
              </a:spcAft>
              <a:buSzPts val="1000"/>
              <a:buChar char="●"/>
            </a:pPr>
            <a:r>
              <a:rPr lang="en" sz="900" dirty="0">
                <a:solidFill>
                  <a:srgbClr val="F7C7AC"/>
                </a:solidFill>
              </a:rPr>
              <a:t>What went well? </a:t>
            </a:r>
          </a:p>
          <a:p>
            <a:pPr marL="182880" lvl="0" indent="-154940" algn="l" rtl="0">
              <a:spcBef>
                <a:spcPts val="0"/>
              </a:spcBef>
              <a:spcAft>
                <a:spcPts val="0"/>
              </a:spcAft>
              <a:buSzPts val="1000"/>
              <a:buChar char="●"/>
            </a:pPr>
            <a:r>
              <a:rPr lang="en-GB" sz="900" b="1" dirty="0"/>
              <a:t>Model Performance:</a:t>
            </a:r>
            <a:r>
              <a:rPr lang="en-GB" sz="900" dirty="0"/>
              <a:t> While the models achieved decent results, their validation accuracy wasn’t optimal. I realized that further tuning of hyperparameters or trying different neural network architectures could improve model performance.</a:t>
            </a:r>
            <a:endParaRPr sz="900" dirty="0"/>
          </a:p>
          <a:p>
            <a:pPr marL="182880" lvl="0" indent="-154940" algn="l" rtl="0">
              <a:spcBef>
                <a:spcPts val="0"/>
              </a:spcBef>
              <a:spcAft>
                <a:spcPts val="0"/>
              </a:spcAft>
              <a:buSzPts val="1000"/>
              <a:buChar char="●"/>
            </a:pPr>
            <a:r>
              <a:rPr lang="en" sz="900" dirty="0">
                <a:solidFill>
                  <a:srgbClr val="F7C7AC"/>
                </a:solidFill>
              </a:rPr>
              <a:t>What </a:t>
            </a:r>
            <a:r>
              <a:rPr lang="en-GB" sz="900" dirty="0">
                <a:solidFill>
                  <a:srgbClr val="F7C7AC"/>
                </a:solidFill>
              </a:rPr>
              <a:t>Model Performance: </a:t>
            </a:r>
          </a:p>
          <a:p>
            <a:pPr marL="182880" lvl="0" indent="-154940" algn="l" rtl="0">
              <a:spcBef>
                <a:spcPts val="0"/>
              </a:spcBef>
              <a:spcAft>
                <a:spcPts val="0"/>
              </a:spcAft>
              <a:buSzPts val="1000"/>
              <a:buChar char="●"/>
            </a:pPr>
            <a:r>
              <a:rPr lang="en-GB" sz="900" dirty="0">
                <a:solidFill>
                  <a:schemeClr val="bg1"/>
                </a:solidFill>
              </a:rPr>
              <a:t>While the models achieved decent results, their validation accuracy wasn’t optimal. I realized that further tuning of hyperparameters or trying different neural network architectures could improve model performance.</a:t>
            </a:r>
            <a:r>
              <a:rPr lang="en" sz="900" dirty="0">
                <a:solidFill>
                  <a:schemeClr val="bg1"/>
                </a:solidFill>
              </a:rPr>
              <a:t>didn’t go so well? </a:t>
            </a:r>
            <a:endParaRPr lang="en" sz="900" dirty="0">
              <a:solidFill>
                <a:srgbClr val="F7C7AC"/>
              </a:solidFill>
            </a:endParaRPr>
          </a:p>
          <a:p>
            <a:pPr marL="182880" lvl="0" indent="-154940" algn="l" rtl="0">
              <a:spcBef>
                <a:spcPts val="0"/>
              </a:spcBef>
              <a:spcAft>
                <a:spcPts val="0"/>
              </a:spcAft>
              <a:buSzPts val="1000"/>
              <a:buChar char="●"/>
            </a:pPr>
            <a:r>
              <a:rPr lang="en" sz="900" dirty="0">
                <a:solidFill>
                  <a:srgbClr val="F7C7AC"/>
                </a:solidFill>
              </a:rPr>
              <a:t>What did you learn? </a:t>
            </a:r>
          </a:p>
          <a:p>
            <a:pPr marL="182880" lvl="0" indent="-154940" algn="l" rtl="0">
              <a:spcBef>
                <a:spcPts val="0"/>
              </a:spcBef>
              <a:spcAft>
                <a:spcPts val="0"/>
              </a:spcAft>
              <a:buSzPts val="1000"/>
              <a:buChar char="●"/>
            </a:pPr>
            <a:r>
              <a:rPr lang="en-GB" sz="900" dirty="0">
                <a:solidFill>
                  <a:schemeClr val="bg1"/>
                </a:solidFill>
              </a:rPr>
              <a:t>UX/UI Design: I gained a solid understanding of the core principles of interaction design and how different UI elements can affect usability and engagement. By working with Figma, I learned how to create both wireframes and </a:t>
            </a:r>
            <a:r>
              <a:rPr lang="en-GB" sz="800" dirty="0">
                <a:solidFill>
                  <a:schemeClr val="bg1"/>
                </a:solidFill>
              </a:rPr>
              <a:t>high-fidelity designs for mobile apps.</a:t>
            </a:r>
            <a:endParaRPr lang="en" sz="800" dirty="0">
              <a:solidFill>
                <a:schemeClr val="bg1"/>
              </a:solidFill>
            </a:endParaRPr>
          </a:p>
          <a:p>
            <a:pPr marL="182880" lvl="0" indent="-154940" algn="l" rtl="0">
              <a:spcBef>
                <a:spcPts val="0"/>
              </a:spcBef>
              <a:spcAft>
                <a:spcPts val="0"/>
              </a:spcAft>
              <a:buSzPts val="1000"/>
              <a:buChar char="●"/>
            </a:pPr>
            <a:r>
              <a:rPr lang="en-GB" sz="900" b="1" dirty="0"/>
              <a:t>Model Tuning:</a:t>
            </a:r>
            <a:r>
              <a:rPr lang="en-GB" sz="900" dirty="0"/>
              <a:t> I plan to experiment with different neural network architectures and hyperparameters (like learning rate and batch size) to optimize the models’ performance. I’ll also explore regularization techniques like dropout to prevent overfitting.</a:t>
            </a:r>
            <a:endParaRPr sz="900" dirty="0"/>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3</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3</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dirty="0"/>
              <a:t>[Nika]</a:t>
            </a:r>
            <a:r>
              <a:rPr lang="en" dirty="0"/>
              <a:t> </a:t>
            </a:r>
          </a:p>
          <a:p>
            <a:pPr marL="182880" lvl="0" indent="-154940" algn="l" rtl="0">
              <a:spcBef>
                <a:spcPts val="0"/>
              </a:spcBef>
              <a:spcAft>
                <a:spcPts val="0"/>
              </a:spcAft>
              <a:buSzPts val="1000"/>
              <a:buChar char="●"/>
            </a:pPr>
            <a:r>
              <a:rPr lang="en-GB" dirty="0"/>
              <a:t>I’ve really noticed how much effort you’ve put in this week, and it’s definitely paying off! Your understanding of the concepts we’re working through, especially around fairness and model evaluation, is strong. I love how you’ve been able to explain things clearly and keep the depth without making it overly complicated, which is no easy feat.</a:t>
            </a:r>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a:t>
            </a:r>
            <a:r>
              <a:rPr lang="en-NL"/>
              <a:t>2</a:t>
            </a:r>
            <a:endParaRPr/>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3</a:t>
            </a:r>
            <a:endParaRPr/>
          </a:p>
        </p:txBody>
      </p:sp>
      <p:sp>
        <p:nvSpPr>
          <p:cNvPr id="2" name="TextBox 1">
            <a:extLst>
              <a:ext uri="{FF2B5EF4-FFF2-40B4-BE49-F238E27FC236}">
                <a16:creationId xmlns:a16="http://schemas.microsoft.com/office/drawing/2014/main" id="{57005A09-96B9-89F6-6E66-A99797F4FBA1}"/>
              </a:ext>
            </a:extLst>
          </p:cNvPr>
          <p:cNvSpPr txBox="1"/>
          <p:nvPr/>
        </p:nvSpPr>
        <p:spPr>
          <a:xfrm>
            <a:off x="4832195" y="758952"/>
            <a:ext cx="3650166" cy="1615827"/>
          </a:xfrm>
          <a:prstGeom prst="rect">
            <a:avLst/>
          </a:prstGeom>
          <a:noFill/>
        </p:spPr>
        <p:txBody>
          <a:bodyPr wrap="square" rtlCol="0">
            <a:spAutoFit/>
          </a:bodyPr>
          <a:lstStyle/>
          <a:p>
            <a:r>
              <a:rPr lang="en-GB" sz="1100" dirty="0">
                <a:solidFill>
                  <a:schemeClr val="bg1"/>
                </a:solidFill>
                <a:latin typeface="Roboto" panose="02000000000000000000" pitchFamily="2" charset="0"/>
                <a:ea typeface="Roboto" panose="02000000000000000000" pitchFamily="2" charset="0"/>
                <a:cs typeface="Roboto" panose="02000000000000000000" pitchFamily="2" charset="0"/>
              </a:rPr>
              <a:t>Response</a:t>
            </a:r>
          </a:p>
          <a:p>
            <a:endParaRPr lang="en-GB" sz="1100" dirty="0">
              <a:solidFill>
                <a:schemeClr val="bg1"/>
              </a:solidFill>
              <a:latin typeface="Roboto" panose="02000000000000000000" pitchFamily="2" charset="0"/>
              <a:ea typeface="Roboto" panose="02000000000000000000" pitchFamily="2" charset="0"/>
              <a:cs typeface="Roboto" panose="02000000000000000000" pitchFamily="2" charset="0"/>
            </a:endParaRPr>
          </a:p>
          <a:p>
            <a:r>
              <a:rPr lang="en-GB" sz="1100" dirty="0">
                <a:solidFill>
                  <a:schemeClr val="bg1"/>
                </a:solidFill>
                <a:latin typeface="Roboto" panose="02000000000000000000" pitchFamily="2" charset="0"/>
                <a:ea typeface="Roboto" panose="02000000000000000000" pitchFamily="2" charset="0"/>
                <a:cs typeface="Roboto" panose="02000000000000000000" pitchFamily="2" charset="0"/>
              </a:rPr>
              <a:t>Thanks so much for the feedback, Nik! I really appreciate your support and encouragement. I feel like I’ve made some good progress this week, and it’s motivating to hear that it’s noticeable. I’m definitely getting more comfortable with coding, and I’ll keep focusing on balancing the theory with the practical work.</a:t>
            </a:r>
            <a:endParaRPr lang="en-NL" sz="110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4</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solidFill>
                  <a:srgbClr val="F7C7AC"/>
                </a:solidFill>
              </a:rPr>
              <a:t>What goal(s) did you set for this week?</a:t>
            </a:r>
          </a:p>
          <a:p>
            <a:pPr marL="182880" lvl="0" indent="-154940" algn="l" rtl="0">
              <a:spcBef>
                <a:spcPts val="0"/>
              </a:spcBef>
              <a:spcAft>
                <a:spcPts val="0"/>
              </a:spcAft>
              <a:buSzPts val="1000"/>
              <a:buChar char="●"/>
            </a:pPr>
            <a:r>
              <a:rPr lang="en-GB" dirty="0"/>
              <a:t>My goals for Week 4 were to strengthen my understanding of Convolutional Neural Networks (CNNs), improve my ability to apply CNNs in real-world projects, and deepen my knowledge of usability testing and user research. Additionally, I aimed to implement data augmentation and transfer learning in my CNN models to improve their performance, especially for small datasets.</a:t>
            </a:r>
            <a:endParaRPr dirty="0"/>
          </a:p>
          <a:p>
            <a:pPr marL="182880" lvl="0" indent="-154940" algn="l" rtl="0">
              <a:spcBef>
                <a:spcPts val="0"/>
              </a:spcBef>
              <a:spcAft>
                <a:spcPts val="0"/>
              </a:spcAft>
              <a:buSzPts val="1000"/>
              <a:buChar char="●"/>
            </a:pPr>
            <a:r>
              <a:rPr lang="en" dirty="0">
                <a:solidFill>
                  <a:srgbClr val="F7C7AC"/>
                </a:solidFill>
              </a:rPr>
              <a:t>What have you actually been able to do? </a:t>
            </a:r>
          </a:p>
          <a:p>
            <a:pPr marL="182880" lvl="0" indent="-154940" algn="l" rtl="0">
              <a:spcBef>
                <a:spcPts val="0"/>
              </a:spcBef>
              <a:spcAft>
                <a:spcPts val="0"/>
              </a:spcAft>
              <a:buSzPts val="1000"/>
              <a:buChar char="●"/>
            </a:pPr>
            <a:r>
              <a:rPr lang="en-GB" dirty="0">
                <a:solidFill>
                  <a:schemeClr val="bg1"/>
                </a:solidFill>
              </a:rPr>
              <a:t>This week, I completed the DataCamp course on CNNs with Keras, trained and evaluated my CNN model, applied data augmentation and transfer learning (using </a:t>
            </a:r>
            <a:r>
              <a:rPr lang="en-GB" dirty="0" err="1">
                <a:solidFill>
                  <a:schemeClr val="bg1"/>
                </a:solidFill>
              </a:rPr>
              <a:t>MobileNet</a:t>
            </a:r>
            <a:r>
              <a:rPr lang="en-GB" dirty="0">
                <a:solidFill>
                  <a:schemeClr val="bg1"/>
                </a:solidFill>
              </a:rPr>
              <a:t>), and studied UX research and usability testing. I also finished the related quizzes and learned how to improve model performance and design effective user tests</a:t>
            </a:r>
            <a:r>
              <a:rPr lang="en-GB" dirty="0">
                <a:solidFill>
                  <a:srgbClr val="F7C7AC"/>
                </a:solidFill>
              </a:rPr>
              <a:t>.</a:t>
            </a:r>
            <a:endParaRPr dirty="0">
              <a:solidFill>
                <a:srgbClr val="F7C7AC"/>
              </a:solidFill>
            </a:endParaRPr>
          </a:p>
          <a:p>
            <a:pPr marL="182880" lvl="0" indent="-154940" algn="l" rtl="0">
              <a:spcBef>
                <a:spcPts val="0"/>
              </a:spcBef>
              <a:spcAft>
                <a:spcPts val="0"/>
              </a:spcAft>
              <a:buSzPts val="1000"/>
              <a:buChar char="●"/>
            </a:pPr>
            <a:r>
              <a:rPr lang="en" dirty="0">
                <a:solidFill>
                  <a:srgbClr val="F7C7AC"/>
                </a:solidFill>
              </a:rPr>
              <a:t>Showcase the evidence of your progress (production artifacts, short descriptions-links-pictures animated gifs, etc.)</a:t>
            </a:r>
          </a:p>
          <a:p>
            <a:pPr marL="182880" lvl="0" indent="-154940" algn="l" rtl="0">
              <a:spcBef>
                <a:spcPts val="0"/>
              </a:spcBef>
              <a:spcAft>
                <a:spcPts val="0"/>
              </a:spcAft>
              <a:buSzPts val="1000"/>
              <a:buChar char="●"/>
            </a:pPr>
            <a:r>
              <a:rPr lang="en-GB" dirty="0">
                <a:solidFill>
                  <a:srgbClr val="F7C7AC"/>
                </a:solidFill>
                <a:hlinkClick r:id="rId3"/>
              </a:rPr>
              <a:t>https://github.com/BredaUniversityADSAI/2024-25c-fai1-adsai-CerenKurt243910/tree/main/Week%204</a:t>
            </a:r>
            <a:endParaRPr lang="en-GB" dirty="0">
              <a:solidFill>
                <a:srgbClr val="F7C7AC"/>
              </a:solidFill>
            </a:endParaRPr>
          </a:p>
          <a:p>
            <a:pPr marL="182880" lvl="0" indent="-154940" algn="l" rtl="0">
              <a:spcBef>
                <a:spcPts val="0"/>
              </a:spcBef>
              <a:spcAft>
                <a:spcPts val="0"/>
              </a:spcAft>
              <a:buSzPts val="1000"/>
              <a:buChar char="●"/>
            </a:pPr>
            <a:endParaRPr dirty="0">
              <a:solidFill>
                <a:srgbClr val="F7C7AC"/>
              </a:solidFill>
            </a:endParaRPr>
          </a:p>
        </p:txBody>
      </p:sp>
      <p:sp>
        <p:nvSpPr>
          <p:cNvPr id="227" name="Google Shape;227;p26"/>
          <p:cNvSpPr txBox="1">
            <a:spLocks noGrp="1"/>
          </p:cNvSpPr>
          <p:nvPr>
            <p:ph type="body" idx="3"/>
          </p:nvPr>
        </p:nvSpPr>
        <p:spPr>
          <a:xfrm>
            <a:off x="4477375" y="1152698"/>
            <a:ext cx="4483875"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solidFill>
                  <a:srgbClr val="F7C7AC"/>
                </a:solidFill>
              </a:rPr>
              <a:t>How did the week go?</a:t>
            </a:r>
          </a:p>
          <a:p>
            <a:pPr marL="182880" lvl="0" indent="-154940" algn="l" rtl="0">
              <a:spcBef>
                <a:spcPts val="0"/>
              </a:spcBef>
              <a:spcAft>
                <a:spcPts val="0"/>
              </a:spcAft>
              <a:buSzPts val="1000"/>
              <a:buChar char="●"/>
            </a:pPr>
            <a:r>
              <a:rPr lang="en-GB" dirty="0"/>
              <a:t>This week went smoothly and I made significant progress in understanding both the theoretical and practical aspects of CNNs.</a:t>
            </a:r>
          </a:p>
          <a:p>
            <a:pPr marL="182880" lvl="0" indent="-154940" algn="l" rtl="0">
              <a:spcBef>
                <a:spcPts val="0"/>
              </a:spcBef>
              <a:spcAft>
                <a:spcPts val="0"/>
              </a:spcAft>
              <a:buSzPts val="1000"/>
              <a:buChar char="●"/>
            </a:pPr>
            <a:r>
              <a:rPr lang="en" dirty="0">
                <a:solidFill>
                  <a:srgbClr val="F7C7AC"/>
                </a:solidFill>
              </a:rPr>
              <a:t>What went well? </a:t>
            </a:r>
          </a:p>
          <a:p>
            <a:pPr>
              <a:buNone/>
            </a:pPr>
            <a:r>
              <a:rPr lang="en-GB" dirty="0"/>
              <a:t>I was able to complete the necessary courses and quizzes, applying my learning to practical tasks like training a CNN and implementing data augmentation. Transfer learning also proved to be an effective strategy for improving my model’s performance</a:t>
            </a:r>
            <a:endParaRPr lang="en" dirty="0">
              <a:solidFill>
                <a:srgbClr val="F7C7AC"/>
              </a:solidFill>
            </a:endParaRPr>
          </a:p>
          <a:p>
            <a:pPr marL="182880" lvl="0" indent="-154940" algn="l" rtl="0">
              <a:spcBef>
                <a:spcPts val="0"/>
              </a:spcBef>
              <a:spcAft>
                <a:spcPts val="0"/>
              </a:spcAft>
              <a:buSzPts val="1000"/>
              <a:buChar char="●"/>
            </a:pPr>
            <a:endParaRPr dirty="0">
              <a:solidFill>
                <a:srgbClr val="F7C7AC"/>
              </a:solidFill>
            </a:endParaRPr>
          </a:p>
          <a:p>
            <a:pPr marL="182880" lvl="0" indent="-154940" algn="l" rtl="0">
              <a:spcBef>
                <a:spcPts val="0"/>
              </a:spcBef>
              <a:spcAft>
                <a:spcPts val="0"/>
              </a:spcAft>
              <a:buSzPts val="1000"/>
              <a:buChar char="●"/>
            </a:pPr>
            <a:r>
              <a:rPr lang="en" dirty="0">
                <a:solidFill>
                  <a:srgbClr val="F7C7AC"/>
                </a:solidFill>
              </a:rPr>
              <a:t>What didn’t go so well? </a:t>
            </a:r>
          </a:p>
          <a:p>
            <a:pPr marL="182880" lvl="0" indent="-154940" algn="l" rtl="0">
              <a:spcBef>
                <a:spcPts val="0"/>
              </a:spcBef>
              <a:spcAft>
                <a:spcPts val="0"/>
              </a:spcAft>
              <a:buSzPts val="1000"/>
              <a:buChar char="●"/>
            </a:pPr>
            <a:r>
              <a:rPr lang="en-GB" dirty="0"/>
              <a:t>Although I made progress, I did face challenges in fine-tuning the CNN model to improve its validation accuracy. I realized that more experimentation with different architectures and hyperparameters could help further enhance model performance.</a:t>
            </a:r>
            <a:endParaRPr dirty="0">
              <a:solidFill>
                <a:srgbClr val="F7C7AC"/>
              </a:solidFill>
            </a:endParaRPr>
          </a:p>
          <a:p>
            <a:pPr marL="182880" lvl="0" indent="-154940" algn="l" rtl="0">
              <a:spcBef>
                <a:spcPts val="0"/>
              </a:spcBef>
              <a:spcAft>
                <a:spcPts val="0"/>
              </a:spcAft>
              <a:buSzPts val="1000"/>
              <a:buChar char="●"/>
            </a:pPr>
            <a:r>
              <a:rPr lang="en" dirty="0">
                <a:solidFill>
                  <a:srgbClr val="F7C7AC"/>
                </a:solidFill>
              </a:rPr>
              <a:t>What did you learn?</a:t>
            </a:r>
          </a:p>
          <a:p>
            <a:pPr marL="182880" lvl="0" indent="-154940" algn="l" rtl="0">
              <a:spcBef>
                <a:spcPts val="0"/>
              </a:spcBef>
              <a:spcAft>
                <a:spcPts val="0"/>
              </a:spcAft>
              <a:buSzPts val="1000"/>
              <a:buChar char="●"/>
            </a:pPr>
            <a:r>
              <a:rPr lang="en-GB" dirty="0"/>
              <a:t>I learned how to use data augmentation to make my model more resilient to overfitting and how transfer learning can significantly improve the performance of models, especially when working with smaller datasets. I also gained insights into how usability testing can guide the design process of a user interface.</a:t>
            </a:r>
            <a:r>
              <a:rPr lang="en" dirty="0">
                <a:solidFill>
                  <a:srgbClr val="F7C7AC"/>
                </a:solidFill>
              </a:rPr>
              <a:t> </a:t>
            </a:r>
            <a:endParaRPr dirty="0">
              <a:solidFill>
                <a:srgbClr val="F7C7AC"/>
              </a:solidFill>
            </a:endParaRPr>
          </a:p>
          <a:p>
            <a:pPr marL="182880" lvl="0" indent="-154940" algn="l" rtl="0">
              <a:spcBef>
                <a:spcPts val="0"/>
              </a:spcBef>
              <a:spcAft>
                <a:spcPts val="0"/>
              </a:spcAft>
              <a:buSzPts val="1000"/>
              <a:buChar char="●"/>
            </a:pPr>
            <a:r>
              <a:rPr lang="en" dirty="0">
                <a:solidFill>
                  <a:srgbClr val="F7C7AC"/>
                </a:solidFill>
              </a:rPr>
              <a:t>What could be added as an Action point looking forward to next week?</a:t>
            </a:r>
          </a:p>
          <a:p>
            <a:pPr marL="182880" indent="-154940"/>
            <a:r>
              <a:rPr lang="en-GB" dirty="0"/>
              <a:t>Next week, I plan to further explore hyperparameter optimization to improve my CNN model's accuracy. I also aim to finalize the user testing process and incorporate feedback to refine the user interface for my creative brief project.</a:t>
            </a:r>
          </a:p>
          <a:p>
            <a:pPr marL="182880" lvl="0" indent="-154940" algn="l" rtl="0">
              <a:spcBef>
                <a:spcPts val="0"/>
              </a:spcBef>
              <a:spcAft>
                <a:spcPts val="0"/>
              </a:spcAft>
              <a:buSzPts val="1000"/>
              <a:buChar char="●"/>
            </a:pPr>
            <a:endParaRPr lang="en" dirty="0">
              <a:solidFill>
                <a:srgbClr val="F7C7AC"/>
              </a:solidFill>
            </a:endParaRPr>
          </a:p>
          <a:p>
            <a:pPr marL="182880" lvl="0" indent="-154940" algn="l" rtl="0">
              <a:spcBef>
                <a:spcPts val="0"/>
              </a:spcBef>
              <a:spcAft>
                <a:spcPts val="0"/>
              </a:spcAft>
              <a:buSzPts val="1000"/>
              <a:buChar char="●"/>
            </a:pPr>
            <a:endParaRPr dirty="0">
              <a:solidFill>
                <a:srgbClr val="F7C7AC"/>
              </a:solidFill>
            </a:endParaRPr>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4</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999733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4</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dirty="0"/>
              <a:t>[Nazeer]</a:t>
            </a:r>
            <a:r>
              <a:rPr lang="en" dirty="0"/>
              <a:t> Feedback</a:t>
            </a:r>
            <a:endParaRPr dirty="0"/>
          </a:p>
          <a:p>
            <a:pPr>
              <a:buNone/>
            </a:pPr>
            <a:r>
              <a:rPr lang="en-GB" dirty="0"/>
              <a:t>Ceren has made excellent progress this week. She's clearly dedicating time to both understanding the theoretical concepts and applying them practically, especially with CNNs and transfer learning. The fact that she applied data augmentation and transfer learning on her CNN model shows she's going beyond basic learning and working to optimize the model. The reflection on usability testing and user research also highlights her holistic approach to the project.</a:t>
            </a:r>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a:t>
            </a:r>
            <a:r>
              <a:rPr lang="en-NL"/>
              <a:t>2</a:t>
            </a:r>
            <a:endParaRPr/>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4</a:t>
            </a:r>
            <a:endParaRPr/>
          </a:p>
        </p:txBody>
      </p:sp>
      <p:sp>
        <p:nvSpPr>
          <p:cNvPr id="2" name="TextBox 1">
            <a:extLst>
              <a:ext uri="{FF2B5EF4-FFF2-40B4-BE49-F238E27FC236}">
                <a16:creationId xmlns:a16="http://schemas.microsoft.com/office/drawing/2014/main" id="{EAF23C33-5821-7529-095E-A3BA295AE74E}"/>
              </a:ext>
            </a:extLst>
          </p:cNvPr>
          <p:cNvSpPr txBox="1"/>
          <p:nvPr/>
        </p:nvSpPr>
        <p:spPr>
          <a:xfrm>
            <a:off x="5263376" y="758952"/>
            <a:ext cx="3412273" cy="1384995"/>
          </a:xfrm>
          <a:prstGeom prst="rect">
            <a:avLst/>
          </a:prstGeom>
          <a:noFill/>
        </p:spPr>
        <p:txBody>
          <a:bodyPr wrap="square" rtlCol="0">
            <a:spAutoFit/>
          </a:bodyPr>
          <a:lstStyle/>
          <a:p>
            <a:r>
              <a:rPr lang="en-GB" dirty="0">
                <a:solidFill>
                  <a:schemeClr val="bg1"/>
                </a:solidFill>
                <a:latin typeface="Roboto" panose="02000000000000000000" pitchFamily="2" charset="0"/>
                <a:ea typeface="Roboto" panose="02000000000000000000" pitchFamily="2" charset="0"/>
                <a:cs typeface="Roboto" panose="02000000000000000000" pitchFamily="2" charset="0"/>
              </a:rPr>
              <a:t>Response:</a:t>
            </a:r>
            <a:endParaRPr lang="en-GB" sz="1000" dirty="0">
              <a:solidFill>
                <a:schemeClr val="bg1"/>
              </a:solidFill>
              <a:latin typeface="Roboto" panose="02000000000000000000" pitchFamily="2" charset="0"/>
              <a:ea typeface="Roboto" panose="02000000000000000000" pitchFamily="2" charset="0"/>
              <a:cs typeface="Roboto" panose="02000000000000000000" pitchFamily="2" charset="0"/>
            </a:endParaRPr>
          </a:p>
          <a:p>
            <a:r>
              <a:rPr lang="en-GB" sz="1000" dirty="0">
                <a:solidFill>
                  <a:schemeClr val="bg1"/>
                </a:solidFill>
                <a:latin typeface="Roboto" panose="02000000000000000000" pitchFamily="2" charset="0"/>
                <a:ea typeface="Roboto" panose="02000000000000000000" pitchFamily="2" charset="0"/>
                <a:cs typeface="Roboto" panose="02000000000000000000" pitchFamily="2" charset="0"/>
              </a:rPr>
              <a:t>Thank you so much for your feedback, Nazeer! I really appreciate your support and the encouragement. This week has been a great learning experience, especially with applying concepts like data augmentation and transfer learning. I’m glad to hear that my progress in both understanding and implementing the material is visible. </a:t>
            </a:r>
          </a:p>
        </p:txBody>
      </p:sp>
    </p:spTree>
    <p:extLst>
      <p:ext uri="{BB962C8B-B14F-4D97-AF65-F5344CB8AC3E}">
        <p14:creationId xmlns:p14="http://schemas.microsoft.com/office/powerpoint/2010/main" val="33669520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5</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solidFill>
                  <a:srgbClr val="F7C7AC"/>
                </a:solidFill>
              </a:rPr>
              <a:t>What goal(s) did you set for this week?</a:t>
            </a:r>
          </a:p>
          <a:p>
            <a:pPr marL="182880" lvl="0" indent="-154940" algn="l" rtl="0">
              <a:spcBef>
                <a:spcPts val="0"/>
              </a:spcBef>
              <a:spcAft>
                <a:spcPts val="0"/>
              </a:spcAft>
              <a:buSzPts val="1000"/>
              <a:buChar char="●"/>
            </a:pPr>
            <a:r>
              <a:rPr lang="en-GB" dirty="0"/>
              <a:t>This week, I aimed to deepen my understanding of the machine learning project lifecycle, specifically focusing on model improvement through data augmentation and transfer learning. I also planned to reflect on Human-Centered AI (HCAI) principles and how they can be applied to my project. Additionally, I wanted to work on error analysis, enhance my image classification model, and prepare for deployment challenges in real-world ML applications.</a:t>
            </a:r>
            <a:endParaRPr dirty="0">
              <a:solidFill>
                <a:srgbClr val="F7C7AC"/>
              </a:solidFill>
            </a:endParaRPr>
          </a:p>
          <a:p>
            <a:pPr marL="182880" lvl="0" indent="-154940" algn="l" rtl="0">
              <a:spcBef>
                <a:spcPts val="0"/>
              </a:spcBef>
              <a:spcAft>
                <a:spcPts val="0"/>
              </a:spcAft>
              <a:buSzPts val="1000"/>
              <a:buChar char="●"/>
            </a:pPr>
            <a:r>
              <a:rPr lang="en" dirty="0">
                <a:solidFill>
                  <a:srgbClr val="F7C7AC"/>
                </a:solidFill>
              </a:rPr>
              <a:t>What have you actually been able to do?</a:t>
            </a:r>
          </a:p>
          <a:p>
            <a:pPr marL="182880" lvl="0" indent="-154940" algn="l" rtl="0">
              <a:spcBef>
                <a:spcPts val="0"/>
              </a:spcBef>
              <a:spcAft>
                <a:spcPts val="0"/>
              </a:spcAft>
              <a:buSzPts val="1000"/>
              <a:buChar char="●"/>
            </a:pPr>
            <a:r>
              <a:rPr lang="en-GB" dirty="0"/>
              <a:t>I was able to accomplish most of my set goals this week. I studied Chapter 6 from </a:t>
            </a:r>
            <a:r>
              <a:rPr lang="en-GB" i="1" dirty="0"/>
              <a:t>Deep Learning with Python</a:t>
            </a:r>
            <a:r>
              <a:rPr lang="en-GB" dirty="0"/>
              <a:t>, which helped me better understand the iterative nature of machine learning workflows. I also completed several videos from Andrew Ng’s </a:t>
            </a:r>
            <a:r>
              <a:rPr lang="en-GB" i="1" dirty="0"/>
              <a:t>Machine Learning in Production</a:t>
            </a:r>
            <a:r>
              <a:rPr lang="en-GB" dirty="0"/>
              <a:t> course, gaining insights into deployment challenges and the "proof of concept to production" gap. On the model improvement side, I applied data augmentation and used </a:t>
            </a:r>
            <a:r>
              <a:rPr lang="en-GB" dirty="0" err="1"/>
              <a:t>MobileNet</a:t>
            </a:r>
            <a:r>
              <a:rPr lang="en-GB" dirty="0"/>
              <a:t> for transfer learning, which resulted in significant performance improvements for my image classification model. Additionally, I conducted error analysis, categorizing misclassified images and identifying error types like "background confusion" and "occlusions."</a:t>
            </a:r>
            <a:r>
              <a:rPr lang="en" dirty="0">
                <a:solidFill>
                  <a:srgbClr val="F7C7AC"/>
                </a:solidFill>
              </a:rPr>
              <a:t> </a:t>
            </a:r>
            <a:endParaRPr dirty="0">
              <a:solidFill>
                <a:srgbClr val="F7C7AC"/>
              </a:solidFill>
            </a:endParaRPr>
          </a:p>
          <a:p>
            <a:pPr marL="182880" lvl="0" indent="-154940" algn="l" rtl="0">
              <a:spcBef>
                <a:spcPts val="0"/>
              </a:spcBef>
              <a:spcAft>
                <a:spcPts val="0"/>
              </a:spcAft>
              <a:buSzPts val="1000"/>
              <a:buChar char="●"/>
            </a:pPr>
            <a:r>
              <a:rPr lang="en" dirty="0">
                <a:solidFill>
                  <a:srgbClr val="F7C7AC"/>
                </a:solidFill>
              </a:rPr>
              <a:t>Showcase the evidence of your progress (production artifacts, short descriptions-links-pictures animated gifs, etc.)</a:t>
            </a:r>
          </a:p>
          <a:p>
            <a:pPr marL="182880" lvl="0" indent="-154940" algn="l" rtl="0">
              <a:spcBef>
                <a:spcPts val="0"/>
              </a:spcBef>
              <a:spcAft>
                <a:spcPts val="0"/>
              </a:spcAft>
              <a:buSzPts val="1000"/>
              <a:buChar char="●"/>
            </a:pPr>
            <a:r>
              <a:rPr lang="en-GB" dirty="0">
                <a:solidFill>
                  <a:srgbClr val="F7C7AC"/>
                </a:solidFill>
                <a:hlinkClick r:id="rId3"/>
              </a:rPr>
              <a:t>https://github.com/BredaUniversityADSAI/2024-25c-fai1-adsai-CerenKurt243910/tree/main/Week%205</a:t>
            </a:r>
            <a:endParaRPr lang="en" dirty="0">
              <a:solidFill>
                <a:srgbClr val="F7C7AC"/>
              </a:solidFill>
            </a:endParaRPr>
          </a:p>
          <a:p>
            <a:pPr marL="182880" lvl="0" indent="-154940" algn="l" rtl="0">
              <a:spcBef>
                <a:spcPts val="0"/>
              </a:spcBef>
              <a:spcAft>
                <a:spcPts val="0"/>
              </a:spcAft>
              <a:buSzPts val="1000"/>
              <a:buChar char="●"/>
            </a:pPr>
            <a:endParaRPr lang="en" dirty="0">
              <a:solidFill>
                <a:srgbClr val="F7C7AC"/>
              </a:solidFill>
            </a:endParaRPr>
          </a:p>
          <a:p>
            <a:pPr marL="182880" lvl="0" indent="-154940" algn="l" rtl="0">
              <a:spcBef>
                <a:spcPts val="0"/>
              </a:spcBef>
              <a:spcAft>
                <a:spcPts val="0"/>
              </a:spcAft>
              <a:buSzPts val="1000"/>
              <a:buChar char="●"/>
            </a:pPr>
            <a:endParaRPr dirty="0">
              <a:solidFill>
                <a:srgbClr val="F7C7AC"/>
              </a:solidFill>
            </a:endParaRPr>
          </a:p>
        </p:txBody>
      </p:sp>
      <p:sp>
        <p:nvSpPr>
          <p:cNvPr id="227" name="Google Shape;227;p26"/>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sz="800" dirty="0">
                <a:solidFill>
                  <a:srgbClr val="F7C7AC"/>
                </a:solidFill>
              </a:rPr>
              <a:t>How did the week go?</a:t>
            </a:r>
          </a:p>
          <a:p>
            <a:pPr marL="182880" lvl="0" indent="-154940" algn="l" rtl="0">
              <a:spcBef>
                <a:spcPts val="0"/>
              </a:spcBef>
              <a:spcAft>
                <a:spcPts val="0"/>
              </a:spcAft>
              <a:buSzPts val="1000"/>
              <a:buChar char="●"/>
            </a:pPr>
            <a:r>
              <a:rPr lang="en" sz="800" dirty="0">
                <a:solidFill>
                  <a:schemeClr val="bg1"/>
                </a:solidFill>
              </a:rPr>
              <a:t>The overall it was good but at the same time hard. </a:t>
            </a:r>
          </a:p>
          <a:p>
            <a:pPr marL="182880" lvl="0" indent="-154940" algn="l" rtl="0">
              <a:spcBef>
                <a:spcPts val="0"/>
              </a:spcBef>
              <a:spcAft>
                <a:spcPts val="0"/>
              </a:spcAft>
              <a:buSzPts val="1000"/>
              <a:buChar char="●"/>
            </a:pPr>
            <a:r>
              <a:rPr lang="en" sz="800" dirty="0">
                <a:solidFill>
                  <a:srgbClr val="F7C7AC"/>
                </a:solidFill>
              </a:rPr>
              <a:t>What went well? </a:t>
            </a:r>
          </a:p>
          <a:p>
            <a:pPr marL="182880" indent="-154940"/>
            <a:r>
              <a:rPr lang="en-GB" sz="800" dirty="0"/>
              <a:t>This week, I made great strides in understanding and applying error analysis and model improvement techniques. Data augmentation and transfer learning gave me noticeable performance improvements, and the error analysis process helped me pinpoint areas that need attention. Additionally, completing the HCAI reflection helped me align my project with ethical principles and user-</a:t>
            </a:r>
            <a:r>
              <a:rPr lang="en-GB" sz="800" dirty="0" err="1"/>
              <a:t>centered</a:t>
            </a:r>
            <a:r>
              <a:rPr lang="en-GB" sz="800" dirty="0"/>
              <a:t> values.</a:t>
            </a:r>
            <a:endParaRPr sz="800" dirty="0">
              <a:solidFill>
                <a:srgbClr val="F7C7AC"/>
              </a:solidFill>
            </a:endParaRPr>
          </a:p>
          <a:p>
            <a:pPr marL="182880" lvl="0" indent="-154940" algn="l" rtl="0">
              <a:spcBef>
                <a:spcPts val="0"/>
              </a:spcBef>
              <a:spcAft>
                <a:spcPts val="0"/>
              </a:spcAft>
              <a:buSzPts val="1000"/>
              <a:buChar char="●"/>
            </a:pPr>
            <a:r>
              <a:rPr lang="en" sz="800" dirty="0">
                <a:solidFill>
                  <a:srgbClr val="F7C7AC"/>
                </a:solidFill>
              </a:rPr>
              <a:t>What didn’t go so well? </a:t>
            </a:r>
          </a:p>
          <a:p>
            <a:pPr marL="182880" lvl="0" indent="-154940" algn="l" rtl="0">
              <a:spcBef>
                <a:spcPts val="0"/>
              </a:spcBef>
              <a:spcAft>
                <a:spcPts val="0"/>
              </a:spcAft>
              <a:buSzPts val="1000"/>
              <a:buChar char="●"/>
            </a:pPr>
            <a:r>
              <a:rPr lang="en-GB" sz="800" dirty="0"/>
              <a:t>While I made progress, I encountered challenges during the error analysis, where I identified several misclassification issues that I hadn’t anticipated. These issues revealed that my dataset and model still need further refinement, especially when it comes to label consistency and handling specific error categories like "occlusions" and "background confusion."</a:t>
            </a:r>
            <a:endParaRPr sz="800" dirty="0">
              <a:solidFill>
                <a:srgbClr val="F7C7AC"/>
              </a:solidFill>
            </a:endParaRPr>
          </a:p>
          <a:p>
            <a:pPr marL="182880" lvl="0" indent="-154940" algn="l" rtl="0">
              <a:spcBef>
                <a:spcPts val="0"/>
              </a:spcBef>
              <a:spcAft>
                <a:spcPts val="0"/>
              </a:spcAft>
              <a:buSzPts val="1000"/>
              <a:buChar char="●"/>
            </a:pPr>
            <a:r>
              <a:rPr lang="en" sz="800" dirty="0">
                <a:solidFill>
                  <a:srgbClr val="F7C7AC"/>
                </a:solidFill>
              </a:rPr>
              <a:t>What did you learn? </a:t>
            </a:r>
          </a:p>
          <a:p>
            <a:pPr marL="182880" lvl="0" indent="-154940" algn="l" rtl="0">
              <a:spcBef>
                <a:spcPts val="0"/>
              </a:spcBef>
              <a:spcAft>
                <a:spcPts val="0"/>
              </a:spcAft>
              <a:buSzPts val="1000"/>
              <a:buChar char="●"/>
            </a:pPr>
            <a:r>
              <a:rPr lang="en-GB" sz="800" dirty="0"/>
              <a:t>I learned that the machine learning project lifecycle is highly iterative, with each phase building on the previous one. Error analysis, in particular, is a crucial part of this process, as it provides insight into which areas of the model need improvement. Additionally, I learned how applying transfer learning can greatly improve model performance, especially when dealing with small datasets.</a:t>
            </a:r>
            <a:endParaRPr sz="800" dirty="0">
              <a:solidFill>
                <a:srgbClr val="F7C7AC"/>
              </a:solidFill>
            </a:endParaRPr>
          </a:p>
          <a:p>
            <a:pPr marL="182880" lvl="0" indent="-154940" algn="l" rtl="0">
              <a:spcBef>
                <a:spcPts val="0"/>
              </a:spcBef>
              <a:spcAft>
                <a:spcPts val="0"/>
              </a:spcAft>
              <a:buSzPts val="1000"/>
              <a:buChar char="●"/>
            </a:pPr>
            <a:r>
              <a:rPr lang="en" sz="800" dirty="0">
                <a:solidFill>
                  <a:srgbClr val="F7C7AC"/>
                </a:solidFill>
              </a:rPr>
              <a:t>What could be added as an Action point looking forward to next week?</a:t>
            </a:r>
            <a:endParaRPr lang="en" sz="800" dirty="0">
              <a:solidFill>
                <a:schemeClr val="bg1"/>
              </a:solidFill>
            </a:endParaRPr>
          </a:p>
          <a:p>
            <a:pPr marL="182880" lvl="0" indent="-154940" algn="l" rtl="0">
              <a:spcBef>
                <a:spcPts val="0"/>
              </a:spcBef>
              <a:spcAft>
                <a:spcPts val="0"/>
              </a:spcAft>
              <a:buSzPts val="1000"/>
              <a:buChar char="●"/>
            </a:pPr>
            <a:r>
              <a:rPr lang="en-GB" sz="800" dirty="0">
                <a:solidFill>
                  <a:schemeClr val="bg1"/>
                </a:solidFill>
              </a:rPr>
              <a:t>For next week, I plan to further refine my dataset by addressing the errors identified in the analysis, particularly focusing on label consistency and augmenting data for problematic categories. I also plan to continue optimizing my model by experimenting with different architectures and hyperparameter settings. Additionally, I want to explore deployment strategies and ensure that my model is ready for real-world applications, with a particular focus on how to ensure its fairness and ethical </a:t>
            </a:r>
            <a:r>
              <a:rPr lang="en-GB" sz="800" dirty="0" err="1">
                <a:solidFill>
                  <a:schemeClr val="bg1"/>
                </a:solidFill>
              </a:rPr>
              <a:t>implications.This</a:t>
            </a:r>
            <a:r>
              <a:rPr lang="en-GB" sz="800" dirty="0">
                <a:solidFill>
                  <a:schemeClr val="bg1"/>
                </a:solidFill>
              </a:rPr>
              <a:t> format keeps everything aligned with the questions you provided. Let me know if you'd like to adjust</a:t>
            </a:r>
            <a:endParaRPr sz="800" dirty="0">
              <a:solidFill>
                <a:schemeClr val="bg1"/>
              </a:solidFill>
            </a:endParaRPr>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5</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831408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5</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dirty="0"/>
              <a:t>[Asma Moghimi]</a:t>
            </a:r>
            <a:r>
              <a:rPr lang="en" dirty="0"/>
              <a:t> Feedback</a:t>
            </a:r>
            <a:endParaRPr dirty="0"/>
          </a:p>
          <a:p>
            <a:pPr marL="0" lvl="0" indent="0" algn="l" rtl="0">
              <a:spcBef>
                <a:spcPts val="800"/>
              </a:spcBef>
              <a:spcAft>
                <a:spcPts val="800"/>
              </a:spcAft>
              <a:buNone/>
            </a:pPr>
            <a:r>
              <a:rPr lang="en-GB" dirty="0"/>
              <a:t>Asma, I’ve noticed that you’ve been consistently thorough in your approach to tasks and have demonstrated a clear understanding of the material. Your ability to break down complex concepts, especially related to data analysis and machine learning, is impressive. I particularly appreciate the way you approach problem-solving; you don’t just solve the issue at hand but also reflect on the broader implications, which adds depth to your work.</a:t>
            </a:r>
            <a:endParaRPr dirty="0"/>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a:t>
            </a:r>
            <a:r>
              <a:rPr lang="en-NL"/>
              <a:t>2</a:t>
            </a:r>
            <a:endParaRPr/>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5</a:t>
            </a:r>
            <a:endParaRPr/>
          </a:p>
        </p:txBody>
      </p:sp>
      <p:sp>
        <p:nvSpPr>
          <p:cNvPr id="2" name="TextBox 1">
            <a:extLst>
              <a:ext uri="{FF2B5EF4-FFF2-40B4-BE49-F238E27FC236}">
                <a16:creationId xmlns:a16="http://schemas.microsoft.com/office/drawing/2014/main" id="{38552D82-805E-AE08-1F85-2D9C125A12D6}"/>
              </a:ext>
            </a:extLst>
          </p:cNvPr>
          <p:cNvSpPr txBox="1"/>
          <p:nvPr/>
        </p:nvSpPr>
        <p:spPr>
          <a:xfrm>
            <a:off x="5003180" y="869795"/>
            <a:ext cx="3575825" cy="2000548"/>
          </a:xfrm>
          <a:prstGeom prst="rect">
            <a:avLst/>
          </a:prstGeom>
          <a:noFill/>
        </p:spPr>
        <p:txBody>
          <a:bodyPr wrap="square" rtlCol="0">
            <a:spAutoFit/>
          </a:bodyPr>
          <a:lstStyle/>
          <a:p>
            <a:r>
              <a:rPr lang="en-GB" sz="1100" dirty="0">
                <a:solidFill>
                  <a:schemeClr val="bg1"/>
                </a:solidFill>
                <a:latin typeface="Roboto" panose="02000000000000000000" pitchFamily="2" charset="0"/>
                <a:ea typeface="Roboto" panose="02000000000000000000" pitchFamily="2" charset="0"/>
                <a:cs typeface="Roboto" panose="02000000000000000000" pitchFamily="2" charset="0"/>
              </a:rPr>
              <a:t>Response:</a:t>
            </a:r>
          </a:p>
          <a:p>
            <a:r>
              <a:rPr lang="en-GB" sz="1100" dirty="0">
                <a:solidFill>
                  <a:schemeClr val="bg1"/>
                </a:solidFill>
                <a:latin typeface="Roboto" panose="02000000000000000000" pitchFamily="2" charset="0"/>
                <a:ea typeface="Roboto" panose="02000000000000000000" pitchFamily="2" charset="0"/>
                <a:cs typeface="Roboto" panose="02000000000000000000" pitchFamily="2" charset="0"/>
              </a:rPr>
              <a:t>Thank you so much for your thoughtful feedback! I truly appreciate your kind words and your insights into my work. I’ve really enjoyed collaborating with you, and your constructive comments have motivated me to continue improving, especially in technical areas like data analysis and model evaluation. I’m grateful for your support throughout this journey, and I’m excited to keep learning and growing alongside you. Looking forward to working together more in the future!</a:t>
            </a:r>
          </a:p>
          <a:p>
            <a:endParaRPr lang="en-NL" dirty="0"/>
          </a:p>
        </p:txBody>
      </p:sp>
    </p:spTree>
    <p:extLst>
      <p:ext uri="{BB962C8B-B14F-4D97-AF65-F5344CB8AC3E}">
        <p14:creationId xmlns:p14="http://schemas.microsoft.com/office/powerpoint/2010/main" val="16006896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6</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solidFill>
                  <a:srgbClr val="F7C7AC"/>
                </a:solidFill>
              </a:rPr>
              <a:t>What goal(s) did you set for this week?</a:t>
            </a:r>
          </a:p>
          <a:p>
            <a:pPr marL="182880" lvl="0" indent="-154940" algn="l" rtl="0">
              <a:spcBef>
                <a:spcPts val="0"/>
              </a:spcBef>
              <a:spcAft>
                <a:spcPts val="0"/>
              </a:spcAft>
              <a:buSzPts val="1000"/>
              <a:buChar char="●"/>
            </a:pPr>
            <a:r>
              <a:rPr lang="en-GB" dirty="0"/>
              <a:t>This week, my goal was to deepen my understanding of data definition and </a:t>
            </a:r>
            <a:r>
              <a:rPr lang="en-GB" dirty="0" err="1"/>
              <a:t>labeling</a:t>
            </a:r>
            <a:r>
              <a:rPr lang="en-GB" dirty="0"/>
              <a:t> in machine learning, particularly how to define and organize data for effective model performance. I also aimed to prepare for the think-aloud study by focusing on business understanding and problem definition.</a:t>
            </a:r>
            <a:endParaRPr dirty="0">
              <a:solidFill>
                <a:srgbClr val="F7C7AC"/>
              </a:solidFill>
            </a:endParaRPr>
          </a:p>
          <a:p>
            <a:pPr marL="182880" lvl="0" indent="-154940" algn="l" rtl="0">
              <a:spcBef>
                <a:spcPts val="0"/>
              </a:spcBef>
              <a:spcAft>
                <a:spcPts val="0"/>
              </a:spcAft>
              <a:buSzPts val="1000"/>
              <a:buChar char="●"/>
            </a:pPr>
            <a:r>
              <a:rPr lang="en" dirty="0">
                <a:solidFill>
                  <a:srgbClr val="F7C7AC"/>
                </a:solidFill>
              </a:rPr>
              <a:t>What have you actually been able to do? </a:t>
            </a:r>
          </a:p>
          <a:p>
            <a:pPr marL="182880" lvl="0" indent="-154940" algn="l" rtl="0">
              <a:spcBef>
                <a:spcPts val="0"/>
              </a:spcBef>
              <a:spcAft>
                <a:spcPts val="0"/>
              </a:spcAft>
              <a:buSzPts val="1000"/>
              <a:buChar char="●"/>
            </a:pPr>
            <a:r>
              <a:rPr lang="en-GB" dirty="0"/>
              <a:t>I explored the challenges of data definition in machine learning, particularly with ambiguous </a:t>
            </a:r>
            <a:r>
              <a:rPr lang="en-GB" dirty="0" err="1"/>
              <a:t>labeling</a:t>
            </a:r>
            <a:r>
              <a:rPr lang="en-GB" dirty="0"/>
              <a:t>. I completed the quizzes on the machine learning lifecycle and data pipeline concepts, and worked on defining the problem for my project, ensuring it aligns with business goals and consumer needs. Additionally, I prepared for the think-aloud study and reviewed various transcription tools that could be useful for the study.</a:t>
            </a:r>
            <a:endParaRPr dirty="0">
              <a:solidFill>
                <a:srgbClr val="F7C7AC"/>
              </a:solidFill>
            </a:endParaRPr>
          </a:p>
          <a:p>
            <a:pPr marL="182880" lvl="0" indent="-154940" algn="l" rtl="0">
              <a:spcBef>
                <a:spcPts val="0"/>
              </a:spcBef>
              <a:spcAft>
                <a:spcPts val="0"/>
              </a:spcAft>
              <a:buSzPts val="1000"/>
              <a:buChar char="●"/>
            </a:pPr>
            <a:r>
              <a:rPr lang="en" dirty="0">
                <a:solidFill>
                  <a:srgbClr val="F7C7AC"/>
                </a:solidFill>
              </a:rPr>
              <a:t>Showcase the evidence of your progress (production artifacts, short descriptions-links-pictures animated gifs, etc.)</a:t>
            </a:r>
          </a:p>
          <a:p>
            <a:pPr marL="182880" lvl="0" indent="-154940" algn="l" rtl="0">
              <a:spcBef>
                <a:spcPts val="0"/>
              </a:spcBef>
              <a:spcAft>
                <a:spcPts val="0"/>
              </a:spcAft>
              <a:buSzPts val="1000"/>
              <a:buChar char="●"/>
            </a:pPr>
            <a:endParaRPr lang="en" dirty="0">
              <a:solidFill>
                <a:srgbClr val="F7C7AC"/>
              </a:solidFill>
            </a:endParaRPr>
          </a:p>
          <a:p>
            <a:pPr marL="182880" lvl="0" indent="-154940" algn="l" rtl="0">
              <a:spcBef>
                <a:spcPts val="0"/>
              </a:spcBef>
              <a:spcAft>
                <a:spcPts val="0"/>
              </a:spcAft>
              <a:buSzPts val="1000"/>
              <a:buChar char="●"/>
            </a:pPr>
            <a:r>
              <a:rPr lang="en-GB" dirty="0">
                <a:solidFill>
                  <a:srgbClr val="F7C7AC"/>
                </a:solidFill>
                <a:hlinkClick r:id="rId3"/>
              </a:rPr>
              <a:t>https://github.com/BredaUniversityADSAI/2024-25c-fai1-adsai-CerenKurt243910/tree/main/Week%206</a:t>
            </a:r>
            <a:endParaRPr lang="en" dirty="0">
              <a:solidFill>
                <a:srgbClr val="F7C7AC"/>
              </a:solidFill>
            </a:endParaRPr>
          </a:p>
          <a:p>
            <a:pPr marL="182880" lvl="0" indent="-154940" algn="l" rtl="0">
              <a:spcBef>
                <a:spcPts val="0"/>
              </a:spcBef>
              <a:spcAft>
                <a:spcPts val="0"/>
              </a:spcAft>
              <a:buSzPts val="1000"/>
              <a:buChar char="●"/>
            </a:pPr>
            <a:endParaRPr dirty="0">
              <a:solidFill>
                <a:srgbClr val="F7C7AC"/>
              </a:solidFill>
            </a:endParaRPr>
          </a:p>
        </p:txBody>
      </p:sp>
      <p:sp>
        <p:nvSpPr>
          <p:cNvPr id="227" name="Google Shape;227;p26"/>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solidFill>
                  <a:srgbClr val="F7C7AC"/>
                </a:solidFill>
              </a:rPr>
              <a:t>How did the week go? </a:t>
            </a:r>
          </a:p>
          <a:p>
            <a:pPr marL="182880" lvl="0" indent="-154940" algn="l" rtl="0">
              <a:spcBef>
                <a:spcPts val="0"/>
              </a:spcBef>
              <a:spcAft>
                <a:spcPts val="0"/>
              </a:spcAft>
              <a:buSzPts val="1000"/>
              <a:buChar char="●"/>
            </a:pPr>
            <a:r>
              <a:rPr lang="en-GB" dirty="0"/>
              <a:t>The week went well, as I was able to make progress in both the theoretical and practical aspects of my project.</a:t>
            </a:r>
            <a:endParaRPr dirty="0">
              <a:solidFill>
                <a:srgbClr val="F7C7AC"/>
              </a:solidFill>
            </a:endParaRPr>
          </a:p>
          <a:p>
            <a:pPr marL="182880" lvl="0" indent="-154940" algn="l" rtl="0">
              <a:spcBef>
                <a:spcPts val="0"/>
              </a:spcBef>
              <a:spcAft>
                <a:spcPts val="0"/>
              </a:spcAft>
              <a:buSzPts val="1000"/>
              <a:buChar char="●"/>
            </a:pPr>
            <a:r>
              <a:rPr lang="en" dirty="0">
                <a:solidFill>
                  <a:srgbClr val="F7C7AC"/>
                </a:solidFill>
              </a:rPr>
              <a:t>What went well? </a:t>
            </a:r>
          </a:p>
          <a:p>
            <a:pPr marL="182880" lvl="0" indent="-154940" algn="l" rtl="0">
              <a:spcBef>
                <a:spcPts val="0"/>
              </a:spcBef>
              <a:spcAft>
                <a:spcPts val="0"/>
              </a:spcAft>
              <a:buSzPts val="1000"/>
              <a:buChar char="●"/>
            </a:pPr>
            <a:r>
              <a:rPr lang="en-GB" dirty="0"/>
              <a:t>I successfully completed the quizzes and prepared the necessary documents like the DAPS diagram and business understanding template. The review of transcription tools also provided valuable insights for the upcoming study.</a:t>
            </a:r>
            <a:endParaRPr dirty="0">
              <a:solidFill>
                <a:srgbClr val="F7C7AC"/>
              </a:solidFill>
            </a:endParaRPr>
          </a:p>
          <a:p>
            <a:pPr marL="182880" lvl="0" indent="-154940" algn="l" rtl="0">
              <a:spcBef>
                <a:spcPts val="0"/>
              </a:spcBef>
              <a:spcAft>
                <a:spcPts val="0"/>
              </a:spcAft>
              <a:buSzPts val="1000"/>
              <a:buChar char="●"/>
            </a:pPr>
            <a:r>
              <a:rPr lang="en" dirty="0">
                <a:solidFill>
                  <a:srgbClr val="F7C7AC"/>
                </a:solidFill>
              </a:rPr>
              <a:t>What didn’t go so well? </a:t>
            </a:r>
          </a:p>
          <a:p>
            <a:pPr marL="182880" lvl="0" indent="-154940" algn="l" rtl="0">
              <a:spcBef>
                <a:spcPts val="0"/>
              </a:spcBef>
              <a:spcAft>
                <a:spcPts val="0"/>
              </a:spcAft>
              <a:buSzPts val="1000"/>
              <a:buChar char="●"/>
            </a:pPr>
            <a:r>
              <a:rPr lang="en-GB" dirty="0"/>
              <a:t>I encountered some challenges in fully grasping the nuances of ambiguous </a:t>
            </a:r>
            <a:r>
              <a:rPr lang="en-GB" dirty="0" err="1"/>
              <a:t>labeling</a:t>
            </a:r>
            <a:r>
              <a:rPr lang="en-GB" dirty="0"/>
              <a:t>, but watching the videos and doing additional research helped clarify these concepts.</a:t>
            </a:r>
            <a:endParaRPr dirty="0">
              <a:solidFill>
                <a:srgbClr val="F7C7AC"/>
              </a:solidFill>
            </a:endParaRPr>
          </a:p>
          <a:p>
            <a:pPr marL="182880" lvl="0" indent="-154940" algn="l" rtl="0">
              <a:spcBef>
                <a:spcPts val="0"/>
              </a:spcBef>
              <a:spcAft>
                <a:spcPts val="0"/>
              </a:spcAft>
              <a:buSzPts val="1000"/>
              <a:buChar char="●"/>
            </a:pPr>
            <a:r>
              <a:rPr lang="en" dirty="0">
                <a:solidFill>
                  <a:srgbClr val="F7C7AC"/>
                </a:solidFill>
              </a:rPr>
              <a:t>What did you learn? </a:t>
            </a:r>
          </a:p>
          <a:p>
            <a:pPr marL="182880" lvl="0" indent="-154940" algn="l" rtl="0">
              <a:spcBef>
                <a:spcPts val="0"/>
              </a:spcBef>
              <a:spcAft>
                <a:spcPts val="0"/>
              </a:spcAft>
              <a:buSzPts val="1000"/>
              <a:buChar char="●"/>
            </a:pPr>
            <a:r>
              <a:rPr lang="en-GB" dirty="0"/>
              <a:t>I learned how critical it is to clearly define data and labels, especially in machine learning projects with complex datasets. I also gained a deeper understanding of how the different phases in the ML project lifecycle, such as data preparation and problem definition, contribute to the model's success.</a:t>
            </a:r>
            <a:endParaRPr dirty="0">
              <a:solidFill>
                <a:srgbClr val="F7C7AC"/>
              </a:solidFill>
            </a:endParaRPr>
          </a:p>
          <a:p>
            <a:pPr marL="182880" lvl="0" indent="-154940" algn="l" rtl="0">
              <a:spcBef>
                <a:spcPts val="0"/>
              </a:spcBef>
              <a:spcAft>
                <a:spcPts val="0"/>
              </a:spcAft>
              <a:buSzPts val="1000"/>
              <a:buChar char="●"/>
            </a:pPr>
            <a:r>
              <a:rPr lang="en" dirty="0">
                <a:solidFill>
                  <a:srgbClr val="F7C7AC"/>
                </a:solidFill>
              </a:rPr>
              <a:t>What could be added as an Action point looking forward to next week?</a:t>
            </a:r>
          </a:p>
          <a:p>
            <a:pPr marL="182880" lvl="0" indent="-154940" algn="l" rtl="0">
              <a:spcBef>
                <a:spcPts val="0"/>
              </a:spcBef>
              <a:spcAft>
                <a:spcPts val="0"/>
              </a:spcAft>
              <a:buSzPts val="1000"/>
              <a:buChar char="●"/>
            </a:pPr>
            <a:r>
              <a:rPr lang="en-GB" dirty="0"/>
              <a:t>Next week, I plan to refine my model based on the insights I gained from error analysis and implement any improvements identified during the think-aloud study. I also aim to continue exploring transcription tools for better study documentation.</a:t>
            </a:r>
            <a:endParaRPr dirty="0">
              <a:solidFill>
                <a:srgbClr val="F7C7AC"/>
              </a:solidFill>
            </a:endParaRPr>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6</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231630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6</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dirty="0"/>
              <a:t>[Anna]</a:t>
            </a:r>
            <a:r>
              <a:rPr lang="en" dirty="0"/>
              <a:t> Feedback</a:t>
            </a:r>
            <a:endParaRPr dirty="0"/>
          </a:p>
          <a:p>
            <a:pPr>
              <a:buNone/>
            </a:pPr>
            <a:r>
              <a:rPr lang="en-GB" dirty="0"/>
              <a:t>Ceren, I have to say, you’ve made incredible progress this week! It's evident that you’ve been working hard, and your ability to balance theoretical learning with practical application is impressive. Your understanding of the ML lifecycle, especially the challenges with data </a:t>
            </a:r>
            <a:r>
              <a:rPr lang="en-GB" dirty="0" err="1"/>
              <a:t>labeling</a:t>
            </a:r>
            <a:r>
              <a:rPr lang="en-GB" dirty="0"/>
              <a:t>, is clear, and you did a fantastic job in preparing for the think-aloud study.</a:t>
            </a:r>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a:t>
            </a:r>
            <a:r>
              <a:rPr lang="en-NL"/>
              <a:t>2</a:t>
            </a:r>
            <a:endParaRPr/>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6</a:t>
            </a:r>
            <a:endParaRPr/>
          </a:p>
        </p:txBody>
      </p:sp>
      <p:sp>
        <p:nvSpPr>
          <p:cNvPr id="2" name="TextBox 1">
            <a:extLst>
              <a:ext uri="{FF2B5EF4-FFF2-40B4-BE49-F238E27FC236}">
                <a16:creationId xmlns:a16="http://schemas.microsoft.com/office/drawing/2014/main" id="{1AFAAE14-59E0-E03A-F721-389A94893461}"/>
              </a:ext>
            </a:extLst>
          </p:cNvPr>
          <p:cNvSpPr txBox="1"/>
          <p:nvPr/>
        </p:nvSpPr>
        <p:spPr>
          <a:xfrm>
            <a:off x="4943707" y="758952"/>
            <a:ext cx="3620430" cy="2339102"/>
          </a:xfrm>
          <a:prstGeom prst="rect">
            <a:avLst/>
          </a:prstGeom>
          <a:noFill/>
        </p:spPr>
        <p:txBody>
          <a:bodyPr wrap="square" rtlCol="0">
            <a:spAutoFit/>
          </a:bodyPr>
          <a:lstStyle/>
          <a:p>
            <a:r>
              <a:rPr lang="en-GB" sz="1100" dirty="0">
                <a:solidFill>
                  <a:schemeClr val="bg1"/>
                </a:solidFill>
                <a:latin typeface="Roboto" panose="02000000000000000000" pitchFamily="2" charset="0"/>
                <a:ea typeface="Roboto" panose="02000000000000000000" pitchFamily="2" charset="0"/>
                <a:cs typeface="Roboto" panose="02000000000000000000" pitchFamily="2" charset="0"/>
              </a:rPr>
              <a:t>Response:</a:t>
            </a:r>
          </a:p>
          <a:p>
            <a:pPr>
              <a:buNone/>
            </a:pPr>
            <a:r>
              <a:rPr lang="en-GB" sz="1100" dirty="0">
                <a:solidFill>
                  <a:schemeClr val="bg1"/>
                </a:solidFill>
                <a:latin typeface="Roboto" panose="02000000000000000000" pitchFamily="2" charset="0"/>
                <a:ea typeface="Roboto" panose="02000000000000000000" pitchFamily="2" charset="0"/>
                <a:cs typeface="Roboto" panose="02000000000000000000" pitchFamily="2" charset="0"/>
              </a:rPr>
              <a:t>Thank you so much for your thoughtful feedback, Anna! I really appreciate your encouragement and the recognition of my efforts this week. It feels great to see that my focus on both the theory and practical application is making a positive impact on my progress.</a:t>
            </a:r>
          </a:p>
          <a:p>
            <a:r>
              <a:rPr lang="en-GB" sz="1100" dirty="0">
                <a:solidFill>
                  <a:schemeClr val="bg1"/>
                </a:solidFill>
                <a:latin typeface="Roboto" panose="02000000000000000000" pitchFamily="2" charset="0"/>
                <a:ea typeface="Roboto" panose="02000000000000000000" pitchFamily="2" charset="0"/>
                <a:cs typeface="Roboto" panose="02000000000000000000" pitchFamily="2" charset="0"/>
              </a:rPr>
              <a:t>I’m glad that the business understanding template and DAPS diagram resonated with you. I agree that aligning the project with real-world needs is crucial for its success, and I’ll definitely keep that in mind as I move forward with the development.</a:t>
            </a:r>
          </a:p>
          <a:p>
            <a:endParaRPr lang="en-NL" dirty="0"/>
          </a:p>
        </p:txBody>
      </p:sp>
    </p:spTree>
    <p:extLst>
      <p:ext uri="{BB962C8B-B14F-4D97-AF65-F5344CB8AC3E}">
        <p14:creationId xmlns:p14="http://schemas.microsoft.com/office/powerpoint/2010/main" val="23978758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7</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solidFill>
                  <a:srgbClr val="F7C7AC"/>
                </a:solidFill>
              </a:rPr>
              <a:t>What goal(s) did you set for this week?</a:t>
            </a:r>
          </a:p>
          <a:p>
            <a:pPr marL="182880" lvl="0" indent="-154940" algn="l" rtl="0">
              <a:spcBef>
                <a:spcPts val="0"/>
              </a:spcBef>
              <a:spcAft>
                <a:spcPts val="0"/>
              </a:spcAft>
              <a:buSzPts val="1000"/>
              <a:buChar char="●"/>
            </a:pPr>
            <a:r>
              <a:rPr lang="en-GB" dirty="0"/>
              <a:t>This week, my goal was to learn about Explainable AI (XAI), focusing on key methods like interpretability and transparency. I aimed to explore gradient-based and perturbation-based methods, apply them to my image classification project, and improve the model’s transparency. I also wanted to finalize my wireframe prototype and document my progress in the learning log.</a:t>
            </a:r>
            <a:endParaRPr dirty="0">
              <a:solidFill>
                <a:srgbClr val="F7C7AC"/>
              </a:solidFill>
            </a:endParaRPr>
          </a:p>
          <a:p>
            <a:pPr marL="182880" lvl="0" indent="-154940" algn="l" rtl="0">
              <a:spcBef>
                <a:spcPts val="0"/>
              </a:spcBef>
              <a:spcAft>
                <a:spcPts val="0"/>
              </a:spcAft>
              <a:buSzPts val="1000"/>
              <a:buChar char="●"/>
            </a:pPr>
            <a:r>
              <a:rPr lang="en" dirty="0">
                <a:solidFill>
                  <a:srgbClr val="F7C7AC"/>
                </a:solidFill>
              </a:rPr>
              <a:t>What have you actually been able to do? </a:t>
            </a:r>
          </a:p>
          <a:p>
            <a:pPr marL="182880" lvl="0" indent="-154940" algn="l" rtl="0">
              <a:spcBef>
                <a:spcPts val="0"/>
              </a:spcBef>
              <a:spcAft>
                <a:spcPts val="0"/>
              </a:spcAft>
              <a:buSzPts val="1000"/>
              <a:buChar char="●"/>
            </a:pPr>
            <a:r>
              <a:rPr lang="en-GB" dirty="0"/>
              <a:t>Although I wasn't able to implement XAI methods due to issues with TensorFlow on my computer, I spent time studying the theoretical concepts of XAI, including its importance in real-world applications like healthcare. I also worked on preparing the wireframe prototype, though it is still in progress. I continued documenting my progress in the Learning Log to align my work with ILOs and learning outcomes.</a:t>
            </a:r>
            <a:endParaRPr lang="en" dirty="0">
              <a:solidFill>
                <a:srgbClr val="F7C7AC"/>
              </a:solidFill>
            </a:endParaRPr>
          </a:p>
          <a:p>
            <a:pPr marL="182880" lvl="0" indent="-154940" algn="l" rtl="0">
              <a:spcBef>
                <a:spcPts val="0"/>
              </a:spcBef>
              <a:spcAft>
                <a:spcPts val="0"/>
              </a:spcAft>
              <a:buSzPts val="1000"/>
              <a:buChar char="●"/>
            </a:pPr>
            <a:endParaRPr dirty="0">
              <a:solidFill>
                <a:srgbClr val="F7C7AC"/>
              </a:solidFill>
            </a:endParaRPr>
          </a:p>
          <a:p>
            <a:pPr marL="182880" lvl="0" indent="-154940" algn="l" rtl="0">
              <a:spcBef>
                <a:spcPts val="0"/>
              </a:spcBef>
              <a:spcAft>
                <a:spcPts val="0"/>
              </a:spcAft>
              <a:buSzPts val="1000"/>
              <a:buChar char="●"/>
            </a:pPr>
            <a:r>
              <a:rPr lang="en" dirty="0">
                <a:solidFill>
                  <a:srgbClr val="F7C7AC"/>
                </a:solidFill>
              </a:rPr>
              <a:t>Showcase the evidence of your progress (production artifacts, short descriptions-links-pictures animated gifs, etc.)</a:t>
            </a:r>
          </a:p>
          <a:p>
            <a:pPr marL="182880" lvl="0" indent="-154940" algn="l" rtl="0">
              <a:spcBef>
                <a:spcPts val="0"/>
              </a:spcBef>
              <a:spcAft>
                <a:spcPts val="0"/>
              </a:spcAft>
              <a:buSzPts val="1000"/>
              <a:buChar char="●"/>
            </a:pPr>
            <a:endParaRPr lang="en" dirty="0">
              <a:solidFill>
                <a:srgbClr val="F7C7AC"/>
              </a:solidFill>
            </a:endParaRPr>
          </a:p>
          <a:p>
            <a:pPr marL="182880" lvl="0" indent="-154940" algn="l" rtl="0">
              <a:spcBef>
                <a:spcPts val="0"/>
              </a:spcBef>
              <a:spcAft>
                <a:spcPts val="0"/>
              </a:spcAft>
              <a:buSzPts val="1000"/>
              <a:buChar char="●"/>
            </a:pPr>
            <a:r>
              <a:rPr lang="en-GB" dirty="0">
                <a:solidFill>
                  <a:srgbClr val="F7C7AC"/>
                </a:solidFill>
                <a:hlinkClick r:id="rId3"/>
              </a:rPr>
              <a:t>https://github.com/BredaUniversityADSAI/2024-25c-fai1-adsai-CerenKurt243910/tree/main</a:t>
            </a:r>
            <a:endParaRPr lang="en" dirty="0">
              <a:solidFill>
                <a:srgbClr val="F7C7AC"/>
              </a:solidFill>
            </a:endParaRPr>
          </a:p>
          <a:p>
            <a:pPr marL="182880" lvl="0" indent="-154940" algn="l" rtl="0">
              <a:spcBef>
                <a:spcPts val="0"/>
              </a:spcBef>
              <a:spcAft>
                <a:spcPts val="0"/>
              </a:spcAft>
              <a:buSzPts val="1000"/>
              <a:buChar char="●"/>
            </a:pPr>
            <a:endParaRPr dirty="0">
              <a:solidFill>
                <a:srgbClr val="F7C7AC"/>
              </a:solidFill>
            </a:endParaRPr>
          </a:p>
        </p:txBody>
      </p:sp>
      <p:sp>
        <p:nvSpPr>
          <p:cNvPr id="227" name="Google Shape;227;p26"/>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sz="900" dirty="0">
                <a:solidFill>
                  <a:srgbClr val="F7C7AC"/>
                </a:solidFill>
              </a:rPr>
              <a:t>How did the week go? </a:t>
            </a:r>
          </a:p>
          <a:p>
            <a:pPr marL="182880" lvl="0" indent="-154940" algn="l" rtl="0">
              <a:spcBef>
                <a:spcPts val="0"/>
              </a:spcBef>
              <a:spcAft>
                <a:spcPts val="0"/>
              </a:spcAft>
              <a:buSzPts val="1000"/>
              <a:buChar char="●"/>
            </a:pPr>
            <a:r>
              <a:rPr lang="en-GB" sz="900" dirty="0"/>
              <a:t>The week went decently, even though I wasn't able to implement XAI due to technical issues. I was still able to focus on understanding the concepts of XAI and how they apply to my project.</a:t>
            </a:r>
            <a:endParaRPr sz="900" dirty="0">
              <a:solidFill>
                <a:srgbClr val="F7C7AC"/>
              </a:solidFill>
            </a:endParaRPr>
          </a:p>
          <a:p>
            <a:pPr marL="182880" lvl="0" indent="-154940" algn="l" rtl="0">
              <a:spcBef>
                <a:spcPts val="0"/>
              </a:spcBef>
              <a:spcAft>
                <a:spcPts val="0"/>
              </a:spcAft>
              <a:buSzPts val="1000"/>
              <a:buChar char="●"/>
            </a:pPr>
            <a:r>
              <a:rPr lang="en" sz="900" dirty="0">
                <a:solidFill>
                  <a:srgbClr val="F7C7AC"/>
                </a:solidFill>
              </a:rPr>
              <a:t>What went well? </a:t>
            </a:r>
          </a:p>
          <a:p>
            <a:pPr marL="182880" lvl="0" indent="-154940" algn="l" rtl="0">
              <a:spcBef>
                <a:spcPts val="0"/>
              </a:spcBef>
              <a:spcAft>
                <a:spcPts val="0"/>
              </a:spcAft>
              <a:buSzPts val="1000"/>
              <a:buChar char="●"/>
            </a:pPr>
            <a:r>
              <a:rPr lang="en-GB" sz="900" dirty="0"/>
              <a:t>I successfully prepared the group presentation on XAI and made good progress with my wireframe prototype. I was also able to better understand the theoretical foundations of XAI, which will help when I can implement the methods later.</a:t>
            </a:r>
            <a:endParaRPr sz="900" dirty="0">
              <a:solidFill>
                <a:srgbClr val="F7C7AC"/>
              </a:solidFill>
            </a:endParaRPr>
          </a:p>
          <a:p>
            <a:pPr marL="182880" lvl="0" indent="-154940" algn="l" rtl="0">
              <a:spcBef>
                <a:spcPts val="0"/>
              </a:spcBef>
              <a:spcAft>
                <a:spcPts val="0"/>
              </a:spcAft>
              <a:buSzPts val="1000"/>
              <a:buChar char="●"/>
            </a:pPr>
            <a:r>
              <a:rPr lang="en" sz="900" dirty="0">
                <a:solidFill>
                  <a:srgbClr val="F7C7AC"/>
                </a:solidFill>
              </a:rPr>
              <a:t>What didn’t go so well? </a:t>
            </a:r>
          </a:p>
          <a:p>
            <a:pPr marL="182880" lvl="0" indent="-154940" algn="l" rtl="0">
              <a:spcBef>
                <a:spcPts val="0"/>
              </a:spcBef>
              <a:spcAft>
                <a:spcPts val="0"/>
              </a:spcAft>
              <a:buSzPts val="1000"/>
              <a:buChar char="●"/>
            </a:pPr>
            <a:r>
              <a:rPr lang="en-GB" sz="900" dirty="0"/>
              <a:t>The biggest setback was not being able to implement XAI methods due to the TensorFlow issue on my computer. This delayed my hands-on work and prevented me from applying what I learned to my project.</a:t>
            </a:r>
            <a:endParaRPr sz="900" dirty="0">
              <a:solidFill>
                <a:srgbClr val="F7C7AC"/>
              </a:solidFill>
            </a:endParaRPr>
          </a:p>
          <a:p>
            <a:pPr marL="182880" lvl="0" indent="-154940" algn="l" rtl="0">
              <a:spcBef>
                <a:spcPts val="0"/>
              </a:spcBef>
              <a:spcAft>
                <a:spcPts val="0"/>
              </a:spcAft>
              <a:buSzPts val="1000"/>
              <a:buChar char="●"/>
            </a:pPr>
            <a:r>
              <a:rPr lang="en" sz="900" dirty="0">
                <a:solidFill>
                  <a:srgbClr val="F7C7AC"/>
                </a:solidFill>
              </a:rPr>
              <a:t>What did you learn? </a:t>
            </a:r>
          </a:p>
          <a:p>
            <a:pPr marL="182880" lvl="0" indent="-154940" algn="l" rtl="0">
              <a:spcBef>
                <a:spcPts val="0"/>
              </a:spcBef>
              <a:spcAft>
                <a:spcPts val="0"/>
              </a:spcAft>
              <a:buSzPts val="1000"/>
              <a:buChar char="●"/>
            </a:pPr>
            <a:r>
              <a:rPr lang="en-GB" sz="900" dirty="0"/>
              <a:t>I learned about the trade-offs between model accuracy and interpretability, and how XAI can help make AI systems more understandable, especially in high-stakes applications like healthcare. I also gained more insights into how important transparency and interpretability are for building trust in AI models.</a:t>
            </a:r>
            <a:endParaRPr sz="900" dirty="0">
              <a:solidFill>
                <a:srgbClr val="F7C7AC"/>
              </a:solidFill>
            </a:endParaRPr>
          </a:p>
          <a:p>
            <a:pPr marL="182880" lvl="0" indent="-154940" algn="l" rtl="0">
              <a:spcBef>
                <a:spcPts val="0"/>
              </a:spcBef>
              <a:spcAft>
                <a:spcPts val="0"/>
              </a:spcAft>
              <a:buSzPts val="1000"/>
              <a:buChar char="●"/>
            </a:pPr>
            <a:r>
              <a:rPr lang="en" sz="900" dirty="0">
                <a:solidFill>
                  <a:srgbClr val="F7C7AC"/>
                </a:solidFill>
              </a:rPr>
              <a:t>What could be added as an Action point looking forward to next week?</a:t>
            </a:r>
          </a:p>
          <a:p>
            <a:pPr marL="182880" lvl="0" indent="-154940" algn="l" rtl="0">
              <a:spcBef>
                <a:spcPts val="0"/>
              </a:spcBef>
              <a:spcAft>
                <a:spcPts val="0"/>
              </a:spcAft>
              <a:buSzPts val="1000"/>
              <a:buChar char="●"/>
            </a:pPr>
            <a:r>
              <a:rPr lang="en-GB" sz="900" dirty="0"/>
              <a:t>Next week, I plan to fix the TensorFlow issue on my computer so I can implement and experiment with XAI methods. I will also focus on completing the wireframe prototype and preparing for user testing. Additionally, I'll continue to document my progress and make sure I’m aligning my work with the ILOs and learning outcomes</a:t>
            </a:r>
            <a:endParaRPr sz="900" dirty="0">
              <a:solidFill>
                <a:srgbClr val="F7C7AC"/>
              </a:solidFill>
            </a:endParaRPr>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7</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025466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7</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dirty="0"/>
              <a:t>[Asma Moghimi]</a:t>
            </a:r>
            <a:r>
              <a:rPr lang="en" dirty="0"/>
              <a:t> Feedback</a:t>
            </a:r>
          </a:p>
          <a:p>
            <a:pPr>
              <a:buNone/>
            </a:pPr>
            <a:r>
              <a:rPr lang="en-GB" dirty="0"/>
              <a:t> You’ve made excellent progress this week in understanding the key concepts of Explainable AI (XAI), especially around transparency and interpretability. You did a great job of learning how these concepts apply to real-world use cases, like healthcare, and understanding their significance in responsible AI development.</a:t>
            </a:r>
          </a:p>
          <a:p>
            <a:pPr marL="27940" lvl="0" indent="0" algn="l" rtl="0">
              <a:spcBef>
                <a:spcPts val="0"/>
              </a:spcBef>
              <a:spcAft>
                <a:spcPts val="0"/>
              </a:spcAft>
              <a:buSzPts val="1000"/>
              <a:buNone/>
            </a:pPr>
            <a:endParaRPr dirty="0"/>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a:t>
            </a:r>
            <a:r>
              <a:rPr lang="en-NL"/>
              <a:t>2</a:t>
            </a:r>
            <a:endParaRPr/>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7</a:t>
            </a:r>
            <a:endParaRPr/>
          </a:p>
        </p:txBody>
      </p:sp>
      <p:sp>
        <p:nvSpPr>
          <p:cNvPr id="2" name="TextBox 1">
            <a:extLst>
              <a:ext uri="{FF2B5EF4-FFF2-40B4-BE49-F238E27FC236}">
                <a16:creationId xmlns:a16="http://schemas.microsoft.com/office/drawing/2014/main" id="{662E9296-9EAF-270C-660F-B27101F1FDA7}"/>
              </a:ext>
            </a:extLst>
          </p:cNvPr>
          <p:cNvSpPr txBox="1"/>
          <p:nvPr/>
        </p:nvSpPr>
        <p:spPr>
          <a:xfrm>
            <a:off x="4861932" y="996176"/>
            <a:ext cx="3873190" cy="2085186"/>
          </a:xfrm>
          <a:prstGeom prst="rect">
            <a:avLst/>
          </a:prstGeom>
          <a:noFill/>
        </p:spPr>
        <p:txBody>
          <a:bodyPr wrap="square" rtlCol="0">
            <a:spAutoFit/>
          </a:bodyPr>
          <a:lstStyle/>
          <a:p>
            <a:pPr>
              <a:buNone/>
            </a:pPr>
            <a:r>
              <a:rPr lang="en-GB" sz="1050" dirty="0">
                <a:solidFill>
                  <a:schemeClr val="bg1"/>
                </a:solidFill>
              </a:rPr>
              <a:t>Thank you so much for the thoughtful feedback, Asma I really appreciate your recognition of the effort I put into understanding the core concepts of Explainable AI (XAI). Even though I faced some technical issues with TensorFlow, your support and the way you’ve highlighted my adaptability mean a lot to me.</a:t>
            </a:r>
          </a:p>
          <a:p>
            <a:r>
              <a:rPr lang="en-GB" sz="1050" dirty="0">
                <a:solidFill>
                  <a:schemeClr val="bg1"/>
                </a:solidFill>
              </a:rPr>
              <a:t>I’m glad that my work on connecting the theoretical aspects of XAI to real-world use cases, especially in healthcare, was clear and effective. I also feel that documenting everything in the learning log helped me stay on track and see the progress I’ve made.</a:t>
            </a:r>
          </a:p>
          <a:p>
            <a:endParaRPr lang="en-NL" dirty="0"/>
          </a:p>
        </p:txBody>
      </p:sp>
    </p:spTree>
    <p:extLst>
      <p:ext uri="{BB962C8B-B14F-4D97-AF65-F5344CB8AC3E}">
        <p14:creationId xmlns:p14="http://schemas.microsoft.com/office/powerpoint/2010/main" val="6282947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8</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solidFill>
                  <a:srgbClr val="F7C7AC"/>
                </a:solidFill>
              </a:rPr>
              <a:t>What goal(s) did you set for this week?</a:t>
            </a:r>
          </a:p>
          <a:p>
            <a:pPr marL="182880" lvl="0" indent="-154940" algn="l" rtl="0">
              <a:spcBef>
                <a:spcPts val="0"/>
              </a:spcBef>
              <a:spcAft>
                <a:spcPts val="0"/>
              </a:spcAft>
              <a:buSzPts val="1000"/>
              <a:buChar char="●"/>
            </a:pPr>
            <a:r>
              <a:rPr lang="en-GB" dirty="0"/>
              <a:t>This week, my goal was to complete the A/B testing for my app prototype, document the Responsible AI process, finalize the Human-Centered AI deliverables, and prepare for the final project presentation. I also aimed to evidence my progress and ensure everything was ready for tomorrow’s final presentation.</a:t>
            </a:r>
            <a:endParaRPr dirty="0">
              <a:solidFill>
                <a:srgbClr val="F7C7AC"/>
              </a:solidFill>
            </a:endParaRPr>
          </a:p>
          <a:p>
            <a:pPr marL="182880" lvl="0" indent="-154940" algn="l" rtl="0">
              <a:spcBef>
                <a:spcPts val="0"/>
              </a:spcBef>
              <a:spcAft>
                <a:spcPts val="0"/>
              </a:spcAft>
              <a:buSzPts val="1000"/>
              <a:buChar char="●"/>
            </a:pPr>
            <a:r>
              <a:rPr lang="en" dirty="0">
                <a:solidFill>
                  <a:srgbClr val="F7C7AC"/>
                </a:solidFill>
              </a:rPr>
              <a:t>What have you actually been able to do? </a:t>
            </a:r>
          </a:p>
          <a:p>
            <a:pPr marL="182880" lvl="0" indent="-154940" algn="l" rtl="0">
              <a:spcBef>
                <a:spcPts val="0"/>
              </a:spcBef>
              <a:spcAft>
                <a:spcPts val="0"/>
              </a:spcAft>
              <a:buSzPts val="1000"/>
              <a:buChar char="●"/>
            </a:pPr>
            <a:r>
              <a:rPr lang="en-GB" dirty="0"/>
              <a:t>I successfully conducted the A/B test for my wireframe prototype, analyzed the results, and documented them in the learning log. I also completed the final deliverables for the Human-Centered AI section, including a demo video of my wireframe prototype. Additionally, I prepared all materials for the final presentation and ensured everything was documented.</a:t>
            </a:r>
            <a:endParaRPr dirty="0">
              <a:solidFill>
                <a:srgbClr val="F7C7AC"/>
              </a:solidFill>
            </a:endParaRPr>
          </a:p>
          <a:p>
            <a:pPr marL="182880" lvl="0" indent="-154940" algn="l" rtl="0">
              <a:spcBef>
                <a:spcPts val="0"/>
              </a:spcBef>
              <a:spcAft>
                <a:spcPts val="0"/>
              </a:spcAft>
              <a:buSzPts val="1000"/>
              <a:buChar char="●"/>
            </a:pPr>
            <a:r>
              <a:rPr lang="en" dirty="0">
                <a:solidFill>
                  <a:srgbClr val="F7C7AC"/>
                </a:solidFill>
              </a:rPr>
              <a:t>Showcase the evidence of your progress (production artifacts, short descriptions-links-pictures animated gifs, etc.)</a:t>
            </a:r>
          </a:p>
          <a:p>
            <a:pPr marL="182880" lvl="0" indent="-154940" algn="l" rtl="0">
              <a:spcBef>
                <a:spcPts val="0"/>
              </a:spcBef>
              <a:spcAft>
                <a:spcPts val="0"/>
              </a:spcAft>
              <a:buSzPts val="1000"/>
              <a:buChar char="●"/>
            </a:pPr>
            <a:endParaRPr lang="en" dirty="0">
              <a:solidFill>
                <a:srgbClr val="F7C7AC"/>
              </a:solidFill>
            </a:endParaRPr>
          </a:p>
          <a:p>
            <a:pPr marL="182880" lvl="0" indent="-154940" algn="l" rtl="0">
              <a:spcBef>
                <a:spcPts val="0"/>
              </a:spcBef>
              <a:spcAft>
                <a:spcPts val="0"/>
              </a:spcAft>
              <a:buSzPts val="1000"/>
              <a:buChar char="●"/>
            </a:pPr>
            <a:r>
              <a:rPr lang="en-GB" dirty="0">
                <a:solidFill>
                  <a:srgbClr val="F7C7AC"/>
                </a:solidFill>
              </a:rPr>
              <a:t>https://github.com/BredaUniversityADSAI/2024-25c-fai1-adsai-CerenKurt243910/tree/main</a:t>
            </a:r>
            <a:endParaRPr dirty="0">
              <a:solidFill>
                <a:srgbClr val="F7C7AC"/>
              </a:solidFill>
            </a:endParaRPr>
          </a:p>
        </p:txBody>
      </p:sp>
      <p:sp>
        <p:nvSpPr>
          <p:cNvPr id="227" name="Google Shape;227;p26"/>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sz="900" dirty="0">
                <a:solidFill>
                  <a:srgbClr val="F7C7AC"/>
                </a:solidFill>
              </a:rPr>
              <a:t>How did the week go? </a:t>
            </a:r>
          </a:p>
          <a:p>
            <a:pPr marL="182880" lvl="0" indent="-154940" algn="l" rtl="0">
              <a:spcBef>
                <a:spcPts val="0"/>
              </a:spcBef>
              <a:spcAft>
                <a:spcPts val="0"/>
              </a:spcAft>
              <a:buSzPts val="1000"/>
              <a:buChar char="●"/>
            </a:pPr>
            <a:r>
              <a:rPr lang="en-GB" sz="900" dirty="0"/>
              <a:t>The week went well, as I was able to complete the planned tasks on time and with good quality. I made sure all deliverables were ready for the final presentation and documented everything efficiently.</a:t>
            </a:r>
            <a:endParaRPr sz="900" dirty="0">
              <a:solidFill>
                <a:srgbClr val="F7C7AC"/>
              </a:solidFill>
            </a:endParaRPr>
          </a:p>
          <a:p>
            <a:pPr marL="182880" lvl="0" indent="-154940" algn="l" rtl="0">
              <a:spcBef>
                <a:spcPts val="0"/>
              </a:spcBef>
              <a:spcAft>
                <a:spcPts val="0"/>
              </a:spcAft>
              <a:buSzPts val="1000"/>
              <a:buChar char="●"/>
            </a:pPr>
            <a:r>
              <a:rPr lang="en" sz="900" dirty="0">
                <a:solidFill>
                  <a:srgbClr val="F7C7AC"/>
                </a:solidFill>
              </a:rPr>
              <a:t>What went well? </a:t>
            </a:r>
          </a:p>
          <a:p>
            <a:pPr marL="182880" lvl="0" indent="-154940" algn="l" rtl="0">
              <a:spcBef>
                <a:spcPts val="0"/>
              </a:spcBef>
              <a:spcAft>
                <a:spcPts val="0"/>
              </a:spcAft>
              <a:buSzPts val="1000"/>
              <a:buChar char="●"/>
            </a:pPr>
            <a:r>
              <a:rPr lang="en-GB" sz="900" dirty="0"/>
              <a:t>I managed to complete all planned tasks, including the A/B testing, Human-Centered AI deliverables, and preparation for the final presentation. The evidence for my progress is clearly documented, and I feel confident about presenting my work.</a:t>
            </a:r>
            <a:endParaRPr sz="900" dirty="0">
              <a:solidFill>
                <a:srgbClr val="F7C7AC"/>
              </a:solidFill>
            </a:endParaRPr>
          </a:p>
          <a:p>
            <a:pPr marL="182880" lvl="0" indent="-154940" algn="l" rtl="0">
              <a:spcBef>
                <a:spcPts val="0"/>
              </a:spcBef>
              <a:spcAft>
                <a:spcPts val="0"/>
              </a:spcAft>
              <a:buSzPts val="1000"/>
              <a:buChar char="●"/>
            </a:pPr>
            <a:r>
              <a:rPr lang="en" sz="900" dirty="0">
                <a:solidFill>
                  <a:srgbClr val="F7C7AC"/>
                </a:solidFill>
              </a:rPr>
              <a:t>What didn’t go so well? </a:t>
            </a:r>
          </a:p>
          <a:p>
            <a:pPr marL="182880" lvl="0" indent="-154940" algn="l" rtl="0">
              <a:spcBef>
                <a:spcPts val="0"/>
              </a:spcBef>
              <a:spcAft>
                <a:spcPts val="0"/>
              </a:spcAft>
              <a:buSzPts val="1000"/>
              <a:buChar char="●"/>
            </a:pPr>
            <a:r>
              <a:rPr lang="en-GB" sz="900" dirty="0"/>
              <a:t>There were no significant issues during the week. However, some minor adjustments and refinements were necessary to make sure all the materials were perfect for the final presentation.</a:t>
            </a:r>
            <a:endParaRPr sz="900" dirty="0">
              <a:solidFill>
                <a:srgbClr val="F7C7AC"/>
              </a:solidFill>
            </a:endParaRPr>
          </a:p>
          <a:p>
            <a:pPr marL="182880" lvl="0" indent="-154940" algn="l" rtl="0">
              <a:spcBef>
                <a:spcPts val="0"/>
              </a:spcBef>
              <a:spcAft>
                <a:spcPts val="0"/>
              </a:spcAft>
              <a:buSzPts val="1000"/>
              <a:buChar char="●"/>
            </a:pPr>
            <a:r>
              <a:rPr lang="en" sz="900" dirty="0">
                <a:solidFill>
                  <a:srgbClr val="F7C7AC"/>
                </a:solidFill>
              </a:rPr>
              <a:t>What did you learn? </a:t>
            </a:r>
          </a:p>
          <a:p>
            <a:pPr marL="182880" indent="-154940"/>
            <a:r>
              <a:rPr lang="en-GB" sz="900" dirty="0"/>
              <a:t>I learned how to efficiently conduct A/B testing, analyze results, and document them. I also deepened my understanding of Human-Centered AI and how to communicate this effectively through a demo video and presentation. I further realized the importance of thorough documentation and ensuring everything is ready for the final presentation.</a:t>
            </a:r>
            <a:endParaRPr sz="900" dirty="0">
              <a:solidFill>
                <a:srgbClr val="F7C7AC"/>
              </a:solidFill>
            </a:endParaRPr>
          </a:p>
          <a:p>
            <a:pPr marL="182880" lvl="0" indent="-154940" algn="l" rtl="0">
              <a:spcBef>
                <a:spcPts val="0"/>
              </a:spcBef>
              <a:spcAft>
                <a:spcPts val="0"/>
              </a:spcAft>
              <a:buSzPts val="1000"/>
              <a:buChar char="●"/>
            </a:pPr>
            <a:r>
              <a:rPr lang="en" sz="900" dirty="0">
                <a:solidFill>
                  <a:srgbClr val="F7C7AC"/>
                </a:solidFill>
              </a:rPr>
              <a:t>What could be added as an Action point looking forward to next week?</a:t>
            </a:r>
          </a:p>
          <a:p>
            <a:pPr marL="182880" lvl="0" indent="-154940" algn="l" rtl="0">
              <a:spcBef>
                <a:spcPts val="0"/>
              </a:spcBef>
              <a:spcAft>
                <a:spcPts val="0"/>
              </a:spcAft>
              <a:buSzPts val="1000"/>
              <a:buChar char="●"/>
            </a:pPr>
            <a:r>
              <a:rPr lang="en-GB" sz="900" dirty="0"/>
              <a:t>Looking forward, I’ll focus on delivering the final project presentation and gathering feedback. I plan to refine my approach based on the feedback received and begin planning for future work, incorporating any improvements suggested during the presentation.</a:t>
            </a:r>
            <a:endParaRPr sz="900" dirty="0">
              <a:solidFill>
                <a:srgbClr val="F7C7AC"/>
              </a:solidFill>
            </a:endParaRPr>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8</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682021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8</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dirty="0"/>
              <a:t>[Reviewer]</a:t>
            </a:r>
            <a:r>
              <a:rPr lang="en" dirty="0"/>
              <a:t> Feedback</a:t>
            </a:r>
            <a:endParaRPr dirty="0"/>
          </a:p>
          <a:p>
            <a:pPr marL="0" lvl="0" indent="0" algn="l" rtl="0">
              <a:spcBef>
                <a:spcPts val="800"/>
              </a:spcBef>
              <a:spcAft>
                <a:spcPts val="800"/>
              </a:spcAft>
              <a:buNone/>
            </a:pPr>
            <a:r>
              <a:rPr lang="en" dirty="0"/>
              <a:t>Response</a:t>
            </a:r>
            <a:endParaRPr dirty="0"/>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a:t>
            </a:r>
            <a:r>
              <a:rPr lang="en-NL"/>
              <a:t>2</a:t>
            </a:r>
            <a:endParaRPr/>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8</a:t>
            </a:r>
            <a:endParaRPr/>
          </a:p>
        </p:txBody>
      </p:sp>
    </p:spTree>
    <p:extLst>
      <p:ext uri="{BB962C8B-B14F-4D97-AF65-F5344CB8AC3E}">
        <p14:creationId xmlns:p14="http://schemas.microsoft.com/office/powerpoint/2010/main" val="36579777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38"/>
          <p:cNvSpPr txBox="1">
            <a:spLocks noGrp="1"/>
          </p:cNvSpPr>
          <p:nvPr>
            <p:ph type="ctrTitle"/>
          </p:nvPr>
        </p:nvSpPr>
        <p:spPr>
          <a:xfrm>
            <a:off x="1828800" y="1453896"/>
            <a:ext cx="73152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000"/>
              <a:t>Section </a:t>
            </a:r>
            <a:r>
              <a:rPr lang="en-NL" sz="6000"/>
              <a:t>C</a:t>
            </a:r>
            <a:endParaRPr sz="6000"/>
          </a:p>
        </p:txBody>
      </p:sp>
      <p:sp>
        <p:nvSpPr>
          <p:cNvPr id="357" name="Google Shape;357;p38"/>
          <p:cNvSpPr txBox="1">
            <a:spLocks noGrp="1"/>
          </p:cNvSpPr>
          <p:nvPr>
            <p:ph type="subTitle" idx="1"/>
          </p:nvPr>
        </p:nvSpPr>
        <p:spPr>
          <a:xfrm>
            <a:off x="1828800" y="2953512"/>
            <a:ext cx="73152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Progress</a:t>
            </a:r>
            <a:endParaRPr/>
          </a:p>
          <a:p>
            <a:pPr marL="0" lvl="0" indent="0" algn="ctr" rtl="0">
              <a:spcBef>
                <a:spcPts val="0"/>
              </a:spcBef>
              <a:spcAft>
                <a:spcPts val="0"/>
              </a:spcAft>
              <a:buNone/>
            </a:pPr>
            <a:r>
              <a:rPr lang="en"/>
              <a:t>Intended Learning Outcomes</a:t>
            </a:r>
            <a:endParaRPr sz="3000"/>
          </a:p>
        </p:txBody>
      </p:sp>
      <p:sp>
        <p:nvSpPr>
          <p:cNvPr id="358" name="Google Shape;358;p38"/>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NL" sz="40000">
                <a:solidFill>
                  <a:srgbClr val="999999"/>
                </a:solidFill>
                <a:latin typeface="Roboto"/>
                <a:ea typeface="Roboto"/>
                <a:cs typeface="Roboto"/>
                <a:sym typeface="Roboto"/>
              </a:rPr>
              <a:t>C</a:t>
            </a:r>
            <a:endParaRPr sz="40000">
              <a:solidFill>
                <a:srgbClr val="999999"/>
              </a:solidFill>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10FF362-93CC-BA8C-567F-DD3DE6CAA230}"/>
              </a:ext>
            </a:extLst>
          </p:cNvPr>
          <p:cNvSpPr txBox="1"/>
          <p:nvPr/>
        </p:nvSpPr>
        <p:spPr>
          <a:xfrm>
            <a:off x="386576" y="460917"/>
            <a:ext cx="8422887" cy="369332"/>
          </a:xfrm>
          <a:prstGeom prst="rect">
            <a:avLst/>
          </a:prstGeom>
          <a:noFill/>
        </p:spPr>
        <p:txBody>
          <a:bodyPr wrap="square" rtlCol="0">
            <a:spAutoFit/>
          </a:bodyPr>
          <a:lstStyle/>
          <a:p>
            <a:r>
              <a:rPr lang="en-GB" sz="1800" b="1" dirty="0">
                <a:solidFill>
                  <a:schemeClr val="accent6">
                    <a:lumMod val="75000"/>
                  </a:schemeClr>
                </a:solidFill>
              </a:rPr>
              <a:t>Notes for My Mentor Regarding Block C Retake</a:t>
            </a:r>
            <a:endParaRPr lang="en-NL" sz="1800" b="1" dirty="0">
              <a:solidFill>
                <a:schemeClr val="accent6">
                  <a:lumMod val="75000"/>
                </a:schemeClr>
              </a:solidFill>
            </a:endParaRPr>
          </a:p>
        </p:txBody>
      </p:sp>
      <p:sp>
        <p:nvSpPr>
          <p:cNvPr id="6" name="TextBox 5">
            <a:extLst>
              <a:ext uri="{FF2B5EF4-FFF2-40B4-BE49-F238E27FC236}">
                <a16:creationId xmlns:a16="http://schemas.microsoft.com/office/drawing/2014/main" id="{B0CDA9E4-7CBD-72C2-038D-BB8B330DB8B3}"/>
              </a:ext>
            </a:extLst>
          </p:cNvPr>
          <p:cNvSpPr txBox="1"/>
          <p:nvPr/>
        </p:nvSpPr>
        <p:spPr>
          <a:xfrm>
            <a:off x="386576" y="929268"/>
            <a:ext cx="7672039" cy="3539430"/>
          </a:xfrm>
          <a:prstGeom prst="rect">
            <a:avLst/>
          </a:prstGeom>
          <a:noFill/>
        </p:spPr>
        <p:txBody>
          <a:bodyPr wrap="square" rtlCol="0">
            <a:spAutoFit/>
          </a:bodyPr>
          <a:lstStyle/>
          <a:p>
            <a:r>
              <a:rPr lang="en-GB" dirty="0">
                <a:solidFill>
                  <a:schemeClr val="bg1"/>
                </a:solidFill>
              </a:rPr>
              <a:t>I have retaken only specific parts of each ILO as follows:</a:t>
            </a:r>
          </a:p>
          <a:p>
            <a:pPr lvl="1"/>
            <a:r>
              <a:rPr lang="en-GB" b="1" dirty="0">
                <a:solidFill>
                  <a:schemeClr val="bg1"/>
                </a:solidFill>
              </a:rPr>
              <a:t>ILO 1:</a:t>
            </a:r>
            <a:r>
              <a:rPr lang="en-GB" dirty="0">
                <a:solidFill>
                  <a:schemeClr val="bg1"/>
                </a:solidFill>
              </a:rPr>
              <a:t> Retaken 1.3A and 1.3B; provided all necessary evidence and linked relevant files in the required sections.</a:t>
            </a:r>
          </a:p>
          <a:p>
            <a:pPr lvl="1"/>
            <a:r>
              <a:rPr lang="en-GB" b="1" dirty="0">
                <a:solidFill>
                  <a:schemeClr val="bg1"/>
                </a:solidFill>
              </a:rPr>
              <a:t>ILO 3:</a:t>
            </a:r>
            <a:r>
              <a:rPr lang="en-GB" dirty="0">
                <a:solidFill>
                  <a:schemeClr val="bg1"/>
                </a:solidFill>
              </a:rPr>
              <a:t> Retaken 3.2A, 3.2B, and 3.2C.</a:t>
            </a:r>
          </a:p>
          <a:p>
            <a:pPr lvl="1"/>
            <a:r>
              <a:rPr lang="en-GB" b="1" dirty="0">
                <a:solidFill>
                  <a:schemeClr val="bg1"/>
                </a:solidFill>
              </a:rPr>
              <a:t>ILO 4:</a:t>
            </a:r>
            <a:r>
              <a:rPr lang="en-GB" dirty="0">
                <a:solidFill>
                  <a:schemeClr val="bg1"/>
                </a:solidFill>
              </a:rPr>
              <a:t> Retaken 4.1B and 4.1C.</a:t>
            </a:r>
          </a:p>
          <a:p>
            <a:pPr lvl="1"/>
            <a:r>
              <a:rPr lang="en-GB" b="1" dirty="0">
                <a:solidFill>
                  <a:schemeClr val="bg1"/>
                </a:solidFill>
              </a:rPr>
              <a:t>ILO 9:</a:t>
            </a:r>
            <a:r>
              <a:rPr lang="en-GB" dirty="0">
                <a:solidFill>
                  <a:schemeClr val="bg1"/>
                </a:solidFill>
              </a:rPr>
              <a:t> Retaken 9.1B and 9.1C.</a:t>
            </a:r>
          </a:p>
          <a:p>
            <a:r>
              <a:rPr lang="en-GB" dirty="0">
                <a:solidFill>
                  <a:schemeClr val="bg1"/>
                </a:solidFill>
              </a:rPr>
              <a:t>For each ILO, I highlighted only the parts I took retake . The explanations for sections I did not retake remain unchanged, though I updated their links where necessary.</a:t>
            </a:r>
          </a:p>
          <a:p>
            <a:r>
              <a:rPr lang="en-GB" dirty="0">
                <a:solidFill>
                  <a:schemeClr val="bg1"/>
                </a:solidFill>
              </a:rPr>
              <a:t>In Section C for each ILO, I also updated the links for the pre-requisites including worklog, learning log, and self-assessment rubric.</a:t>
            </a:r>
          </a:p>
          <a:p>
            <a:r>
              <a:rPr lang="en-GB" dirty="0">
                <a:solidFill>
                  <a:schemeClr val="bg1"/>
                </a:solidFill>
              </a:rPr>
              <a:t>Additionally, all retaken work for these areas is organized in a folder named </a:t>
            </a:r>
            <a:r>
              <a:rPr lang="en-GB" b="1" dirty="0">
                <a:solidFill>
                  <a:schemeClr val="bg1"/>
                </a:solidFill>
              </a:rPr>
              <a:t>BLOCK C RETAKE</a:t>
            </a:r>
            <a:r>
              <a:rPr lang="en-GB" dirty="0">
                <a:solidFill>
                  <a:schemeClr val="bg1"/>
                </a:solidFill>
              </a:rPr>
              <a:t> within Block D. I have provided the link to this folder both below and on the main dashboard page under the Block C Retake section, so you can easily access both repositories.</a:t>
            </a:r>
          </a:p>
          <a:p>
            <a:endParaRPr lang="en-GB" b="1" dirty="0">
              <a:solidFill>
                <a:schemeClr val="bg1"/>
              </a:solidFill>
            </a:endParaRPr>
          </a:p>
          <a:p>
            <a:r>
              <a:rPr lang="en-GB" b="1" dirty="0">
                <a:solidFill>
                  <a:schemeClr val="bg1"/>
                </a:solidFill>
              </a:rPr>
              <a:t>Link for ALL Block C Retake Files :</a:t>
            </a:r>
          </a:p>
          <a:p>
            <a:endParaRPr lang="en-NL" dirty="0"/>
          </a:p>
        </p:txBody>
      </p:sp>
    </p:spTree>
    <p:extLst>
      <p:ext uri="{BB962C8B-B14F-4D97-AF65-F5344CB8AC3E}">
        <p14:creationId xmlns:p14="http://schemas.microsoft.com/office/powerpoint/2010/main" val="23248639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ILO </a:t>
            </a:r>
            <a:r>
              <a:rPr lang="en-US" dirty="0"/>
              <a:t>1.3</a:t>
            </a:r>
            <a:endParaRPr dirty="0"/>
          </a:p>
        </p:txBody>
      </p:sp>
      <p:sp>
        <p:nvSpPr>
          <p:cNvPr id="364" name="Google Shape;364;p3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Professional Practice</a:t>
            </a:r>
            <a:endParaRPr dirty="0"/>
          </a:p>
        </p:txBody>
      </p:sp>
      <p:sp>
        <p:nvSpPr>
          <p:cNvPr id="365" name="Google Shape;365;p39"/>
          <p:cNvSpPr txBox="1">
            <a:spLocks noGrp="1"/>
          </p:cNvSpPr>
          <p:nvPr>
            <p:ph type="subTitle" idx="2"/>
          </p:nvPr>
        </p:nvSpPr>
        <p:spPr>
          <a:xfrm>
            <a:off x="2735580" y="3353563"/>
            <a:ext cx="5951220" cy="685800"/>
          </a:xfrm>
          <a:prstGeom prst="rect">
            <a:avLst/>
          </a:prstGeom>
        </p:spPr>
        <p:txBody>
          <a:bodyPr spcFirstLastPara="1" wrap="square" lIns="91425" tIns="91425" rIns="91425" bIns="91425" anchor="ctr" anchorCtr="0">
            <a:noAutofit/>
          </a:bodyPr>
          <a:lstStyle/>
          <a:p>
            <a:pPr marL="0" indent="0"/>
            <a:r>
              <a:rPr lang="en-US" dirty="0"/>
              <a:t> The student can collaborate (internationally) in multidisciplinary teams with different levels of knowledge in the field of data use and applications. They can set up and execute projects in collaboration with stakeholders and team members. They can act as a sounding board in discussions with team members, customers, users and experts. They strive for a good balance between input of their own vision and additional expertise of others. They are able to lead a team. </a:t>
            </a:r>
            <a:endParaRPr lang="en" dirty="0"/>
          </a:p>
        </p:txBody>
      </p:sp>
      <p:sp>
        <p:nvSpPr>
          <p:cNvPr id="366" name="Google Shape;366;p3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40000" dirty="0">
                <a:solidFill>
                  <a:srgbClr val="999999"/>
                </a:solidFill>
                <a:latin typeface="Roboto"/>
                <a:ea typeface="Roboto"/>
                <a:cs typeface="Roboto"/>
                <a:sym typeface="Roboto"/>
              </a:rPr>
              <a:t>1</a:t>
            </a:r>
            <a:endParaRPr sz="40000" dirty="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28110380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42"/>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ILO </a:t>
            </a:r>
            <a:r>
              <a:rPr lang="en-US" dirty="0"/>
              <a:t>1</a:t>
            </a:r>
            <a:endParaRPr dirty="0"/>
          </a:p>
        </p:txBody>
      </p:sp>
      <p:sp>
        <p:nvSpPr>
          <p:cNvPr id="394" name="Google Shape;394;p42"/>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dirty="0">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dirty="0">
              <a:solidFill>
                <a:schemeClr val="lt1"/>
              </a:solidFill>
            </a:endParaRPr>
          </a:p>
          <a:p>
            <a:pPr marL="0" lvl="0" indent="0" algn="l" rtl="0">
              <a:lnSpc>
                <a:spcPct val="115000"/>
              </a:lnSpc>
              <a:spcBef>
                <a:spcPts val="0"/>
              </a:spcBef>
              <a:spcAft>
                <a:spcPts val="0"/>
              </a:spcAft>
              <a:buNone/>
            </a:pPr>
            <a:endParaRPr sz="700" i="1" dirty="0">
              <a:solidFill>
                <a:schemeClr val="lt1"/>
              </a:solidFill>
              <a:latin typeface="Helvetica Neue"/>
              <a:ea typeface="Helvetica Neue"/>
              <a:cs typeface="Helvetica Neue"/>
              <a:sym typeface="Helvetica Neue"/>
            </a:endParaRPr>
          </a:p>
        </p:txBody>
      </p:sp>
      <p:sp>
        <p:nvSpPr>
          <p:cNvPr id="396" name="Google Shape;396;p42"/>
          <p:cNvSpPr txBox="1">
            <a:spLocks noGrp="1"/>
          </p:cNvSpPr>
          <p:nvPr>
            <p:ph type="title" idx="3"/>
          </p:nvPr>
        </p:nvSpPr>
        <p:spPr>
          <a:xfrm>
            <a:off x="2049461" y="0"/>
            <a:ext cx="6337619" cy="576000"/>
          </a:xfrm>
          <a:prstGeom prst="rect">
            <a:avLst/>
          </a:prstGeom>
        </p:spPr>
        <p:txBody>
          <a:bodyPr spcFirstLastPara="1" wrap="square" lIns="91425" tIns="91425" rIns="91425" bIns="91425" anchor="ctr" anchorCtr="0">
            <a:noAutofit/>
          </a:bodyPr>
          <a:lstStyle/>
          <a:p>
            <a:pPr marL="0" indent="0"/>
            <a:r>
              <a:rPr lang="en-US" dirty="0"/>
              <a:t>The student can collaborate (internationally) in multidisciplinary teams with different levels of knowledge in the field of data use and applications. They can set up and execute projects in collaboration with stakeholders and team members. They can act as a sounding board in discussions with team members, customers, users and experts. They strive for a good balance between input of their own vision and additional expertise of others. They are able to lead a team. </a:t>
            </a:r>
            <a:endParaRPr lang="en-GB" sz="700" dirty="0"/>
          </a:p>
        </p:txBody>
      </p:sp>
      <p:sp>
        <p:nvSpPr>
          <p:cNvPr id="397" name="Google Shape;397;p42"/>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1.3</a:t>
            </a:r>
            <a:endParaRPr dirty="0"/>
          </a:p>
        </p:txBody>
      </p:sp>
      <p:sp>
        <p:nvSpPr>
          <p:cNvPr id="398" name="Google Shape;398;p42"/>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pPr>
            <a:r>
              <a:rPr lang="en-US" i="0" dirty="0"/>
              <a:t>The student demonstrates the ability to prepare for and contribute to professional events by reviewing materials, completing preparation tasks, and leading collaborative discussions to address personal and professional challenges.</a:t>
            </a:r>
          </a:p>
        </p:txBody>
      </p:sp>
      <p:sp>
        <p:nvSpPr>
          <p:cNvPr id="399" name="Google Shape;399;p42"/>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900" dirty="0"/>
              <a:t>Professional Practice</a:t>
            </a:r>
            <a:endParaRPr sz="900" dirty="0"/>
          </a:p>
        </p:txBody>
      </p:sp>
      <p:graphicFrame>
        <p:nvGraphicFramePr>
          <p:cNvPr id="3" name="Table 2">
            <a:extLst>
              <a:ext uri="{FF2B5EF4-FFF2-40B4-BE49-F238E27FC236}">
                <a16:creationId xmlns:a16="http://schemas.microsoft.com/office/drawing/2014/main" id="{5A5D76DD-780A-47E4-7E54-A7A840FD7EAC}"/>
              </a:ext>
            </a:extLst>
          </p:cNvPr>
          <p:cNvGraphicFramePr>
            <a:graphicFrameLocks noGrp="1"/>
          </p:cNvGraphicFramePr>
          <p:nvPr>
            <p:extLst>
              <p:ext uri="{D42A27DB-BD31-4B8C-83A1-F6EECF244321}">
                <p14:modId xmlns:p14="http://schemas.microsoft.com/office/powerpoint/2010/main" val="3207198287"/>
              </p:ext>
            </p:extLst>
          </p:nvPr>
        </p:nvGraphicFramePr>
        <p:xfrm>
          <a:off x="0" y="1069800"/>
          <a:ext cx="9144000" cy="4634513"/>
        </p:xfrm>
        <a:graphic>
          <a:graphicData uri="http://schemas.openxmlformats.org/drawingml/2006/table">
            <a:tbl>
              <a:tblPr/>
              <a:tblGrid>
                <a:gridCol w="2279135">
                  <a:extLst>
                    <a:ext uri="{9D8B030D-6E8A-4147-A177-3AD203B41FA5}">
                      <a16:colId xmlns:a16="http://schemas.microsoft.com/office/drawing/2014/main" val="2828626719"/>
                    </a:ext>
                  </a:extLst>
                </a:gridCol>
                <a:gridCol w="2285431">
                  <a:extLst>
                    <a:ext uri="{9D8B030D-6E8A-4147-A177-3AD203B41FA5}">
                      <a16:colId xmlns:a16="http://schemas.microsoft.com/office/drawing/2014/main" val="2163814410"/>
                    </a:ext>
                  </a:extLst>
                </a:gridCol>
                <a:gridCol w="2300299">
                  <a:extLst>
                    <a:ext uri="{9D8B030D-6E8A-4147-A177-3AD203B41FA5}">
                      <a16:colId xmlns:a16="http://schemas.microsoft.com/office/drawing/2014/main" val="1982883818"/>
                    </a:ext>
                  </a:extLst>
                </a:gridCol>
                <a:gridCol w="2279135">
                  <a:extLst>
                    <a:ext uri="{9D8B030D-6E8A-4147-A177-3AD203B41FA5}">
                      <a16:colId xmlns:a16="http://schemas.microsoft.com/office/drawing/2014/main" val="288988014"/>
                    </a:ext>
                  </a:extLst>
                </a:gridCol>
              </a:tblGrid>
              <a:tr h="125231">
                <a:tc>
                  <a:txBody>
                    <a:bodyPr/>
                    <a:lstStyle/>
                    <a:p>
                      <a:pPr algn="ctr" fontAlgn="ct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Pre-requisites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A (3 points)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B (2 points)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C (5 points)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4251399548"/>
                  </a:ext>
                </a:extLst>
              </a:tr>
              <a:tr h="1139392">
                <a:tc>
                  <a:txBody>
                    <a:bodyPr/>
                    <a:lstStyle/>
                    <a:p>
                      <a:pPr algn="l" rtl="0"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submits a complete learning log, work log, and self-assessment rubric. The student exhibits professional behaviour during DataLab sessions.</a:t>
                      </a:r>
                      <a:endParaRPr lang="en-US" sz="900" b="1"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algn="l"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demonstrates the ability to prepare effectively for DataLab sessions by adequately completing the assigned preparation tasks before the corresponding session.</a:t>
                      </a:r>
                      <a:endParaRPr lang="en-US" sz="900" b="1"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algn="l"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demonstrates active participation in stand-up sessions by attending consistently, providing clear and thoughtful responses to stand-up questions, and engaging constructively in discussions.</a:t>
                      </a:r>
                      <a:endParaRPr lang="en-US" sz="900" b="1" i="0" u="none" strike="noStrike" dirty="0">
                        <a:solidFill>
                          <a:srgbClr val="000000"/>
                        </a:solidFill>
                        <a:effectLst/>
                        <a:highlight>
                          <a:srgbClr val="F7C7A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algn="l"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demonstrates the ability to lead stand-up sessions by effectively addressing assigned topics, guiding discussions, encouraging peer contributions, and maintaining an organized and engaging session.</a:t>
                      </a:r>
                      <a:endParaRPr lang="en-US" sz="900" b="1"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3871622024"/>
                  </a:ext>
                </a:extLst>
              </a:tr>
              <a:tr h="1723970">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GB" sz="900" dirty="0"/>
                        <a:t>I consistently update my learning log, work log, and self-assessment rubric, and I actively participate in </a:t>
                      </a:r>
                      <a:r>
                        <a:rPr lang="en-GB" sz="900" dirty="0" err="1"/>
                        <a:t>DataLab</a:t>
                      </a:r>
                      <a:r>
                        <a:rPr lang="en-GB" sz="900" dirty="0"/>
                        <a:t> sessions, demonstrating professionalism and preparation.</a:t>
                      </a:r>
                      <a:endPar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algn="l" fontAlgn="t"/>
                      <a:r>
                        <a:rPr lang="en-GB" sz="800" dirty="0">
                          <a:highlight>
                            <a:srgbClr val="FFFF00"/>
                          </a:highlight>
                        </a:rPr>
                        <a:t>I am retaking this ILO because I did not complete several </a:t>
                      </a:r>
                      <a:r>
                        <a:rPr lang="en-GB" sz="800" dirty="0" err="1">
                          <a:highlight>
                            <a:srgbClr val="FFFF00"/>
                          </a:highlight>
                        </a:rPr>
                        <a:t>DataLab</a:t>
                      </a:r>
                      <a:r>
                        <a:rPr lang="en-GB" sz="800" dirty="0">
                          <a:highlight>
                            <a:srgbClr val="FFFF00"/>
                          </a:highlight>
                        </a:rPr>
                        <a:t> quizzes on time during Block C, as noted in the feedback. To meet the requirements for this retake, I have completed all assigned </a:t>
                      </a:r>
                      <a:r>
                        <a:rPr lang="en-GB" sz="800" dirty="0" err="1">
                          <a:highlight>
                            <a:srgbClr val="FFFF00"/>
                          </a:highlight>
                        </a:rPr>
                        <a:t>DataCamp</a:t>
                      </a:r>
                      <a:r>
                        <a:rPr lang="en-GB" sz="800" dirty="0">
                          <a:highlight>
                            <a:srgbClr val="FFFF00"/>
                          </a:highlight>
                        </a:rPr>
                        <a:t> courses for the self-study days in Block D. The completion certificates are included below as evidence. This demonstrates my renewed commitment to preparation and professionalism.</a:t>
                      </a:r>
                      <a:endParaRPr lang="en-US" sz="8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algn="l" fontAlgn="t"/>
                      <a:r>
                        <a:rPr lang="en-GB" sz="800" dirty="0">
                          <a:highlight>
                            <a:srgbClr val="FFFF00"/>
                          </a:highlight>
                        </a:rPr>
                        <a:t>I am retaking this ILO because I missed several stand-up sessions during Block C, for my personal circumstances. In Block D, I actively participated in </a:t>
                      </a:r>
                      <a:r>
                        <a:rPr lang="en-GB" sz="800" b="1" dirty="0">
                          <a:highlight>
                            <a:srgbClr val="FFFF00"/>
                          </a:highlight>
                        </a:rPr>
                        <a:t>all</a:t>
                      </a:r>
                      <a:r>
                        <a:rPr lang="en-GB" sz="800" dirty="0">
                          <a:highlight>
                            <a:srgbClr val="FFFF00"/>
                          </a:highlight>
                        </a:rPr>
                        <a:t> stand-up sessions and </a:t>
                      </a:r>
                      <a:r>
                        <a:rPr lang="en-GB" sz="800" b="1" dirty="0">
                          <a:highlight>
                            <a:srgbClr val="FFFF00"/>
                          </a:highlight>
                        </a:rPr>
                        <a:t>all</a:t>
                      </a:r>
                      <a:r>
                        <a:rPr lang="en-GB" sz="800" dirty="0">
                          <a:highlight>
                            <a:srgbClr val="FFFF00"/>
                          </a:highlight>
                        </a:rPr>
                        <a:t> </a:t>
                      </a:r>
                      <a:r>
                        <a:rPr lang="en-GB" sz="800" dirty="0" err="1">
                          <a:highlight>
                            <a:srgbClr val="FFFF00"/>
                          </a:highlight>
                        </a:rPr>
                        <a:t>DataLab</a:t>
                      </a:r>
                      <a:r>
                        <a:rPr lang="en-GB" sz="800" dirty="0">
                          <a:highlight>
                            <a:srgbClr val="FFFF00"/>
                          </a:highlight>
                        </a:rPr>
                        <a:t> sessions from the beginning to the end of the block. Additionally, I served as the </a:t>
                      </a:r>
                      <a:r>
                        <a:rPr lang="en-GB" sz="800" b="1" dirty="0">
                          <a:highlight>
                            <a:srgbClr val="FFFF00"/>
                          </a:highlight>
                        </a:rPr>
                        <a:t>team lead for one week</a:t>
                      </a:r>
                      <a:r>
                        <a:rPr lang="en-GB" sz="800" dirty="0">
                          <a:highlight>
                            <a:srgbClr val="FFFF00"/>
                          </a:highlight>
                        </a:rPr>
                        <a:t>, during which I also led the daily stand-ups. Video recordings of my participation are included below as evidence of my consistent engagement, improvement, and leadership contribution</a:t>
                      </a:r>
                      <a:endParaRPr lang="en-US" sz="8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algn="l" fontAlgn="t"/>
                      <a:r>
                        <a:rPr lang="en-GB" sz="900" dirty="0"/>
                        <a:t>I have demonstrated my ability to meet this ILO criterion by completing all the necessary tasks, including implementing XAI methods, conducting A/B testing, and documenting my progress in the learning log. The evidence of this can be seen in my completed tasks, such as wireframe prototype testing and application of transparency methods to my models</a:t>
                      </a:r>
                      <a:endParaRPr lang="en-US" sz="900" b="0"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2843461618"/>
                  </a:ext>
                </a:extLst>
              </a:tr>
              <a:tr h="1085107">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rPr>
                        <a:t>Evidence:</a:t>
                      </a: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hlinkClick r:id="rId3"/>
                        </a:rPr>
                        <a:t>Learning Log</a:t>
                      </a:r>
                      <a:endPar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endPar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hlinkClick r:id="rId4"/>
                        </a:rPr>
                        <a:t>Work Log</a:t>
                      </a:r>
                      <a:endPar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endPar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hlinkClick r:id="rId5"/>
                        </a:rPr>
                        <a:t>Self-assessment Rubric</a:t>
                      </a:r>
                      <a:endPar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Evidence:</a:t>
                      </a:r>
                    </a:p>
                    <a:p>
                      <a:pPr marL="266700" marR="0" lvl="0" indent="-171450" algn="l" defTabSz="914400" rtl="0" eaLnBrk="1" fontAlgn="t" latinLnBrk="0" hangingPunct="1">
                        <a:lnSpc>
                          <a:spcPct val="100000"/>
                        </a:lnSpc>
                        <a:spcBef>
                          <a:spcPts val="0"/>
                        </a:spcBef>
                        <a:spcAft>
                          <a:spcPts val="0"/>
                        </a:spcAft>
                        <a:buClr>
                          <a:srgbClr val="000000"/>
                        </a:buClr>
                        <a:buSzTx/>
                        <a:buFont typeface="Arial"/>
                        <a:buChar char="•"/>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No additional evidence is required for this criterion.</a:t>
                      </a: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hlinkClick r:id="rId3"/>
                        </a:rPr>
                        <a:t>Learning Log</a:t>
                      </a:r>
                      <a:endPar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endPar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hlinkClick r:id="rId4"/>
                        </a:rPr>
                        <a:t>Work Log</a:t>
                      </a:r>
                      <a:endPar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endPar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hlinkClick r:id="rId5"/>
                        </a:rPr>
                        <a:t>Self-assessment Rubric</a:t>
                      </a:r>
                      <a:endPar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endPar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a:buChar char="•"/>
                        <a:tabLst/>
                        <a:defRPr/>
                      </a:pPr>
                      <a:r>
                        <a:rPr lang="en-US" sz="900" b="0" i="0" u="none" strike="noStrike" cap="none" dirty="0">
                          <a:solidFill>
                            <a:schemeClr val="tx2">
                              <a:lumMod val="10000"/>
                            </a:schemeClr>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hlinkClick r:id="rId6"/>
                        </a:rPr>
                        <a:t>DataLab Preparation Tasks</a:t>
                      </a:r>
                      <a:endParaRPr lang="en-US" sz="900" b="0" i="0" u="none" strike="noStrike" cap="none" dirty="0">
                        <a:solidFill>
                          <a:schemeClr val="tx2">
                            <a:lumMod val="10000"/>
                          </a:schemeClr>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a:buChar char="•"/>
                        <a:tabLst/>
                        <a:defRPr/>
                      </a:pPr>
                      <a:endPar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endParaRPr>
                    </a:p>
                    <a:p>
                      <a:pPr algn="l" fontAlgn="t"/>
                      <a:endParaRPr lang="en-US" sz="900" b="0"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Evidence:</a:t>
                      </a: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No additional evidence is required for this criterion.</a:t>
                      </a: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hlinkClick r:id="rId3"/>
                        </a:rPr>
                        <a:t>Learning Log</a:t>
                      </a:r>
                      <a:endPar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endPar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hlinkClick r:id="rId4"/>
                        </a:rPr>
                        <a:t>Work Log</a:t>
                      </a:r>
                      <a:endPar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endPar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hlinkClick r:id="rId5"/>
                        </a:rPr>
                        <a:t>Self-assessment Rubric</a:t>
                      </a:r>
                      <a:endPar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endPar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hlinkClick r:id="rId7"/>
                        </a:rPr>
                        <a:t>Stand-Up Participation</a:t>
                      </a:r>
                      <a:endPar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endParaRPr>
                    </a:p>
                    <a:p>
                      <a:pPr algn="l" fontAlgn="t"/>
                      <a:endParaRPr lang="en-US" sz="900" b="0"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Evidence:</a:t>
                      </a:r>
                    </a:p>
                    <a:p>
                      <a:pPr marL="266700" marR="0" lvl="0" indent="-171450" algn="l" defTabSz="914400" rtl="0" eaLnBrk="1" fontAlgn="t" latinLnBrk="0" hangingPunct="1">
                        <a:lnSpc>
                          <a:spcPct val="100000"/>
                        </a:lnSpc>
                        <a:spcBef>
                          <a:spcPts val="0"/>
                        </a:spcBef>
                        <a:spcAft>
                          <a:spcPts val="0"/>
                        </a:spcAft>
                        <a:buClr>
                          <a:srgbClr val="000000"/>
                        </a:buClr>
                        <a:buSzTx/>
                        <a:buFont typeface="Arial"/>
                        <a:buChar char="•"/>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No additional evidence is required for this criterion.</a:t>
                      </a: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hlinkClick r:id="rId3"/>
                        </a:rPr>
                        <a:t>Learning Log</a:t>
                      </a:r>
                      <a:endPar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endPar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hlinkClick r:id="rId4"/>
                        </a:rPr>
                        <a:t>Work Log</a:t>
                      </a:r>
                      <a:endPar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endPar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hlinkClick r:id="rId5"/>
                        </a:rPr>
                        <a:t>Self-assessment Rubric</a:t>
                      </a:r>
                      <a:endPar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a:buChar char="•"/>
                        <a:tabLst/>
                        <a:defRPr/>
                      </a:pPr>
                      <a:endPar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endParaRPr>
                    </a:p>
                    <a:p>
                      <a:pPr algn="l" fontAlgn="t"/>
                      <a:endParaRPr lang="en-US" sz="900" b="0"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3258312297"/>
                  </a:ext>
                </a:extLst>
              </a:tr>
            </a:tbl>
          </a:graphicData>
        </a:graphic>
      </p:graphicFrame>
    </p:spTree>
    <p:extLst>
      <p:ext uri="{BB962C8B-B14F-4D97-AF65-F5344CB8AC3E}">
        <p14:creationId xmlns:p14="http://schemas.microsoft.com/office/powerpoint/2010/main" val="28373286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ILO </a:t>
            </a:r>
            <a:r>
              <a:rPr lang="en-US" dirty="0"/>
              <a:t>2.3</a:t>
            </a:r>
            <a:endParaRPr dirty="0"/>
          </a:p>
        </p:txBody>
      </p:sp>
      <p:sp>
        <p:nvSpPr>
          <p:cNvPr id="364" name="Google Shape;364;p3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Personal Development &amp; </a:t>
            </a:r>
            <a:br>
              <a:rPr lang="en-US" dirty="0"/>
            </a:br>
            <a:r>
              <a:rPr lang="en-US" dirty="0"/>
              <a:t>Academic Practice</a:t>
            </a:r>
            <a:endParaRPr dirty="0"/>
          </a:p>
        </p:txBody>
      </p:sp>
      <p:sp>
        <p:nvSpPr>
          <p:cNvPr id="365" name="Google Shape;365;p39"/>
          <p:cNvSpPr txBox="1">
            <a:spLocks noGrp="1"/>
          </p:cNvSpPr>
          <p:nvPr>
            <p:ph type="subTitle" idx="2"/>
          </p:nvPr>
        </p:nvSpPr>
        <p:spPr>
          <a:xfrm>
            <a:off x="2827020" y="3353563"/>
            <a:ext cx="5859780" cy="685800"/>
          </a:xfrm>
          <a:prstGeom prst="rect">
            <a:avLst/>
          </a:prstGeom>
        </p:spPr>
        <p:txBody>
          <a:bodyPr spcFirstLastPara="1" wrap="square" lIns="91425" tIns="91425" rIns="91425" bIns="91425" anchor="ctr" anchorCtr="0">
            <a:noAutofit/>
          </a:bodyPr>
          <a:lstStyle/>
          <a:p>
            <a:pPr marL="0" indent="0"/>
            <a:r>
              <a:rPr lang="en-US" dirty="0"/>
              <a:t>The student applies relevant (research) methods and techniques in combination with relevant and adequate argumentation. They can reflect on (business) processes and their role in them, both theoretically and practically, by constantly evaluating their own actions and adapting them with input from others. They can translate the result of the reflection into concrete personal learning objectives. </a:t>
            </a:r>
            <a:endParaRPr lang="en" dirty="0"/>
          </a:p>
        </p:txBody>
      </p:sp>
      <p:sp>
        <p:nvSpPr>
          <p:cNvPr id="366" name="Google Shape;366;p3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40000" dirty="0">
                <a:solidFill>
                  <a:srgbClr val="999999"/>
                </a:solidFill>
                <a:latin typeface="Roboto"/>
                <a:ea typeface="Roboto"/>
                <a:cs typeface="Roboto"/>
                <a:sym typeface="Roboto"/>
              </a:rPr>
              <a:t>2</a:t>
            </a:r>
            <a:endParaRPr sz="40000" dirty="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33934169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92">
          <a:extLst>
            <a:ext uri="{FF2B5EF4-FFF2-40B4-BE49-F238E27FC236}">
              <a16:creationId xmlns:a16="http://schemas.microsoft.com/office/drawing/2014/main" id="{9CE72DEE-ACDD-0C85-A8D2-643C068A4636}"/>
            </a:ext>
          </a:extLst>
        </p:cNvPr>
        <p:cNvGrpSpPr/>
        <p:nvPr/>
      </p:nvGrpSpPr>
      <p:grpSpPr>
        <a:xfrm>
          <a:off x="0" y="0"/>
          <a:ext cx="0" cy="0"/>
          <a:chOff x="0" y="0"/>
          <a:chExt cx="0" cy="0"/>
        </a:xfrm>
      </p:grpSpPr>
      <p:sp>
        <p:nvSpPr>
          <p:cNvPr id="393" name="Google Shape;393;p42">
            <a:extLst>
              <a:ext uri="{FF2B5EF4-FFF2-40B4-BE49-F238E27FC236}">
                <a16:creationId xmlns:a16="http://schemas.microsoft.com/office/drawing/2014/main" id="{30565293-DD45-04B5-46F4-3EC914E32618}"/>
              </a:ext>
            </a:extLst>
          </p:cNvPr>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ILO </a:t>
            </a:r>
            <a:r>
              <a:rPr lang="en-US" dirty="0"/>
              <a:t>2</a:t>
            </a:r>
            <a:endParaRPr dirty="0"/>
          </a:p>
        </p:txBody>
      </p:sp>
      <p:sp>
        <p:nvSpPr>
          <p:cNvPr id="394" name="Google Shape;394;p42">
            <a:extLst>
              <a:ext uri="{FF2B5EF4-FFF2-40B4-BE49-F238E27FC236}">
                <a16:creationId xmlns:a16="http://schemas.microsoft.com/office/drawing/2014/main" id="{25D891EF-5A1E-C425-76F9-5C8953547942}"/>
              </a:ext>
            </a:extLst>
          </p:cNvPr>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a:extLst>
              <a:ext uri="{FF2B5EF4-FFF2-40B4-BE49-F238E27FC236}">
                <a16:creationId xmlns:a16="http://schemas.microsoft.com/office/drawing/2014/main" id="{8DB09334-A441-88DF-84D4-24B84E847968}"/>
              </a:ext>
            </a:extLst>
          </p:cNvPr>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dirty="0">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dirty="0">
              <a:solidFill>
                <a:schemeClr val="lt1"/>
              </a:solidFill>
            </a:endParaRPr>
          </a:p>
          <a:p>
            <a:pPr marL="0" lvl="0" indent="0" algn="l" rtl="0">
              <a:lnSpc>
                <a:spcPct val="115000"/>
              </a:lnSpc>
              <a:spcBef>
                <a:spcPts val="0"/>
              </a:spcBef>
              <a:spcAft>
                <a:spcPts val="0"/>
              </a:spcAft>
              <a:buNone/>
            </a:pPr>
            <a:endParaRPr sz="700" i="1" dirty="0">
              <a:solidFill>
                <a:schemeClr val="lt1"/>
              </a:solidFill>
              <a:latin typeface="Helvetica Neue"/>
              <a:ea typeface="Helvetica Neue"/>
              <a:cs typeface="Helvetica Neue"/>
              <a:sym typeface="Helvetica Neue"/>
            </a:endParaRPr>
          </a:p>
        </p:txBody>
      </p:sp>
      <p:sp>
        <p:nvSpPr>
          <p:cNvPr id="396" name="Google Shape;396;p42">
            <a:extLst>
              <a:ext uri="{FF2B5EF4-FFF2-40B4-BE49-F238E27FC236}">
                <a16:creationId xmlns:a16="http://schemas.microsoft.com/office/drawing/2014/main" id="{F4E448EF-D30C-A5A0-881C-03C246914F08}"/>
              </a:ext>
            </a:extLst>
          </p:cNvPr>
          <p:cNvSpPr txBox="1">
            <a:spLocks noGrp="1"/>
          </p:cNvSpPr>
          <p:nvPr>
            <p:ph type="title" idx="3"/>
          </p:nvPr>
        </p:nvSpPr>
        <p:spPr>
          <a:xfrm>
            <a:off x="2049461" y="0"/>
            <a:ext cx="6111289" cy="576000"/>
          </a:xfrm>
          <a:prstGeom prst="rect">
            <a:avLst/>
          </a:prstGeom>
        </p:spPr>
        <p:txBody>
          <a:bodyPr spcFirstLastPara="1" wrap="square" lIns="91425" tIns="91425" rIns="91425" bIns="91425" anchor="ctr" anchorCtr="0">
            <a:noAutofit/>
          </a:bodyPr>
          <a:lstStyle/>
          <a:p>
            <a:pPr marL="0" indent="0"/>
            <a:r>
              <a:rPr lang="en-US" dirty="0"/>
              <a:t>The student applies relevant (research) methods and techniques in combination with relevant and adequate argumentation. They can reflect on (business) processes and their role in them, both theoretically and practically, by constantly evaluating their own actions and adapting them with input from others. They can translate the result of the reflection into concrete personal learning objectives.</a:t>
            </a:r>
            <a:endParaRPr lang="en-GB" sz="800" dirty="0"/>
          </a:p>
        </p:txBody>
      </p:sp>
      <p:sp>
        <p:nvSpPr>
          <p:cNvPr id="397" name="Google Shape;397;p42">
            <a:extLst>
              <a:ext uri="{FF2B5EF4-FFF2-40B4-BE49-F238E27FC236}">
                <a16:creationId xmlns:a16="http://schemas.microsoft.com/office/drawing/2014/main" id="{344FFF12-19A5-F798-C5AD-07F9563B92F9}"/>
              </a:ext>
            </a:extLst>
          </p:cNvPr>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2.3</a:t>
            </a:r>
            <a:endParaRPr dirty="0"/>
          </a:p>
        </p:txBody>
      </p:sp>
      <p:sp>
        <p:nvSpPr>
          <p:cNvPr id="398" name="Google Shape;398;p42">
            <a:extLst>
              <a:ext uri="{FF2B5EF4-FFF2-40B4-BE49-F238E27FC236}">
                <a16:creationId xmlns:a16="http://schemas.microsoft.com/office/drawing/2014/main" id="{D37F1B2C-4D58-EFC9-5A96-6D1E6198474D}"/>
              </a:ext>
            </a:extLst>
          </p:cNvPr>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pPr>
            <a:r>
              <a:rPr lang="en-US" i="0" dirty="0"/>
              <a:t>The student actively participates in the public speaking workshop and delivers a clear, well-structured presentation with confidence, clarity, and effective nonverbal communication.</a:t>
            </a:r>
          </a:p>
        </p:txBody>
      </p:sp>
      <p:sp>
        <p:nvSpPr>
          <p:cNvPr id="399" name="Google Shape;399;p42">
            <a:extLst>
              <a:ext uri="{FF2B5EF4-FFF2-40B4-BE49-F238E27FC236}">
                <a16:creationId xmlns:a16="http://schemas.microsoft.com/office/drawing/2014/main" id="{5EB9183E-C59F-08D5-4F74-998CB44A117F}"/>
              </a:ext>
            </a:extLst>
          </p:cNvPr>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900" dirty="0"/>
              <a:t>Personal Development &amp; Academic Practice</a:t>
            </a:r>
          </a:p>
        </p:txBody>
      </p:sp>
      <p:graphicFrame>
        <p:nvGraphicFramePr>
          <p:cNvPr id="3" name="Table 2">
            <a:extLst>
              <a:ext uri="{FF2B5EF4-FFF2-40B4-BE49-F238E27FC236}">
                <a16:creationId xmlns:a16="http://schemas.microsoft.com/office/drawing/2014/main" id="{B5EF6693-A04C-E6B4-67FA-A68FDE74C63E}"/>
              </a:ext>
            </a:extLst>
          </p:cNvPr>
          <p:cNvGraphicFramePr>
            <a:graphicFrameLocks noGrp="1"/>
          </p:cNvGraphicFramePr>
          <p:nvPr>
            <p:extLst>
              <p:ext uri="{D42A27DB-BD31-4B8C-83A1-F6EECF244321}">
                <p14:modId xmlns:p14="http://schemas.microsoft.com/office/powerpoint/2010/main" val="3989393768"/>
              </p:ext>
            </p:extLst>
          </p:nvPr>
        </p:nvGraphicFramePr>
        <p:xfrm>
          <a:off x="0" y="1069800"/>
          <a:ext cx="9144001" cy="4224705"/>
        </p:xfrm>
        <a:graphic>
          <a:graphicData uri="http://schemas.openxmlformats.org/drawingml/2006/table">
            <a:tbl>
              <a:tblPr/>
              <a:tblGrid>
                <a:gridCol w="3035808">
                  <a:extLst>
                    <a:ext uri="{9D8B030D-6E8A-4147-A177-3AD203B41FA5}">
                      <a16:colId xmlns:a16="http://schemas.microsoft.com/office/drawing/2014/main" val="2828626719"/>
                    </a:ext>
                  </a:extLst>
                </a:gridCol>
                <a:gridCol w="2999234">
                  <a:extLst>
                    <a:ext uri="{9D8B030D-6E8A-4147-A177-3AD203B41FA5}">
                      <a16:colId xmlns:a16="http://schemas.microsoft.com/office/drawing/2014/main" val="2163814410"/>
                    </a:ext>
                  </a:extLst>
                </a:gridCol>
                <a:gridCol w="3108959">
                  <a:extLst>
                    <a:ext uri="{9D8B030D-6E8A-4147-A177-3AD203B41FA5}">
                      <a16:colId xmlns:a16="http://schemas.microsoft.com/office/drawing/2014/main" val="1982883818"/>
                    </a:ext>
                  </a:extLst>
                </a:gridCol>
              </a:tblGrid>
              <a:tr h="131312">
                <a:tc>
                  <a:txBody>
                    <a:bodyPr/>
                    <a:lstStyle/>
                    <a:p>
                      <a:pPr algn="ctr" fontAlgn="ct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Pre-requisites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A (5 points)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B (5 points)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4251399548"/>
                  </a:ext>
                </a:extLst>
              </a:tr>
              <a:tr h="1137637">
                <a:tc>
                  <a:txBody>
                    <a:bodyPr/>
                    <a:lstStyle/>
                    <a:p>
                      <a:pPr algn="l" rtl="0"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submits a complete learning log, work log, and self-assessment rubric. The student exhibits professional </a:t>
                      </a:r>
                      <a:r>
                        <a:rPr lang="en-US" sz="900" b="1"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behaviour</a:t>
                      </a:r>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during DataLab sessions. The student actively participates in the public speaking workshop. The student presents the results of the project in the final presentation.</a:t>
                      </a:r>
                      <a:endParaRPr lang="en-US" sz="900" b="1"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algn="l"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conveys ideas in a presentation with clarity and enthusiasm, demonstrating confidence through articulate speech and purposeful nonverbal communication.</a:t>
                      </a:r>
                      <a:endParaRPr lang="en-US" sz="900" b="1"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algn="l"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delivers a presentation with a clear introduction, logically ordered content, and a concise conclusion, using slides with appropriately sized text, minimal but informative text, properly resolved images, and well-formatted plots.</a:t>
                      </a:r>
                      <a:endParaRPr lang="en-US" sz="900" b="1" i="0" u="none" strike="noStrike" dirty="0">
                        <a:solidFill>
                          <a:srgbClr val="000000"/>
                        </a:solidFill>
                        <a:effectLst/>
                        <a:highlight>
                          <a:srgbClr val="F7C7A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extLst>
                  <a:ext uri="{0D108BD9-81ED-4DB2-BD59-A6C34878D82A}">
                    <a16:rowId xmlns:a16="http://schemas.microsoft.com/office/drawing/2014/main" val="3871622024"/>
                  </a:ext>
                </a:extLst>
              </a:tr>
              <a:tr h="1721316">
                <a:tc>
                  <a:txBody>
                    <a:bodyPr/>
                    <a:lstStyle/>
                    <a:p>
                      <a:r>
                        <a:rPr lang="en-GB" sz="900" dirty="0"/>
                        <a:t>I have consistently submitted comprehensive learning logs, work logs, and self-assessments, demonstrated professionalism during </a:t>
                      </a:r>
                      <a:r>
                        <a:rPr lang="en-GB" sz="900" dirty="0" err="1"/>
                        <a:t>DataLab</a:t>
                      </a:r>
                      <a:r>
                        <a:rPr lang="en-GB" sz="900" dirty="0"/>
                        <a:t> sessions, actively engaged in the public speaking workshop, and presented the project results during the final presentation</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r>
                        <a:rPr lang="en-GB" sz="900" dirty="0"/>
                        <a:t>I delivered my presentation with clarity and enthusiasm, speaking confidently and using purposeful body language to engage the audience effectively.</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r>
                        <a:rPr lang="en-GB" sz="900" dirty="0"/>
                        <a:t>I structured my presentation with a clear introduction, logically organized content, and a concise conclusion. My slides featured appropriately sized text, minimal but informative content, well-resolved images, and neatly formatted plots to support my points.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extLst>
                  <a:ext uri="{0D108BD9-81ED-4DB2-BD59-A6C34878D82A}">
                    <a16:rowId xmlns:a16="http://schemas.microsoft.com/office/drawing/2014/main" val="2843461618"/>
                  </a:ext>
                </a:extLst>
              </a:tr>
              <a:tr h="1083436">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rPr>
                        <a:t>Evidence:</a:t>
                      </a: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hlinkClick r:id="rId3"/>
                        </a:rPr>
                        <a:t>Learning Log</a:t>
                      </a:r>
                      <a:endPar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endPar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hlinkClick r:id="rId4"/>
                        </a:rPr>
                        <a:t>Work Log</a:t>
                      </a:r>
                      <a:endPar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endPar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hlinkClick r:id="rId5"/>
                        </a:rPr>
                        <a:t>Self-assessment Rubric</a:t>
                      </a:r>
                      <a:endPar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endParaRPr>
                    </a:p>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endPar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Evidence:</a:t>
                      </a:r>
                    </a:p>
                    <a:p>
                      <a:pPr marL="266700" marR="0" lvl="0" indent="-171450" algn="l" defTabSz="914400" rtl="0" eaLnBrk="1" fontAlgn="t" latinLnBrk="0" hangingPunct="1">
                        <a:lnSpc>
                          <a:spcPct val="100000"/>
                        </a:lnSpc>
                        <a:spcBef>
                          <a:spcPts val="0"/>
                        </a:spcBef>
                        <a:spcAft>
                          <a:spcPts val="0"/>
                        </a:spcAft>
                        <a:buClr>
                          <a:srgbClr val="000000"/>
                        </a:buClr>
                        <a:buSzTx/>
                        <a:buFont typeface="Arial"/>
                        <a:buChar char="•"/>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No additional evidence is required for this criterion.</a:t>
                      </a: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hlinkClick r:id="rId3"/>
                        </a:rPr>
                        <a:t>Learning Log</a:t>
                      </a:r>
                      <a:endPar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endPar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hlinkClick r:id="rId4"/>
                        </a:rPr>
                        <a:t>Work Log</a:t>
                      </a:r>
                      <a:endPar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endPar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hlinkClick r:id="rId5"/>
                        </a:rPr>
                        <a:t>Self-assessment Rubric</a:t>
                      </a:r>
                      <a:endPar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a:buChar char="•"/>
                        <a:tabLst/>
                        <a:defRPr/>
                      </a:pPr>
                      <a:endPar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endParaRPr>
                    </a:p>
                    <a:p>
                      <a:pPr algn="l" fontAlgn="t"/>
                      <a:endParaRPr lang="en-US" sz="900" b="0"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Evidence:</a:t>
                      </a: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Add hyperlink to your </a:t>
                      </a: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hlinkClick r:id="rId6"/>
                        </a:rPr>
                        <a:t>Presentation Slides</a:t>
                      </a:r>
                      <a:endPar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endParaRPr>
                    </a:p>
                    <a:p>
                      <a:pPr algn="l" fontAlgn="t"/>
                      <a:endParaRPr lang="en-US" sz="900" b="0"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extLst>
                  <a:ext uri="{0D108BD9-81ED-4DB2-BD59-A6C34878D82A}">
                    <a16:rowId xmlns:a16="http://schemas.microsoft.com/office/drawing/2014/main" val="3258312297"/>
                  </a:ext>
                </a:extLst>
              </a:tr>
            </a:tbl>
          </a:graphicData>
        </a:graphic>
      </p:graphicFrame>
    </p:spTree>
    <p:extLst>
      <p:ext uri="{BB962C8B-B14F-4D97-AF65-F5344CB8AC3E}">
        <p14:creationId xmlns:p14="http://schemas.microsoft.com/office/powerpoint/2010/main" val="21527855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ILO </a:t>
            </a:r>
            <a:r>
              <a:rPr lang="en-US" dirty="0"/>
              <a:t>3.2</a:t>
            </a:r>
            <a:endParaRPr dirty="0"/>
          </a:p>
        </p:txBody>
      </p:sp>
      <p:sp>
        <p:nvSpPr>
          <p:cNvPr id="364" name="Google Shape;364;p3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Ethical and Legal Responsibility</a:t>
            </a:r>
            <a:endParaRPr dirty="0"/>
          </a:p>
        </p:txBody>
      </p:sp>
      <p:sp>
        <p:nvSpPr>
          <p:cNvPr id="365" name="Google Shape;365;p39"/>
          <p:cNvSpPr txBox="1">
            <a:spLocks noGrp="1"/>
          </p:cNvSpPr>
          <p:nvPr>
            <p:ph type="subTitle" idx="2"/>
          </p:nvPr>
        </p:nvSpPr>
        <p:spPr>
          <a:xfrm>
            <a:off x="3200400" y="3353563"/>
            <a:ext cx="5486400" cy="685800"/>
          </a:xfrm>
          <a:prstGeom prst="rect">
            <a:avLst/>
          </a:prstGeom>
        </p:spPr>
        <p:txBody>
          <a:bodyPr spcFirstLastPara="1" wrap="square" lIns="91425" tIns="91425" rIns="91425" bIns="91425" anchor="ctr" anchorCtr="0">
            <a:noAutofit/>
          </a:bodyPr>
          <a:lstStyle/>
          <a:p>
            <a:pPr marL="0" indent="0"/>
            <a:r>
              <a:rPr lang="en-US" dirty="0"/>
              <a:t>The student is aware of legal and ethical aspects within the context of their professional work environment and is able to make substantiated considerations in this regard. They act with justice and integrity. </a:t>
            </a:r>
            <a:endParaRPr lang="en" dirty="0"/>
          </a:p>
        </p:txBody>
      </p:sp>
      <p:sp>
        <p:nvSpPr>
          <p:cNvPr id="366" name="Google Shape;366;p3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40000" dirty="0">
                <a:solidFill>
                  <a:srgbClr val="999999"/>
                </a:solidFill>
                <a:latin typeface="Roboto"/>
                <a:ea typeface="Roboto"/>
                <a:cs typeface="Roboto"/>
                <a:sym typeface="Roboto"/>
              </a:rPr>
              <a:t>3</a:t>
            </a:r>
            <a:endParaRPr sz="40000" dirty="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36254212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92">
          <a:extLst>
            <a:ext uri="{FF2B5EF4-FFF2-40B4-BE49-F238E27FC236}">
              <a16:creationId xmlns:a16="http://schemas.microsoft.com/office/drawing/2014/main" id="{0F6C40D3-00C1-F516-6757-8B22ED8E51E9}"/>
            </a:ext>
          </a:extLst>
        </p:cNvPr>
        <p:cNvGrpSpPr/>
        <p:nvPr/>
      </p:nvGrpSpPr>
      <p:grpSpPr>
        <a:xfrm>
          <a:off x="0" y="0"/>
          <a:ext cx="0" cy="0"/>
          <a:chOff x="0" y="0"/>
          <a:chExt cx="0" cy="0"/>
        </a:xfrm>
      </p:grpSpPr>
      <p:sp>
        <p:nvSpPr>
          <p:cNvPr id="393" name="Google Shape;393;p42">
            <a:extLst>
              <a:ext uri="{FF2B5EF4-FFF2-40B4-BE49-F238E27FC236}">
                <a16:creationId xmlns:a16="http://schemas.microsoft.com/office/drawing/2014/main" id="{E9FEC19C-A73C-B7A4-1DD7-706A7360F767}"/>
              </a:ext>
            </a:extLst>
          </p:cNvPr>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ILO </a:t>
            </a:r>
            <a:r>
              <a:rPr lang="en-US" dirty="0"/>
              <a:t>3</a:t>
            </a:r>
            <a:endParaRPr dirty="0"/>
          </a:p>
        </p:txBody>
      </p:sp>
      <p:sp>
        <p:nvSpPr>
          <p:cNvPr id="394" name="Google Shape;394;p42">
            <a:extLst>
              <a:ext uri="{FF2B5EF4-FFF2-40B4-BE49-F238E27FC236}">
                <a16:creationId xmlns:a16="http://schemas.microsoft.com/office/drawing/2014/main" id="{18FF880B-44BE-0A3C-A2C9-54A0FC136C2D}"/>
              </a:ext>
            </a:extLst>
          </p:cNvPr>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a:extLst>
              <a:ext uri="{FF2B5EF4-FFF2-40B4-BE49-F238E27FC236}">
                <a16:creationId xmlns:a16="http://schemas.microsoft.com/office/drawing/2014/main" id="{1479B178-F412-8780-4475-195A6900E360}"/>
              </a:ext>
            </a:extLst>
          </p:cNvPr>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dirty="0">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dirty="0">
              <a:solidFill>
                <a:schemeClr val="lt1"/>
              </a:solidFill>
            </a:endParaRPr>
          </a:p>
          <a:p>
            <a:pPr marL="0" lvl="0" indent="0" algn="l" rtl="0">
              <a:lnSpc>
                <a:spcPct val="115000"/>
              </a:lnSpc>
              <a:spcBef>
                <a:spcPts val="0"/>
              </a:spcBef>
              <a:spcAft>
                <a:spcPts val="0"/>
              </a:spcAft>
              <a:buNone/>
            </a:pPr>
            <a:endParaRPr sz="700" i="1" dirty="0">
              <a:solidFill>
                <a:schemeClr val="lt1"/>
              </a:solidFill>
              <a:latin typeface="Helvetica Neue"/>
              <a:ea typeface="Helvetica Neue"/>
              <a:cs typeface="Helvetica Neue"/>
              <a:sym typeface="Helvetica Neue"/>
            </a:endParaRPr>
          </a:p>
        </p:txBody>
      </p:sp>
      <p:sp>
        <p:nvSpPr>
          <p:cNvPr id="396" name="Google Shape;396;p42">
            <a:extLst>
              <a:ext uri="{FF2B5EF4-FFF2-40B4-BE49-F238E27FC236}">
                <a16:creationId xmlns:a16="http://schemas.microsoft.com/office/drawing/2014/main" id="{2DD6BCC8-621F-B12B-06C1-B22802C69883}"/>
              </a:ext>
            </a:extLst>
          </p:cNvPr>
          <p:cNvSpPr txBox="1">
            <a:spLocks noGrp="1"/>
          </p:cNvSpPr>
          <p:nvPr>
            <p:ph type="title" idx="3"/>
          </p:nvPr>
        </p:nvSpPr>
        <p:spPr>
          <a:xfrm>
            <a:off x="2049461" y="0"/>
            <a:ext cx="6111289" cy="576000"/>
          </a:xfrm>
          <a:prstGeom prst="rect">
            <a:avLst/>
          </a:prstGeom>
        </p:spPr>
        <p:txBody>
          <a:bodyPr spcFirstLastPara="1" wrap="square" lIns="91425" tIns="91425" rIns="91425" bIns="91425" anchor="ctr" anchorCtr="0">
            <a:noAutofit/>
          </a:bodyPr>
          <a:lstStyle/>
          <a:p>
            <a:pPr marL="0" indent="0"/>
            <a:r>
              <a:rPr lang="en-US" dirty="0"/>
              <a:t>The student is aware of legal and ethical aspects within the context of their professional work environment and is able to make substantiated considerations in this regard. They act with justice and integrity. </a:t>
            </a:r>
          </a:p>
        </p:txBody>
      </p:sp>
      <p:sp>
        <p:nvSpPr>
          <p:cNvPr id="397" name="Google Shape;397;p42">
            <a:extLst>
              <a:ext uri="{FF2B5EF4-FFF2-40B4-BE49-F238E27FC236}">
                <a16:creationId xmlns:a16="http://schemas.microsoft.com/office/drawing/2014/main" id="{8F0B9C1C-4802-62FD-5718-F0875AD002A0}"/>
              </a:ext>
            </a:extLst>
          </p:cNvPr>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3.2</a:t>
            </a:r>
            <a:endParaRPr dirty="0"/>
          </a:p>
        </p:txBody>
      </p:sp>
      <p:sp>
        <p:nvSpPr>
          <p:cNvPr id="398" name="Google Shape;398;p42">
            <a:extLst>
              <a:ext uri="{FF2B5EF4-FFF2-40B4-BE49-F238E27FC236}">
                <a16:creationId xmlns:a16="http://schemas.microsoft.com/office/drawing/2014/main" id="{51F4780C-6FA2-86A0-105D-F0AB4D8D2232}"/>
              </a:ext>
            </a:extLst>
          </p:cNvPr>
          <p:cNvSpPr txBox="1">
            <a:spLocks noGrp="1"/>
          </p:cNvSpPr>
          <p:nvPr>
            <p:ph type="title" idx="5"/>
          </p:nvPr>
        </p:nvSpPr>
        <p:spPr>
          <a:xfrm>
            <a:off x="845550" y="576000"/>
            <a:ext cx="7653290" cy="493800"/>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pPr>
            <a:r>
              <a:rPr lang="en-US" i="0" dirty="0"/>
              <a:t>The student is able to identify and describe the limitations of a deep learning-based AI algorithm in terms of bias, fairness, transparency, and interpretability, and subsequently apply methods that address these limitations. Furthermore, they prepare for and actively engage in discussions on these topics, showcasing their understanding and ability to critically evaluate the ethical implications.</a:t>
            </a:r>
          </a:p>
        </p:txBody>
      </p:sp>
      <p:sp>
        <p:nvSpPr>
          <p:cNvPr id="399" name="Google Shape;399;p42">
            <a:extLst>
              <a:ext uri="{FF2B5EF4-FFF2-40B4-BE49-F238E27FC236}">
                <a16:creationId xmlns:a16="http://schemas.microsoft.com/office/drawing/2014/main" id="{1BE698AF-0B42-B1DB-E141-A0A13AB927E2}"/>
              </a:ext>
            </a:extLst>
          </p:cNvPr>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900" dirty="0"/>
              <a:t>Ethical and Legal Responsibility</a:t>
            </a:r>
          </a:p>
        </p:txBody>
      </p:sp>
      <p:graphicFrame>
        <p:nvGraphicFramePr>
          <p:cNvPr id="3" name="Table 2">
            <a:extLst>
              <a:ext uri="{FF2B5EF4-FFF2-40B4-BE49-F238E27FC236}">
                <a16:creationId xmlns:a16="http://schemas.microsoft.com/office/drawing/2014/main" id="{4AAD9096-E78B-5157-CF69-0E924889F3A0}"/>
              </a:ext>
            </a:extLst>
          </p:cNvPr>
          <p:cNvGraphicFramePr>
            <a:graphicFrameLocks noGrp="1"/>
          </p:cNvGraphicFramePr>
          <p:nvPr>
            <p:extLst>
              <p:ext uri="{D42A27DB-BD31-4B8C-83A1-F6EECF244321}">
                <p14:modId xmlns:p14="http://schemas.microsoft.com/office/powerpoint/2010/main" val="3094340362"/>
              </p:ext>
            </p:extLst>
          </p:nvPr>
        </p:nvGraphicFramePr>
        <p:xfrm>
          <a:off x="0" y="1069801"/>
          <a:ext cx="9144001" cy="5818600"/>
        </p:xfrm>
        <a:graphic>
          <a:graphicData uri="http://schemas.openxmlformats.org/drawingml/2006/table">
            <a:tbl>
              <a:tblPr/>
              <a:tblGrid>
                <a:gridCol w="1807029">
                  <a:extLst>
                    <a:ext uri="{9D8B030D-6E8A-4147-A177-3AD203B41FA5}">
                      <a16:colId xmlns:a16="http://schemas.microsoft.com/office/drawing/2014/main" val="2828626719"/>
                    </a:ext>
                  </a:extLst>
                </a:gridCol>
                <a:gridCol w="1785259">
                  <a:extLst>
                    <a:ext uri="{9D8B030D-6E8A-4147-A177-3AD203B41FA5}">
                      <a16:colId xmlns:a16="http://schemas.microsoft.com/office/drawing/2014/main" val="2163814410"/>
                    </a:ext>
                  </a:extLst>
                </a:gridCol>
                <a:gridCol w="1842073">
                  <a:extLst>
                    <a:ext uri="{9D8B030D-6E8A-4147-A177-3AD203B41FA5}">
                      <a16:colId xmlns:a16="http://schemas.microsoft.com/office/drawing/2014/main" val="1982883818"/>
                    </a:ext>
                  </a:extLst>
                </a:gridCol>
                <a:gridCol w="1859069">
                  <a:extLst>
                    <a:ext uri="{9D8B030D-6E8A-4147-A177-3AD203B41FA5}">
                      <a16:colId xmlns:a16="http://schemas.microsoft.com/office/drawing/2014/main" val="1684357677"/>
                    </a:ext>
                  </a:extLst>
                </a:gridCol>
                <a:gridCol w="1850571">
                  <a:extLst>
                    <a:ext uri="{9D8B030D-6E8A-4147-A177-3AD203B41FA5}">
                      <a16:colId xmlns:a16="http://schemas.microsoft.com/office/drawing/2014/main" val="487796406"/>
                    </a:ext>
                  </a:extLst>
                </a:gridCol>
              </a:tblGrid>
              <a:tr h="126600">
                <a:tc>
                  <a:txBody>
                    <a:bodyPr/>
                    <a:lstStyle/>
                    <a:p>
                      <a:pPr algn="ctr" fontAlgn="ct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Pre-requisites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A (3 points)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B (3 points)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C (4 points)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D (5 points)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4251399548"/>
                  </a:ext>
                </a:extLst>
              </a:tr>
              <a:tr h="1851520">
                <a:tc>
                  <a:txBody>
                    <a:bodyPr/>
                    <a:lstStyle/>
                    <a:p>
                      <a:pPr algn="l" rtl="0"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submits a complete learning log, work log, and self-assessment rubric. The student exhibits professional </a:t>
                      </a:r>
                      <a:r>
                        <a:rPr lang="en-US" sz="900" b="1"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behaviour</a:t>
                      </a:r>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during DataLab sessions.</a:t>
                      </a:r>
                      <a:endParaRPr lang="en-US" sz="900" b="1"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algn="l"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constructs well-reasoned arguments for ethical positions, defends those arguments with evidence and logic, and critically engages with opposing viewpoints in order to formulate their final position.</a:t>
                      </a:r>
                      <a:endParaRPr lang="en-US" sz="900" b="1"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algn="l"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identifies and describes an instance of bias in an image dataset and analyzes the potential representational harm it could cause to individuals or groups. The student proposes an individual fairness method to address the identified bias, explaining its effectiveness in the chosen use case.</a:t>
                      </a:r>
                      <a:endParaRPr lang="en-US" sz="900" b="1" i="0" u="none" strike="noStrike" dirty="0">
                        <a:solidFill>
                          <a:srgbClr val="000000"/>
                        </a:solidFill>
                        <a:effectLst/>
                        <a:highlight>
                          <a:srgbClr val="F7C7A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algn="l"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provides a clear explanation of the concept of group fairness, supports it with appropriate evaluation metrics, and demonstrates its practical application through one or more relevant use cases.</a:t>
                      </a:r>
                      <a:endParaRPr lang="en-US" sz="900" b="1" i="0" u="none" strike="noStrike" dirty="0">
                        <a:solidFill>
                          <a:srgbClr val="000000"/>
                        </a:solidFill>
                        <a:effectLst/>
                        <a:highlight>
                          <a:srgbClr val="F7C7A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algn="l"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correctly applies an explainable AI method to enhance the transparency or interpretability of a deep learning model trained on their created image dataset. The student demonstrates a foundational understanding of the method by clearly articulating its purpose, implementation, and the insights it provides for evaluating the model's performance, understanding its behavior, and interpreting its outputs.</a:t>
                      </a:r>
                      <a:endParaRPr lang="en-US" sz="900" b="1" i="0" u="none" strike="noStrike" dirty="0">
                        <a:solidFill>
                          <a:srgbClr val="000000"/>
                        </a:solidFill>
                        <a:effectLst/>
                        <a:highlight>
                          <a:srgbClr val="F7C7A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extLst>
                  <a:ext uri="{0D108BD9-81ED-4DB2-BD59-A6C34878D82A}">
                    <a16:rowId xmlns:a16="http://schemas.microsoft.com/office/drawing/2014/main" val="3871622024"/>
                  </a:ext>
                </a:extLst>
              </a:tr>
              <a:tr h="1300693">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GB" sz="900" dirty="0"/>
                        <a:t>I have consistently maintained an up-to-date learning log, work log, and self-assessment rubric. I actively participated in </a:t>
                      </a:r>
                      <a:r>
                        <a:rPr lang="en-GB" sz="900" dirty="0" err="1"/>
                        <a:t>DataLab</a:t>
                      </a:r>
                      <a:r>
                        <a:rPr lang="en-GB" sz="900" dirty="0"/>
                        <a:t> sessions and exhibited professional </a:t>
                      </a:r>
                      <a:r>
                        <a:rPr lang="en-GB" sz="900" dirty="0" err="1"/>
                        <a:t>behavior</a:t>
                      </a:r>
                      <a:r>
                        <a:rPr lang="en-GB" sz="900" dirty="0"/>
                        <a:t> by staying focused, engaging with the material, and completing tasks on time</a:t>
                      </a:r>
                      <a:r>
                        <a:rPr lang="en-US" sz="9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a:t>
                      </a:r>
                      <a:endPar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algn="l" fontAlgn="t"/>
                      <a:r>
                        <a:rPr lang="en-GB" sz="800" dirty="0">
                          <a:highlight>
                            <a:srgbClr val="FFFF00"/>
                          </a:highlight>
                        </a:rPr>
                        <a:t>I am retaking this ILO because I did not participate in the original Socratic Dialogue session during Block C and failed to submit the required preparation document, as noted in the feedback. For the retake, I have now completed a full preparation document following the five phases of critical thinking, based on a selected statement from the Socratic Dialogue list. I also actively participated in the retake session and engaged in the ethical discussion by presenting well-reasoned arguments, supporting them with evidence, and constructively responding to opposing viewpoints. My preparation document and evidence of participation are included below.</a:t>
                      </a:r>
                      <a:endParaRPr lang="en-US" sz="8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GB" sz="800" dirty="0">
                          <a:highlight>
                            <a:srgbClr val="FFFF00"/>
                          </a:highlight>
                        </a:rPr>
                        <a:t>I In my analysis, I thoroughly examined the dataset for potential biases and identified an imbalance in the representation of different plant types. However, after considering the feedback, I realized that this type of bias does not involve a direct human element and thus does not cause representational harm to individuals, which is a key requirement for the </a:t>
                      </a:r>
                      <a:r>
                        <a:rPr lang="en-GB" sz="800" dirty="0" err="1">
                          <a:highlight>
                            <a:srgbClr val="FFFF00"/>
                          </a:highlight>
                        </a:rPr>
                        <a:t>DataLab</a:t>
                      </a:r>
                      <a:r>
                        <a:rPr lang="en-GB" sz="800" dirty="0">
                          <a:highlight>
                            <a:srgbClr val="FFFF00"/>
                          </a:highlight>
                        </a:rPr>
                        <a:t> task. Moving forward, I will focus on identifying biases that have clear impacts on people and ensure the analysis reflects potential harm to individuals as expected.</a:t>
                      </a:r>
                    </a:p>
                    <a:p>
                      <a:pPr algn="l" fontAlgn="t"/>
                      <a:endParaRPr lang="en-US" sz="8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algn="l" fontAlgn="t"/>
                      <a:r>
                        <a:rPr lang="en-GB" sz="900" dirty="0">
                          <a:highlight>
                            <a:srgbClr val="FFFF00"/>
                          </a:highlight>
                        </a:rPr>
                        <a:t>I provided a clear explanation of group fairness and supported it with well-chosen evaluation metrics. I also included relevant use cases to demonstrate practical application. However, based on the feedback, I understand that my chosen use case did not sufficiently highlight groups that are harmed, which is important for illustrating group fairness meaningfully</a:t>
                      </a:r>
                      <a:endPar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algn="l" fontAlgn="t"/>
                      <a:r>
                        <a:rPr lang="en-GB" sz="900" dirty="0">
                          <a:highlight>
                            <a:srgbClr val="FFFF00"/>
                          </a:highlight>
                        </a:rPr>
                        <a:t>I applied Grad-CAM as an explainable AI method to improve the transparency and interpretability of my deep learning model trained on the image dataset I created. I clearly explained the purpose of Grad-CAM, how it works, and how it helps to visualize the important regions in images that contribute to the model’s decisions. However, I acknowledge the issues with the implementation and the missing requirements.txt file. I am currently working on fixing the code errors and ensuring all dependencies are properly documented so that the method runs smoothly</a:t>
                      </a:r>
                      <a:endPar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extLst>
                  <a:ext uri="{0D108BD9-81ED-4DB2-BD59-A6C34878D82A}">
                    <a16:rowId xmlns:a16="http://schemas.microsoft.com/office/drawing/2014/main" val="2843461618"/>
                  </a:ext>
                </a:extLst>
              </a:tr>
              <a:tr h="794885">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rPr>
                        <a:t>Evidence:</a:t>
                      </a:r>
                    </a:p>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endPar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hlinkClick r:id="rId3"/>
                        </a:rPr>
                        <a:t>Learning Log</a:t>
                      </a:r>
                      <a:endPar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endPar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hlinkClick r:id="rId4"/>
                        </a:rPr>
                        <a:t>Work Log</a:t>
                      </a:r>
                      <a:endPar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endPar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hlinkClick r:id="rId5"/>
                        </a:rPr>
                        <a:t>Self-assessment Rubric</a:t>
                      </a:r>
                      <a:endPar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endParaRPr>
                    </a:p>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endPar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Evidence:</a:t>
                      </a:r>
                    </a:p>
                    <a:p>
                      <a:pPr marL="266700" marR="0" lvl="0" indent="-171450" algn="l" defTabSz="914400" rtl="0" eaLnBrk="1" fontAlgn="t" latinLnBrk="0" hangingPunct="1">
                        <a:lnSpc>
                          <a:spcPct val="100000"/>
                        </a:lnSpc>
                        <a:spcBef>
                          <a:spcPts val="0"/>
                        </a:spcBef>
                        <a:spcAft>
                          <a:spcPts val="0"/>
                        </a:spcAft>
                        <a:buClr>
                          <a:srgbClr val="000000"/>
                        </a:buClr>
                        <a:buSzTx/>
                        <a:buFont typeface="Arial"/>
                        <a:buChar char="•"/>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No additional evidence is required for this criterion.</a:t>
                      </a: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hlinkClick r:id="rId3"/>
                        </a:rPr>
                        <a:t>Learning Log</a:t>
                      </a:r>
                      <a:endPar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endPar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hlinkClick r:id="rId4"/>
                        </a:rPr>
                        <a:t>Work Log</a:t>
                      </a:r>
                      <a:endPar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endPar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hlinkClick r:id="rId5"/>
                        </a:rPr>
                        <a:t>Self-assessment Rubric</a:t>
                      </a:r>
                      <a:endPar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a:buChar char="•"/>
                        <a:tabLst/>
                        <a:defRPr/>
                      </a:pPr>
                      <a:endPar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a:buChar char="•"/>
                        <a:tabLst/>
                        <a:defRPr/>
                      </a:pPr>
                      <a:r>
                        <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hlinkClick r:id="rId6"/>
                        </a:rPr>
                        <a:t>Socratic Dialogue</a:t>
                      </a:r>
                      <a:endPar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endParaRPr>
                    </a:p>
                    <a:p>
                      <a:pPr algn="l" fontAlgn="t"/>
                      <a:endParaRPr lang="en-US" sz="900" b="0"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Evidence:</a:t>
                      </a: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Add hyperlink to your </a:t>
                      </a:r>
                      <a:r>
                        <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hlinkClick r:id="rId7"/>
                        </a:rPr>
                        <a:t>Responsible AI Template</a:t>
                      </a:r>
                      <a:endPar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Evidence:</a:t>
                      </a: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sym typeface="Arial"/>
                        </a:rPr>
                        <a:t>Add hyperlink to your </a:t>
                      </a:r>
                      <a:r>
                        <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hlinkClick r:id="rId7"/>
                        </a:rPr>
                        <a:t>Responsible AI Template</a:t>
                      </a:r>
                      <a:endPar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Evidence:</a:t>
                      </a: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Add hyperlink to your </a:t>
                      </a:r>
                      <a:r>
                        <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hlinkClick r:id="rId7"/>
                        </a:rPr>
                        <a:t>Responsible AI Template</a:t>
                      </a:r>
                      <a:endPar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extLst>
                  <a:ext uri="{0D108BD9-81ED-4DB2-BD59-A6C34878D82A}">
                    <a16:rowId xmlns:a16="http://schemas.microsoft.com/office/drawing/2014/main" val="3258312297"/>
                  </a:ext>
                </a:extLst>
              </a:tr>
            </a:tbl>
          </a:graphicData>
        </a:graphic>
      </p:graphicFrame>
    </p:spTree>
    <p:extLst>
      <p:ext uri="{BB962C8B-B14F-4D97-AF65-F5344CB8AC3E}">
        <p14:creationId xmlns:p14="http://schemas.microsoft.com/office/powerpoint/2010/main" val="749851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ILO </a:t>
            </a:r>
            <a:r>
              <a:rPr lang="en-US" dirty="0"/>
              <a:t>4.1</a:t>
            </a:r>
            <a:endParaRPr dirty="0"/>
          </a:p>
        </p:txBody>
      </p:sp>
      <p:sp>
        <p:nvSpPr>
          <p:cNvPr id="364" name="Google Shape;364;p3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Problem Analysis</a:t>
            </a:r>
            <a:endParaRPr dirty="0"/>
          </a:p>
        </p:txBody>
      </p:sp>
      <p:sp>
        <p:nvSpPr>
          <p:cNvPr id="365" name="Google Shape;365;p39"/>
          <p:cNvSpPr txBox="1">
            <a:spLocks noGrp="1"/>
          </p:cNvSpPr>
          <p:nvPr>
            <p:ph type="subTitle" idx="2"/>
          </p:nvPr>
        </p:nvSpPr>
        <p:spPr>
          <a:xfrm>
            <a:off x="3200400" y="3353563"/>
            <a:ext cx="5486400" cy="685800"/>
          </a:xfrm>
          <a:prstGeom prst="rect">
            <a:avLst/>
          </a:prstGeom>
        </p:spPr>
        <p:txBody>
          <a:bodyPr spcFirstLastPara="1" wrap="square" lIns="91425" tIns="91425" rIns="91425" bIns="91425" anchor="ctr" anchorCtr="0">
            <a:noAutofit/>
          </a:bodyPr>
          <a:lstStyle/>
          <a:p>
            <a:pPr marL="0" indent="0"/>
            <a:r>
              <a:rPr lang="en-US" dirty="0"/>
              <a:t>The student can analyze a problem by describing the context, trade-offs and formulation of the final demand (as a result of a process of demand articulation). In doing so, they identify the possible solutions. As a result, they can formulate an approach for a data trajectory considering relevant actors and interests, involving relevant theories and (technical) possibilities.</a:t>
            </a:r>
            <a:endParaRPr lang="en" dirty="0"/>
          </a:p>
        </p:txBody>
      </p:sp>
      <p:sp>
        <p:nvSpPr>
          <p:cNvPr id="366" name="Google Shape;366;p3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40000" dirty="0">
                <a:solidFill>
                  <a:srgbClr val="999999"/>
                </a:solidFill>
                <a:latin typeface="Roboto"/>
                <a:ea typeface="Roboto"/>
                <a:cs typeface="Roboto"/>
                <a:sym typeface="Roboto"/>
              </a:rPr>
              <a:t>4</a:t>
            </a:r>
            <a:endParaRPr sz="40000" dirty="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9339090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92">
          <a:extLst>
            <a:ext uri="{FF2B5EF4-FFF2-40B4-BE49-F238E27FC236}">
              <a16:creationId xmlns:a16="http://schemas.microsoft.com/office/drawing/2014/main" id="{758F8CD0-7A1B-8C11-0DD1-4E9E6B82BD9B}"/>
            </a:ext>
          </a:extLst>
        </p:cNvPr>
        <p:cNvGrpSpPr/>
        <p:nvPr/>
      </p:nvGrpSpPr>
      <p:grpSpPr>
        <a:xfrm>
          <a:off x="0" y="0"/>
          <a:ext cx="0" cy="0"/>
          <a:chOff x="0" y="0"/>
          <a:chExt cx="0" cy="0"/>
        </a:xfrm>
      </p:grpSpPr>
      <p:sp>
        <p:nvSpPr>
          <p:cNvPr id="393" name="Google Shape;393;p42">
            <a:extLst>
              <a:ext uri="{FF2B5EF4-FFF2-40B4-BE49-F238E27FC236}">
                <a16:creationId xmlns:a16="http://schemas.microsoft.com/office/drawing/2014/main" id="{A8A500FB-F04C-FD50-68B8-ECE93106EA74}"/>
              </a:ext>
            </a:extLst>
          </p:cNvPr>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ILO </a:t>
            </a:r>
            <a:r>
              <a:rPr lang="en-US" dirty="0"/>
              <a:t>4</a:t>
            </a:r>
            <a:endParaRPr dirty="0"/>
          </a:p>
        </p:txBody>
      </p:sp>
      <p:sp>
        <p:nvSpPr>
          <p:cNvPr id="394" name="Google Shape;394;p42">
            <a:extLst>
              <a:ext uri="{FF2B5EF4-FFF2-40B4-BE49-F238E27FC236}">
                <a16:creationId xmlns:a16="http://schemas.microsoft.com/office/drawing/2014/main" id="{92915741-D2BE-D734-B4AC-99A4AF938A1A}"/>
              </a:ext>
            </a:extLst>
          </p:cNvPr>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dirty="0"/>
              <a:t>1</a:t>
            </a:r>
            <a:r>
              <a:rPr lang="en" dirty="0"/>
              <a:t>/</a:t>
            </a:r>
            <a:r>
              <a:rPr lang="en-NL" dirty="0"/>
              <a:t>1</a:t>
            </a:r>
            <a:endParaRPr dirty="0"/>
          </a:p>
        </p:txBody>
      </p:sp>
      <p:sp>
        <p:nvSpPr>
          <p:cNvPr id="395" name="Google Shape;395;p42">
            <a:extLst>
              <a:ext uri="{FF2B5EF4-FFF2-40B4-BE49-F238E27FC236}">
                <a16:creationId xmlns:a16="http://schemas.microsoft.com/office/drawing/2014/main" id="{B90BC8B0-1CB5-BE85-ADD6-4CA1CD84FAA3}"/>
              </a:ext>
            </a:extLst>
          </p:cNvPr>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dirty="0">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dirty="0">
              <a:solidFill>
                <a:schemeClr val="lt1"/>
              </a:solidFill>
            </a:endParaRPr>
          </a:p>
          <a:p>
            <a:pPr marL="0" lvl="0" indent="0" algn="l" rtl="0">
              <a:lnSpc>
                <a:spcPct val="115000"/>
              </a:lnSpc>
              <a:spcBef>
                <a:spcPts val="0"/>
              </a:spcBef>
              <a:spcAft>
                <a:spcPts val="0"/>
              </a:spcAft>
              <a:buNone/>
            </a:pPr>
            <a:endParaRPr sz="700" i="1" dirty="0">
              <a:solidFill>
                <a:schemeClr val="lt1"/>
              </a:solidFill>
              <a:latin typeface="Helvetica Neue"/>
              <a:ea typeface="Helvetica Neue"/>
              <a:cs typeface="Helvetica Neue"/>
              <a:sym typeface="Helvetica Neue"/>
            </a:endParaRPr>
          </a:p>
        </p:txBody>
      </p:sp>
      <p:sp>
        <p:nvSpPr>
          <p:cNvPr id="396" name="Google Shape;396;p42">
            <a:extLst>
              <a:ext uri="{FF2B5EF4-FFF2-40B4-BE49-F238E27FC236}">
                <a16:creationId xmlns:a16="http://schemas.microsoft.com/office/drawing/2014/main" id="{BF40A512-4857-1247-DDE5-EA11625A73AA}"/>
              </a:ext>
            </a:extLst>
          </p:cNvPr>
          <p:cNvSpPr txBox="1">
            <a:spLocks noGrp="1"/>
          </p:cNvSpPr>
          <p:nvPr>
            <p:ph type="title" idx="3"/>
          </p:nvPr>
        </p:nvSpPr>
        <p:spPr>
          <a:xfrm>
            <a:off x="2049461" y="0"/>
            <a:ext cx="6307139" cy="576000"/>
          </a:xfrm>
          <a:prstGeom prst="rect">
            <a:avLst/>
          </a:prstGeom>
        </p:spPr>
        <p:txBody>
          <a:bodyPr spcFirstLastPara="1" wrap="square" lIns="91425" tIns="91425" rIns="91425" bIns="91425" anchor="ctr" anchorCtr="0">
            <a:noAutofit/>
          </a:bodyPr>
          <a:lstStyle/>
          <a:p>
            <a:pPr marL="0" indent="0"/>
            <a:r>
              <a:rPr lang="en-US" dirty="0"/>
              <a:t>The student can analyze a problem by describing the context, trade-offs and formulation of the final demand (as a result of a process of demand articulation). In doing so, they identify the possible solutions. As a result, they can formulate an approach for a data trajectory considering relevant actors and interests, involving relevant theories and (technical) possibilities </a:t>
            </a:r>
          </a:p>
        </p:txBody>
      </p:sp>
      <p:sp>
        <p:nvSpPr>
          <p:cNvPr id="397" name="Google Shape;397;p42">
            <a:extLst>
              <a:ext uri="{FF2B5EF4-FFF2-40B4-BE49-F238E27FC236}">
                <a16:creationId xmlns:a16="http://schemas.microsoft.com/office/drawing/2014/main" id="{080E2A19-1943-80E2-0163-334841DA4D34}"/>
              </a:ext>
            </a:extLst>
          </p:cNvPr>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4.1</a:t>
            </a:r>
            <a:endParaRPr dirty="0"/>
          </a:p>
        </p:txBody>
      </p:sp>
      <p:sp>
        <p:nvSpPr>
          <p:cNvPr id="398" name="Google Shape;398;p42">
            <a:extLst>
              <a:ext uri="{FF2B5EF4-FFF2-40B4-BE49-F238E27FC236}">
                <a16:creationId xmlns:a16="http://schemas.microsoft.com/office/drawing/2014/main" id="{59EC8470-B970-C9FF-E19A-5A8DB34C929D}"/>
              </a:ext>
            </a:extLst>
          </p:cNvPr>
          <p:cNvSpPr txBox="1">
            <a:spLocks noGrp="1"/>
          </p:cNvSpPr>
          <p:nvPr>
            <p:ph type="title" idx="5"/>
          </p:nvPr>
        </p:nvSpPr>
        <p:spPr>
          <a:xfrm>
            <a:off x="845550" y="576000"/>
            <a:ext cx="7653290" cy="493800"/>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pPr>
            <a:r>
              <a:rPr lang="en-US" i="0" dirty="0"/>
              <a:t>The student is able to identify a data analytics problem and generate an idea for an AI application that addresses the problem, delivering value to an organization or industry and its customers.</a:t>
            </a:r>
          </a:p>
        </p:txBody>
      </p:sp>
      <p:sp>
        <p:nvSpPr>
          <p:cNvPr id="399" name="Google Shape;399;p42">
            <a:extLst>
              <a:ext uri="{FF2B5EF4-FFF2-40B4-BE49-F238E27FC236}">
                <a16:creationId xmlns:a16="http://schemas.microsoft.com/office/drawing/2014/main" id="{1DFE91B3-B679-5030-98D7-D3403F9E7F50}"/>
              </a:ext>
            </a:extLst>
          </p:cNvPr>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900" dirty="0"/>
              <a:t>Problem Analysis</a:t>
            </a:r>
          </a:p>
        </p:txBody>
      </p:sp>
      <p:graphicFrame>
        <p:nvGraphicFramePr>
          <p:cNvPr id="3" name="Table 2">
            <a:extLst>
              <a:ext uri="{FF2B5EF4-FFF2-40B4-BE49-F238E27FC236}">
                <a16:creationId xmlns:a16="http://schemas.microsoft.com/office/drawing/2014/main" id="{62A0A659-A047-66E1-6338-95DDA2FC752F}"/>
              </a:ext>
            </a:extLst>
          </p:cNvPr>
          <p:cNvGraphicFramePr>
            <a:graphicFrameLocks noGrp="1"/>
          </p:cNvGraphicFramePr>
          <p:nvPr>
            <p:extLst>
              <p:ext uri="{D42A27DB-BD31-4B8C-83A1-F6EECF244321}">
                <p14:modId xmlns:p14="http://schemas.microsoft.com/office/powerpoint/2010/main" val="958370574"/>
              </p:ext>
            </p:extLst>
          </p:nvPr>
        </p:nvGraphicFramePr>
        <p:xfrm>
          <a:off x="0" y="1069801"/>
          <a:ext cx="9143999" cy="5315680"/>
        </p:xfrm>
        <a:graphic>
          <a:graphicData uri="http://schemas.openxmlformats.org/drawingml/2006/table">
            <a:tbl>
              <a:tblPr/>
              <a:tblGrid>
                <a:gridCol w="2265528">
                  <a:extLst>
                    <a:ext uri="{9D8B030D-6E8A-4147-A177-3AD203B41FA5}">
                      <a16:colId xmlns:a16="http://schemas.microsoft.com/office/drawing/2014/main" val="2828626719"/>
                    </a:ext>
                  </a:extLst>
                </a:gridCol>
                <a:gridCol w="2238235">
                  <a:extLst>
                    <a:ext uri="{9D8B030D-6E8A-4147-A177-3AD203B41FA5}">
                      <a16:colId xmlns:a16="http://schemas.microsoft.com/office/drawing/2014/main" val="2163814410"/>
                    </a:ext>
                  </a:extLst>
                </a:gridCol>
                <a:gridCol w="2320118">
                  <a:extLst>
                    <a:ext uri="{9D8B030D-6E8A-4147-A177-3AD203B41FA5}">
                      <a16:colId xmlns:a16="http://schemas.microsoft.com/office/drawing/2014/main" val="1982883818"/>
                    </a:ext>
                  </a:extLst>
                </a:gridCol>
                <a:gridCol w="2320118">
                  <a:extLst>
                    <a:ext uri="{9D8B030D-6E8A-4147-A177-3AD203B41FA5}">
                      <a16:colId xmlns:a16="http://schemas.microsoft.com/office/drawing/2014/main" val="1684357677"/>
                    </a:ext>
                  </a:extLst>
                </a:gridCol>
              </a:tblGrid>
              <a:tr h="126600">
                <a:tc>
                  <a:txBody>
                    <a:bodyPr/>
                    <a:lstStyle/>
                    <a:p>
                      <a:pPr algn="ctr" fontAlgn="ct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Pre-requisites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A (4 points)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B (3 points)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C (3 points)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4251399548"/>
                  </a:ext>
                </a:extLst>
              </a:tr>
              <a:tr h="1851520">
                <a:tc>
                  <a:txBody>
                    <a:bodyPr/>
                    <a:lstStyle/>
                    <a:p>
                      <a:pPr algn="l" rtl="0"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submits a complete learning log, work log, and self-assessment rubric. The student exhibits professional </a:t>
                      </a:r>
                      <a:r>
                        <a:rPr lang="en-US" sz="900" b="1"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behaviour</a:t>
                      </a:r>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during DataLab sessions.</a:t>
                      </a:r>
                      <a:endParaRPr lang="en-US" sz="900" b="1"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algn="l"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conducts market research for product development supported by statistical data and justifications, resulting in a clear problem definition within a specific industry or organization. The student identifies and analyzes the key stakeholder groups and determines the main stakeholder by prioritizing them. The student explains the main stakeholder's needs, priorities and expectations, and links them to the identified problem in the industry or organization, highlighting their role in solving the problem.</a:t>
                      </a:r>
                      <a:endParaRPr lang="en-US" sz="900" b="1"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algn="l"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appropriately applies a problem-structuring framework to a project to ensure its relevance to technical, organizational, and/or industry goals.</a:t>
                      </a:r>
                      <a:endParaRPr lang="en-US" sz="900" b="1" i="0" u="none" strike="noStrike" dirty="0">
                        <a:solidFill>
                          <a:srgbClr val="000000"/>
                        </a:solidFill>
                        <a:effectLst/>
                        <a:highlight>
                          <a:srgbClr val="F7C7A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algn="l"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is able to create an idea for an application that aligns with the data analytics problem, addresses stakeholder needs, and contributes to solving the problem within a specific industry or organization. The student can provide enough evidence to defend the business value of the proposed idea.</a:t>
                      </a:r>
                      <a:endParaRPr lang="en-US" sz="900" b="1" i="0" u="none" strike="noStrike" dirty="0">
                        <a:solidFill>
                          <a:srgbClr val="000000"/>
                        </a:solidFill>
                        <a:effectLst/>
                        <a:highlight>
                          <a:srgbClr val="F7C7A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3871622024"/>
                  </a:ext>
                </a:extLst>
              </a:tr>
              <a:tr h="1300693">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GB" sz="900" dirty="0"/>
                        <a:t>I submitted my complete learning log, work log, and self-assessment rubric on time. Throughout the </a:t>
                      </a:r>
                      <a:r>
                        <a:rPr lang="en-GB" sz="900" dirty="0" err="1"/>
                        <a:t>DataLab</a:t>
                      </a:r>
                      <a:r>
                        <a:rPr lang="en-GB" sz="900" dirty="0"/>
                        <a:t> sessions, I maintained professional </a:t>
                      </a:r>
                      <a:r>
                        <a:rPr lang="en-GB" sz="900" dirty="0" err="1"/>
                        <a:t>behavior</a:t>
                      </a:r>
                      <a:r>
                        <a:rPr lang="en-GB" sz="900" dirty="0"/>
                        <a:t>, actively engaged with the material, and collaborated effectively with my peers</a:t>
                      </a:r>
                      <a:endPar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algn="l" fontAlgn="t"/>
                      <a:r>
                        <a:rPr lang="en-GB" sz="900" dirty="0"/>
                        <a:t>I conducted market research, defined the problem, prioritized stakeholders, and linked the main stakeholder's needs to the solution.</a:t>
                      </a:r>
                    </a:p>
                    <a:p>
                      <a:pPr algn="l" fontAlgn="t"/>
                      <a:endParaRPr lang="en-GB" sz="900" b="0"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p>
                      <a:pPr algn="l" fontAlgn="t"/>
                      <a:endParaRPr lang="en-GB" sz="900" b="0"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p>
                      <a:pPr algn="l" fontAlgn="t"/>
                      <a:endParaRPr lang="en-GB" sz="900" b="0"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900" b="0" i="0" u="none" strike="noStrike" dirty="0">
                          <a:solidFill>
                            <a:srgbClr val="000000"/>
                          </a:solidFill>
                          <a:effectLst/>
                          <a:highlight>
                            <a:srgbClr val="00FFFF"/>
                          </a:highlight>
                          <a:latin typeface="Roboto" panose="02000000000000000000" pitchFamily="2" charset="0"/>
                          <a:ea typeface="Roboto" panose="02000000000000000000" pitchFamily="2" charset="0"/>
                          <a:cs typeface="Roboto" panose="02000000000000000000" pitchFamily="2" charset="0"/>
                        </a:rPr>
                        <a:t>Actually I did not change anything for this part because I already have points but I renewed the link</a:t>
                      </a:r>
                      <a:endParaRPr lang="en-US" sz="900" b="0" i="0" u="none" strike="noStrike" dirty="0">
                        <a:solidFill>
                          <a:srgbClr val="000000"/>
                        </a:solidFill>
                        <a:effectLst/>
                        <a:highlight>
                          <a:srgbClr val="00FFFF"/>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algn="l" fontAlgn="t"/>
                      <a:r>
                        <a:rPr lang="en-GB" sz="800" dirty="0">
                          <a:highlight>
                            <a:srgbClr val="FFFF00"/>
                          </a:highlight>
                        </a:rPr>
                        <a:t>I am retaking this ILO because in the original submission, the DAPS diagram link was not working, which prevented the evaluation of how I structured the problem in relation to technical, organizational, and industry goals. To address this issue, I have updated my Business Understanding template and inserted the full DAPS diagram link.</a:t>
                      </a:r>
                      <a:endParaRPr lang="en-US" sz="8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r>
                        <a:rPr lang="en-GB" sz="900" dirty="0">
                          <a:highlight>
                            <a:srgbClr val="FFFF00"/>
                          </a:highlight>
                        </a:rPr>
                        <a:t>I</a:t>
                      </a:r>
                      <a:r>
                        <a:rPr lang="en-GB" sz="800" dirty="0">
                          <a:highlight>
                            <a:srgbClr val="FFFF00"/>
                          </a:highlight>
                        </a:rPr>
                        <a:t> am retaking this ILO because my original submission did not fully demonstrate the scalability of the proposed application, which is an essential aspect of business value and long-term viability. As noted in the feedback, the scalability of the application was not clearly explained.</a:t>
                      </a:r>
                    </a:p>
                    <a:p>
                      <a:r>
                        <a:rPr lang="en-GB" sz="800" dirty="0">
                          <a:highlight>
                            <a:srgbClr val="FFFF00"/>
                          </a:highlight>
                        </a:rPr>
                        <a:t>In response, I revised my Business Understanding template and added a dedicated section titled </a:t>
                      </a:r>
                      <a:r>
                        <a:rPr lang="en-GB" sz="800" b="1" dirty="0">
                          <a:highlight>
                            <a:srgbClr val="FFFF00"/>
                          </a:highlight>
                        </a:rPr>
                        <a:t>"Scalability and Long-Term Vision"</a:t>
                      </a:r>
                      <a:r>
                        <a:rPr lang="en-GB" sz="800" dirty="0">
                          <a:highlight>
                            <a:srgbClr val="FFFF00"/>
                          </a:highlight>
                        </a:rPr>
                        <a:t> at the end of </a:t>
                      </a:r>
                      <a:r>
                        <a:rPr lang="en-GB" sz="800" b="1" dirty="0">
                          <a:highlight>
                            <a:srgbClr val="FFFF00"/>
                          </a:highlight>
                        </a:rPr>
                        <a:t>Task 1.4</a:t>
                      </a:r>
                      <a:r>
                        <a:rPr lang="en-GB" sz="800" dirty="0">
                          <a:highlight>
                            <a:srgbClr val="FFFF00"/>
                          </a:highlight>
                        </a:rPr>
                        <a:t>. This section outlines how the application can grow through smart device integration and cloud infrastructure to support increased user demand. These additions strengthen the alignment between the application idea, stakeholder needs, and its potential for long-term impact in the plant care industry.</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2843461618"/>
                  </a:ext>
                </a:extLst>
              </a:tr>
              <a:tr h="794885">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rPr>
                        <a:t>Evidence:</a:t>
                      </a: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hlinkClick r:id="rId3"/>
                        </a:rPr>
                        <a:t>Learning Log</a:t>
                      </a:r>
                      <a:endPar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endPar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hlinkClick r:id="rId4"/>
                        </a:rPr>
                        <a:t>Work Log</a:t>
                      </a:r>
                      <a:endPar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endPar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hlinkClick r:id="rId5"/>
                        </a:rPr>
                        <a:t>Self-assessment Rubric</a:t>
                      </a:r>
                      <a:endPar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endPar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endPar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endPar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endPar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Evidence:</a:t>
                      </a:r>
                      <a:endPar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hlinkClick r:id="rId6"/>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hlinkClick r:id="rId6"/>
                        </a:rPr>
                        <a:t>Business Understanding Template</a:t>
                      </a:r>
                      <a:endPar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Evidence:</a:t>
                      </a: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hlinkClick r:id="rId6"/>
                        </a:rPr>
                        <a:t>Business Understanding Template</a:t>
                      </a:r>
                      <a:endPar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Evidence:</a:t>
                      </a: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hlinkClick r:id="rId6"/>
                        </a:rPr>
                        <a:t>Business Understanding Template</a:t>
                      </a:r>
                      <a:endPar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3258312297"/>
                  </a:ext>
                </a:extLst>
              </a:tr>
            </a:tbl>
          </a:graphicData>
        </a:graphic>
      </p:graphicFrame>
    </p:spTree>
    <p:extLst>
      <p:ext uri="{BB962C8B-B14F-4D97-AF65-F5344CB8AC3E}">
        <p14:creationId xmlns:p14="http://schemas.microsoft.com/office/powerpoint/2010/main" val="1504228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ILO </a:t>
            </a:r>
            <a:r>
              <a:rPr lang="en-US" dirty="0"/>
              <a:t>6.2</a:t>
            </a:r>
            <a:endParaRPr dirty="0"/>
          </a:p>
        </p:txBody>
      </p:sp>
      <p:sp>
        <p:nvSpPr>
          <p:cNvPr id="364" name="Google Shape;364;p3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Data Collection and Processing</a:t>
            </a:r>
            <a:endParaRPr dirty="0"/>
          </a:p>
        </p:txBody>
      </p:sp>
      <p:sp>
        <p:nvSpPr>
          <p:cNvPr id="365" name="Google Shape;365;p39"/>
          <p:cNvSpPr txBox="1">
            <a:spLocks noGrp="1"/>
          </p:cNvSpPr>
          <p:nvPr>
            <p:ph type="subTitle" idx="2"/>
          </p:nvPr>
        </p:nvSpPr>
        <p:spPr>
          <a:xfrm>
            <a:off x="3200400" y="3353563"/>
            <a:ext cx="5486400" cy="685800"/>
          </a:xfrm>
          <a:prstGeom prst="rect">
            <a:avLst/>
          </a:prstGeom>
        </p:spPr>
        <p:txBody>
          <a:bodyPr spcFirstLastPara="1" wrap="square" lIns="91425" tIns="91425" rIns="91425" bIns="91425" anchor="ctr" anchorCtr="0">
            <a:noAutofit/>
          </a:bodyPr>
          <a:lstStyle/>
          <a:p>
            <a:pPr marL="0" indent="0"/>
            <a:r>
              <a:rPr lang="en-US" dirty="0"/>
              <a:t>The student masters (technological) skills to acquire, pre-process, process and manage the necessary data to create value for individuals, organizations and domains. </a:t>
            </a:r>
            <a:endParaRPr lang="en" dirty="0"/>
          </a:p>
        </p:txBody>
      </p:sp>
      <p:sp>
        <p:nvSpPr>
          <p:cNvPr id="366" name="Google Shape;366;p3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40000" dirty="0">
                <a:solidFill>
                  <a:srgbClr val="999999"/>
                </a:solidFill>
                <a:latin typeface="Roboto"/>
                <a:ea typeface="Roboto"/>
                <a:cs typeface="Roboto"/>
                <a:sym typeface="Roboto"/>
              </a:rPr>
              <a:t>6</a:t>
            </a:r>
            <a:endParaRPr sz="40000" dirty="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39322707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92">
          <a:extLst>
            <a:ext uri="{FF2B5EF4-FFF2-40B4-BE49-F238E27FC236}">
              <a16:creationId xmlns:a16="http://schemas.microsoft.com/office/drawing/2014/main" id="{98657618-E683-4A1C-92F7-4F666B62088E}"/>
            </a:ext>
          </a:extLst>
        </p:cNvPr>
        <p:cNvGrpSpPr/>
        <p:nvPr/>
      </p:nvGrpSpPr>
      <p:grpSpPr>
        <a:xfrm>
          <a:off x="0" y="0"/>
          <a:ext cx="0" cy="0"/>
          <a:chOff x="0" y="0"/>
          <a:chExt cx="0" cy="0"/>
        </a:xfrm>
      </p:grpSpPr>
      <p:sp>
        <p:nvSpPr>
          <p:cNvPr id="393" name="Google Shape;393;p42">
            <a:extLst>
              <a:ext uri="{FF2B5EF4-FFF2-40B4-BE49-F238E27FC236}">
                <a16:creationId xmlns:a16="http://schemas.microsoft.com/office/drawing/2014/main" id="{F1D6BB08-DA49-E9DF-7DB5-55C6ED59F71D}"/>
              </a:ext>
            </a:extLst>
          </p:cNvPr>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ILO </a:t>
            </a:r>
            <a:r>
              <a:rPr lang="en-US" dirty="0"/>
              <a:t>6</a:t>
            </a:r>
            <a:endParaRPr dirty="0"/>
          </a:p>
        </p:txBody>
      </p:sp>
      <p:sp>
        <p:nvSpPr>
          <p:cNvPr id="394" name="Google Shape;394;p42">
            <a:extLst>
              <a:ext uri="{FF2B5EF4-FFF2-40B4-BE49-F238E27FC236}">
                <a16:creationId xmlns:a16="http://schemas.microsoft.com/office/drawing/2014/main" id="{1F9A1DE9-8569-AD20-CE7C-128EC5C7CC26}"/>
              </a:ext>
            </a:extLst>
          </p:cNvPr>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a:extLst>
              <a:ext uri="{FF2B5EF4-FFF2-40B4-BE49-F238E27FC236}">
                <a16:creationId xmlns:a16="http://schemas.microsoft.com/office/drawing/2014/main" id="{AD7126E4-D2F3-D43C-A005-F0CDE4EBE6D9}"/>
              </a:ext>
            </a:extLst>
          </p:cNvPr>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dirty="0">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dirty="0">
              <a:solidFill>
                <a:schemeClr val="lt1"/>
              </a:solidFill>
            </a:endParaRPr>
          </a:p>
          <a:p>
            <a:pPr marL="0" lvl="0" indent="0" algn="l" rtl="0">
              <a:lnSpc>
                <a:spcPct val="115000"/>
              </a:lnSpc>
              <a:spcBef>
                <a:spcPts val="0"/>
              </a:spcBef>
              <a:spcAft>
                <a:spcPts val="0"/>
              </a:spcAft>
              <a:buNone/>
            </a:pPr>
            <a:endParaRPr sz="700" i="1" dirty="0">
              <a:solidFill>
                <a:schemeClr val="lt1"/>
              </a:solidFill>
              <a:latin typeface="Helvetica Neue"/>
              <a:ea typeface="Helvetica Neue"/>
              <a:cs typeface="Helvetica Neue"/>
              <a:sym typeface="Helvetica Neue"/>
            </a:endParaRPr>
          </a:p>
        </p:txBody>
      </p:sp>
      <p:sp>
        <p:nvSpPr>
          <p:cNvPr id="396" name="Google Shape;396;p42">
            <a:extLst>
              <a:ext uri="{FF2B5EF4-FFF2-40B4-BE49-F238E27FC236}">
                <a16:creationId xmlns:a16="http://schemas.microsoft.com/office/drawing/2014/main" id="{DB870D58-93B6-A4C8-BFB7-C526A601B163}"/>
              </a:ext>
            </a:extLst>
          </p:cNvPr>
          <p:cNvSpPr txBox="1">
            <a:spLocks noGrp="1"/>
          </p:cNvSpPr>
          <p:nvPr>
            <p:ph type="title" idx="3"/>
          </p:nvPr>
        </p:nvSpPr>
        <p:spPr>
          <a:xfrm>
            <a:off x="2049461" y="0"/>
            <a:ext cx="6111289" cy="576000"/>
          </a:xfrm>
          <a:prstGeom prst="rect">
            <a:avLst/>
          </a:prstGeom>
        </p:spPr>
        <p:txBody>
          <a:bodyPr spcFirstLastPara="1" wrap="square" lIns="91425" tIns="91425" rIns="91425" bIns="91425" anchor="ctr" anchorCtr="0">
            <a:noAutofit/>
          </a:bodyPr>
          <a:lstStyle/>
          <a:p>
            <a:pPr marL="0" indent="0"/>
            <a:r>
              <a:rPr lang="en-US" dirty="0"/>
              <a:t>The student masters (technological) skills to acquire, pre-process, process and manage the necessary data to create value for individuals, organizations and domains. </a:t>
            </a:r>
            <a:endParaRPr lang="en-GB" sz="800" dirty="0"/>
          </a:p>
        </p:txBody>
      </p:sp>
      <p:sp>
        <p:nvSpPr>
          <p:cNvPr id="397" name="Google Shape;397;p42">
            <a:extLst>
              <a:ext uri="{FF2B5EF4-FFF2-40B4-BE49-F238E27FC236}">
                <a16:creationId xmlns:a16="http://schemas.microsoft.com/office/drawing/2014/main" id="{8BCA2A5F-6F97-B944-4368-C071A543AA26}"/>
              </a:ext>
            </a:extLst>
          </p:cNvPr>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6.2</a:t>
            </a:r>
            <a:endParaRPr dirty="0"/>
          </a:p>
        </p:txBody>
      </p:sp>
      <p:sp>
        <p:nvSpPr>
          <p:cNvPr id="398" name="Google Shape;398;p42">
            <a:extLst>
              <a:ext uri="{FF2B5EF4-FFF2-40B4-BE49-F238E27FC236}">
                <a16:creationId xmlns:a16="http://schemas.microsoft.com/office/drawing/2014/main" id="{B0B48901-EBED-9E48-B54B-86EE66702864}"/>
              </a:ext>
            </a:extLst>
          </p:cNvPr>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pPr>
            <a:r>
              <a:rPr lang="en-US" i="0" dirty="0"/>
              <a:t>The student demonstrates the ability to create an image dataset for deep learning by collecting and pre-processing relevant data aligned with the business goals of the project.</a:t>
            </a:r>
          </a:p>
        </p:txBody>
      </p:sp>
      <p:sp>
        <p:nvSpPr>
          <p:cNvPr id="399" name="Google Shape;399;p42">
            <a:extLst>
              <a:ext uri="{FF2B5EF4-FFF2-40B4-BE49-F238E27FC236}">
                <a16:creationId xmlns:a16="http://schemas.microsoft.com/office/drawing/2014/main" id="{29E676CF-054C-6EC9-19F7-BA5FC1177052}"/>
              </a:ext>
            </a:extLst>
          </p:cNvPr>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900" dirty="0"/>
              <a:t>Data Collection and Processing</a:t>
            </a:r>
          </a:p>
        </p:txBody>
      </p:sp>
      <p:graphicFrame>
        <p:nvGraphicFramePr>
          <p:cNvPr id="3" name="Table 2">
            <a:extLst>
              <a:ext uri="{FF2B5EF4-FFF2-40B4-BE49-F238E27FC236}">
                <a16:creationId xmlns:a16="http://schemas.microsoft.com/office/drawing/2014/main" id="{3F468D94-0AF9-6AF8-5905-0D17DF5B59B9}"/>
              </a:ext>
            </a:extLst>
          </p:cNvPr>
          <p:cNvGraphicFramePr>
            <a:graphicFrameLocks noGrp="1"/>
          </p:cNvGraphicFramePr>
          <p:nvPr>
            <p:extLst>
              <p:ext uri="{D42A27DB-BD31-4B8C-83A1-F6EECF244321}">
                <p14:modId xmlns:p14="http://schemas.microsoft.com/office/powerpoint/2010/main" val="1257727296"/>
              </p:ext>
            </p:extLst>
          </p:nvPr>
        </p:nvGraphicFramePr>
        <p:xfrm>
          <a:off x="0" y="1069800"/>
          <a:ext cx="9144001" cy="4087545"/>
        </p:xfrm>
        <a:graphic>
          <a:graphicData uri="http://schemas.openxmlformats.org/drawingml/2006/table">
            <a:tbl>
              <a:tblPr/>
              <a:tblGrid>
                <a:gridCol w="3035808">
                  <a:extLst>
                    <a:ext uri="{9D8B030D-6E8A-4147-A177-3AD203B41FA5}">
                      <a16:colId xmlns:a16="http://schemas.microsoft.com/office/drawing/2014/main" val="2828626719"/>
                    </a:ext>
                  </a:extLst>
                </a:gridCol>
                <a:gridCol w="2999234">
                  <a:extLst>
                    <a:ext uri="{9D8B030D-6E8A-4147-A177-3AD203B41FA5}">
                      <a16:colId xmlns:a16="http://schemas.microsoft.com/office/drawing/2014/main" val="2163814410"/>
                    </a:ext>
                  </a:extLst>
                </a:gridCol>
                <a:gridCol w="3108959">
                  <a:extLst>
                    <a:ext uri="{9D8B030D-6E8A-4147-A177-3AD203B41FA5}">
                      <a16:colId xmlns:a16="http://schemas.microsoft.com/office/drawing/2014/main" val="1982883818"/>
                    </a:ext>
                  </a:extLst>
                </a:gridCol>
              </a:tblGrid>
              <a:tr h="131312">
                <a:tc>
                  <a:txBody>
                    <a:bodyPr/>
                    <a:lstStyle/>
                    <a:p>
                      <a:pPr algn="ctr" fontAlgn="ct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Pre-requisites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A (4 points)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B (6 points)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4251399548"/>
                  </a:ext>
                </a:extLst>
              </a:tr>
              <a:tr h="1137637">
                <a:tc>
                  <a:txBody>
                    <a:bodyPr/>
                    <a:lstStyle/>
                    <a:p>
                      <a:pPr algn="l" rtl="0"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submits a complete learning log, work log, and self-assessment rubric. The student exhibits professional </a:t>
                      </a:r>
                      <a:r>
                        <a:rPr lang="en-US" sz="900" b="1"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behaviour</a:t>
                      </a:r>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during DataLab sessions. The dataset is evidenced in the learning log.</a:t>
                      </a:r>
                      <a:endParaRPr lang="en-US" sz="900" b="1"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algn="l"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is able to create an image dataset that aligns with the business objectives and project requirements, ensuring it contains the necessary classes and is sufficiently diverse and complete for training a deep learning model.</a:t>
                      </a:r>
                      <a:endParaRPr lang="en-US" sz="900" b="1"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algn="l"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demonstrates the ability to pre-process an image dataset by organizing it with a clear structure, labeling images appropriately, and performing data-cleaning tasks to remove irrelevant or duplicate images. The student also standardizes the dataset to ensure consistency in image format and prepares it for deep learning by splitting the dataset into training, validation, and test sets.</a:t>
                      </a:r>
                      <a:endParaRPr lang="en-US" sz="900" b="1" i="0" u="none" strike="noStrike" dirty="0">
                        <a:solidFill>
                          <a:srgbClr val="000000"/>
                        </a:solidFill>
                        <a:effectLst/>
                        <a:highlight>
                          <a:srgbClr val="F7C7A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extLst>
                  <a:ext uri="{0D108BD9-81ED-4DB2-BD59-A6C34878D82A}">
                    <a16:rowId xmlns:a16="http://schemas.microsoft.com/office/drawing/2014/main" val="3871622024"/>
                  </a:ext>
                </a:extLst>
              </a:tr>
              <a:tr h="1721316">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Provide a written justification explaining how you meet these pre-requisites. Refer to specific evidence that demonstrates your compliance with the requirements.</a:t>
                      </a:r>
                      <a:endPar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algn="l" fontAlgn="t"/>
                      <a:r>
                        <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Provide a written justification explaining why you qualify for this ILO criterion. Refer to specific evidence that demonstrates how you meet the criterion.</a:t>
                      </a:r>
                      <a:endParaRPr lang="en-US" sz="900" b="0"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algn="l" fontAlgn="t"/>
                      <a:r>
                        <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Provide a written justification explaining why you qualify for this ILO criterion. Refer to specific evidence that demonstrates how you meet the criterion.</a:t>
                      </a:r>
                      <a:endParaRPr lang="en-US" sz="900" b="0"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extLst>
                  <a:ext uri="{0D108BD9-81ED-4DB2-BD59-A6C34878D82A}">
                    <a16:rowId xmlns:a16="http://schemas.microsoft.com/office/drawing/2014/main" val="2843461618"/>
                  </a:ext>
                </a:extLst>
              </a:tr>
              <a:tr h="1083436">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rPr>
                        <a:t>Evidence:</a:t>
                      </a:r>
                    </a:p>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endPar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hlinkClick r:id="rId3"/>
                        </a:rPr>
                        <a:t>Learning Log</a:t>
                      </a:r>
                      <a:endPar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endPar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hlinkClick r:id="rId4"/>
                        </a:rPr>
                        <a:t>Work Log</a:t>
                      </a:r>
                      <a:endPar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endPar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hlinkClick r:id="rId5"/>
                        </a:rPr>
                        <a:t>Self-assessment Rubric</a:t>
                      </a:r>
                      <a:endPar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endParaRPr>
                    </a:p>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endPar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Evidence:</a:t>
                      </a: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sym typeface="Arial"/>
                        </a:rPr>
                        <a:t>Add hyperlink to your </a:t>
                      </a: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hlinkClick r:id="rId6"/>
                        </a:rPr>
                        <a:t>Deep Learning Template</a:t>
                      </a:r>
                      <a:endPar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sym typeface="Arial"/>
                        </a:rPr>
                        <a:t>Add hyperlink to your </a:t>
                      </a:r>
                      <a:r>
                        <a:rPr lang="en-US" sz="900" b="0" i="0" u="none" strike="noStrike" cap="non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sym typeface="Arial"/>
                          <a:hlinkClick r:id="rId7"/>
                        </a:rPr>
                        <a:t>Dataset</a:t>
                      </a:r>
                      <a:endParaRPr lang="en-US" sz="900" b="0" i="0" u="none" strike="noStrike" cap="non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sym typeface="Arial"/>
                      </a:endParaRPr>
                    </a:p>
                    <a:p>
                      <a:pPr algn="l" fontAlgn="t"/>
                      <a:endParaRPr lang="en-US" sz="900" b="0"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Evidence:</a:t>
                      </a: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Add hyperlink to your </a:t>
                      </a: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hlinkClick r:id="rId6"/>
                        </a:rPr>
                        <a:t>Deep Learning Template</a:t>
                      </a:r>
                      <a:endPar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Add hyperlink to your </a:t>
                      </a:r>
                      <a:r>
                        <a:rPr lang="en-US" sz="900" b="0" i="0" u="none" strike="noStrike" cap="non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sym typeface="Arial"/>
                          <a:hlinkClick r:id="rId7"/>
                        </a:rPr>
                        <a:t>Dataset</a:t>
                      </a:r>
                      <a:endParaRPr lang="en-US" sz="900" b="0" i="0" u="none" strike="noStrike" cap="non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sym typeface="Arial"/>
                      </a:endParaRPr>
                    </a:p>
                    <a:p>
                      <a:pPr algn="l" fontAlgn="t"/>
                      <a:endParaRPr lang="en-US" sz="900" b="0"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extLst>
                  <a:ext uri="{0D108BD9-81ED-4DB2-BD59-A6C34878D82A}">
                    <a16:rowId xmlns:a16="http://schemas.microsoft.com/office/drawing/2014/main" val="3258312297"/>
                  </a:ext>
                </a:extLst>
              </a:tr>
            </a:tbl>
          </a:graphicData>
        </a:graphic>
      </p:graphicFrame>
    </p:spTree>
    <p:extLst>
      <p:ext uri="{BB962C8B-B14F-4D97-AF65-F5344CB8AC3E}">
        <p14:creationId xmlns:p14="http://schemas.microsoft.com/office/powerpoint/2010/main" val="12668771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ILO </a:t>
            </a:r>
            <a:r>
              <a:rPr lang="en-US" dirty="0"/>
              <a:t>8.2</a:t>
            </a:r>
            <a:endParaRPr dirty="0"/>
          </a:p>
        </p:txBody>
      </p:sp>
      <p:sp>
        <p:nvSpPr>
          <p:cNvPr id="364" name="Google Shape;364;p3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Modeling</a:t>
            </a:r>
            <a:endParaRPr dirty="0"/>
          </a:p>
        </p:txBody>
      </p:sp>
      <p:sp>
        <p:nvSpPr>
          <p:cNvPr id="365" name="Google Shape;365;p39"/>
          <p:cNvSpPr txBox="1">
            <a:spLocks noGrp="1"/>
          </p:cNvSpPr>
          <p:nvPr>
            <p:ph type="subTitle" idx="2"/>
          </p:nvPr>
        </p:nvSpPr>
        <p:spPr>
          <a:xfrm>
            <a:off x="3530600" y="3353563"/>
            <a:ext cx="5156200" cy="685800"/>
          </a:xfrm>
          <a:prstGeom prst="rect">
            <a:avLst/>
          </a:prstGeom>
        </p:spPr>
        <p:txBody>
          <a:bodyPr spcFirstLastPara="1" wrap="square" lIns="91425" tIns="91425" rIns="91425" bIns="91425" anchor="ctr" anchorCtr="0">
            <a:noAutofit/>
          </a:bodyPr>
          <a:lstStyle/>
          <a:p>
            <a:pPr marL="0" indent="0"/>
            <a:r>
              <a:rPr lang="en-US" dirty="0"/>
              <a:t>The student can apply modeling techniques including Machine Learning and AI to create value for individuals, organizations and domains.</a:t>
            </a:r>
            <a:endParaRPr lang="en" dirty="0"/>
          </a:p>
        </p:txBody>
      </p:sp>
      <p:sp>
        <p:nvSpPr>
          <p:cNvPr id="366" name="Google Shape;366;p39"/>
          <p:cNvSpPr txBox="1"/>
          <p:nvPr/>
        </p:nvSpPr>
        <p:spPr>
          <a:xfrm>
            <a:off x="-320040" y="1013655"/>
            <a:ext cx="3408680" cy="4640385"/>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40000" dirty="0">
                <a:solidFill>
                  <a:srgbClr val="999999"/>
                </a:solidFill>
                <a:latin typeface="Roboto"/>
                <a:ea typeface="Roboto"/>
                <a:cs typeface="Roboto"/>
                <a:sym typeface="Roboto"/>
              </a:rPr>
              <a:t>8</a:t>
            </a:r>
            <a:endParaRPr sz="40000" dirty="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26558611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92">
          <a:extLst>
            <a:ext uri="{FF2B5EF4-FFF2-40B4-BE49-F238E27FC236}">
              <a16:creationId xmlns:a16="http://schemas.microsoft.com/office/drawing/2014/main" id="{FF540AF4-3875-480E-4561-176985E3C53C}"/>
            </a:ext>
          </a:extLst>
        </p:cNvPr>
        <p:cNvGrpSpPr/>
        <p:nvPr/>
      </p:nvGrpSpPr>
      <p:grpSpPr>
        <a:xfrm>
          <a:off x="0" y="0"/>
          <a:ext cx="0" cy="0"/>
          <a:chOff x="0" y="0"/>
          <a:chExt cx="0" cy="0"/>
        </a:xfrm>
      </p:grpSpPr>
      <p:sp>
        <p:nvSpPr>
          <p:cNvPr id="393" name="Google Shape;393;p42">
            <a:extLst>
              <a:ext uri="{FF2B5EF4-FFF2-40B4-BE49-F238E27FC236}">
                <a16:creationId xmlns:a16="http://schemas.microsoft.com/office/drawing/2014/main" id="{42EE5680-76CD-57D3-ACBB-D93BF14899E6}"/>
              </a:ext>
            </a:extLst>
          </p:cNvPr>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ILO </a:t>
            </a:r>
            <a:r>
              <a:rPr lang="en-US" dirty="0"/>
              <a:t>8</a:t>
            </a:r>
            <a:endParaRPr dirty="0"/>
          </a:p>
        </p:txBody>
      </p:sp>
      <p:sp>
        <p:nvSpPr>
          <p:cNvPr id="394" name="Google Shape;394;p42">
            <a:extLst>
              <a:ext uri="{FF2B5EF4-FFF2-40B4-BE49-F238E27FC236}">
                <a16:creationId xmlns:a16="http://schemas.microsoft.com/office/drawing/2014/main" id="{165F5E72-A711-AD50-05E4-2D30AF18A9E1}"/>
              </a:ext>
            </a:extLst>
          </p:cNvPr>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a:extLst>
              <a:ext uri="{FF2B5EF4-FFF2-40B4-BE49-F238E27FC236}">
                <a16:creationId xmlns:a16="http://schemas.microsoft.com/office/drawing/2014/main" id="{1AE22D69-9223-7B0E-9537-A24731F536B1}"/>
              </a:ext>
            </a:extLst>
          </p:cNvPr>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dirty="0">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dirty="0">
              <a:solidFill>
                <a:schemeClr val="lt1"/>
              </a:solidFill>
            </a:endParaRPr>
          </a:p>
          <a:p>
            <a:pPr marL="0" lvl="0" indent="0" algn="l" rtl="0">
              <a:lnSpc>
                <a:spcPct val="115000"/>
              </a:lnSpc>
              <a:spcBef>
                <a:spcPts val="0"/>
              </a:spcBef>
              <a:spcAft>
                <a:spcPts val="0"/>
              </a:spcAft>
              <a:buNone/>
            </a:pPr>
            <a:endParaRPr sz="700" i="1" dirty="0">
              <a:solidFill>
                <a:schemeClr val="lt1"/>
              </a:solidFill>
              <a:latin typeface="Helvetica Neue"/>
              <a:ea typeface="Helvetica Neue"/>
              <a:cs typeface="Helvetica Neue"/>
              <a:sym typeface="Helvetica Neue"/>
            </a:endParaRPr>
          </a:p>
        </p:txBody>
      </p:sp>
      <p:sp>
        <p:nvSpPr>
          <p:cNvPr id="396" name="Google Shape;396;p42">
            <a:extLst>
              <a:ext uri="{FF2B5EF4-FFF2-40B4-BE49-F238E27FC236}">
                <a16:creationId xmlns:a16="http://schemas.microsoft.com/office/drawing/2014/main" id="{96E5B894-BB8B-3B3F-A473-AF539B44076D}"/>
              </a:ext>
            </a:extLst>
          </p:cNvPr>
          <p:cNvSpPr txBox="1">
            <a:spLocks noGrp="1"/>
          </p:cNvSpPr>
          <p:nvPr>
            <p:ph type="title" idx="3"/>
          </p:nvPr>
        </p:nvSpPr>
        <p:spPr>
          <a:xfrm>
            <a:off x="2049461" y="0"/>
            <a:ext cx="6111289" cy="576000"/>
          </a:xfrm>
          <a:prstGeom prst="rect">
            <a:avLst/>
          </a:prstGeom>
        </p:spPr>
        <p:txBody>
          <a:bodyPr spcFirstLastPara="1" wrap="square" lIns="91425" tIns="91425" rIns="91425" bIns="91425" anchor="ctr" anchorCtr="0">
            <a:noAutofit/>
          </a:bodyPr>
          <a:lstStyle/>
          <a:p>
            <a:pPr marL="0" indent="0"/>
            <a:r>
              <a:rPr lang="en-US" dirty="0"/>
              <a:t>The student can apply modeling techniques including Machine Learning and AI to create value for individuals, organizations and domains.</a:t>
            </a:r>
          </a:p>
        </p:txBody>
      </p:sp>
      <p:sp>
        <p:nvSpPr>
          <p:cNvPr id="397" name="Google Shape;397;p42">
            <a:extLst>
              <a:ext uri="{FF2B5EF4-FFF2-40B4-BE49-F238E27FC236}">
                <a16:creationId xmlns:a16="http://schemas.microsoft.com/office/drawing/2014/main" id="{27FFCD4E-F01A-982D-FE99-2848731F5DEE}"/>
              </a:ext>
            </a:extLst>
          </p:cNvPr>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8.2</a:t>
            </a:r>
            <a:endParaRPr dirty="0"/>
          </a:p>
        </p:txBody>
      </p:sp>
      <p:sp>
        <p:nvSpPr>
          <p:cNvPr id="398" name="Google Shape;398;p42">
            <a:extLst>
              <a:ext uri="{FF2B5EF4-FFF2-40B4-BE49-F238E27FC236}">
                <a16:creationId xmlns:a16="http://schemas.microsoft.com/office/drawing/2014/main" id="{3D30ED08-609B-8206-D2D1-CEBB95210469}"/>
              </a:ext>
            </a:extLst>
          </p:cNvPr>
          <p:cNvSpPr txBox="1">
            <a:spLocks noGrp="1"/>
          </p:cNvSpPr>
          <p:nvPr>
            <p:ph type="title" idx="5"/>
          </p:nvPr>
        </p:nvSpPr>
        <p:spPr>
          <a:xfrm>
            <a:off x="845550" y="576000"/>
            <a:ext cx="7653290" cy="493800"/>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pPr>
            <a:r>
              <a:rPr lang="en-US" i="0" dirty="0"/>
              <a:t>The student demonstrates the ability to train and evaluate deep learning models for image classification while exploring the iterative nature of the machine learning project lifecycle to optimize model performance.</a:t>
            </a:r>
          </a:p>
        </p:txBody>
      </p:sp>
      <p:sp>
        <p:nvSpPr>
          <p:cNvPr id="399" name="Google Shape;399;p42">
            <a:extLst>
              <a:ext uri="{FF2B5EF4-FFF2-40B4-BE49-F238E27FC236}">
                <a16:creationId xmlns:a16="http://schemas.microsoft.com/office/drawing/2014/main" id="{08886CF9-68B9-09DE-6296-DF639C5D3DC3}"/>
              </a:ext>
            </a:extLst>
          </p:cNvPr>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900" dirty="0"/>
              <a:t>Modelling</a:t>
            </a:r>
          </a:p>
        </p:txBody>
      </p:sp>
      <p:graphicFrame>
        <p:nvGraphicFramePr>
          <p:cNvPr id="3" name="Table 2">
            <a:extLst>
              <a:ext uri="{FF2B5EF4-FFF2-40B4-BE49-F238E27FC236}">
                <a16:creationId xmlns:a16="http://schemas.microsoft.com/office/drawing/2014/main" id="{BAE5F61C-0275-9890-FA49-8BE912DE4653}"/>
              </a:ext>
            </a:extLst>
          </p:cNvPr>
          <p:cNvGraphicFramePr>
            <a:graphicFrameLocks noGrp="1"/>
          </p:cNvGraphicFramePr>
          <p:nvPr>
            <p:extLst>
              <p:ext uri="{D42A27DB-BD31-4B8C-83A1-F6EECF244321}">
                <p14:modId xmlns:p14="http://schemas.microsoft.com/office/powerpoint/2010/main" val="43738025"/>
              </p:ext>
            </p:extLst>
          </p:nvPr>
        </p:nvGraphicFramePr>
        <p:xfrm>
          <a:off x="0" y="1069800"/>
          <a:ext cx="9144002" cy="4573123"/>
        </p:xfrm>
        <a:graphic>
          <a:graphicData uri="http://schemas.openxmlformats.org/drawingml/2006/table">
            <a:tbl>
              <a:tblPr/>
              <a:tblGrid>
                <a:gridCol w="1494263">
                  <a:extLst>
                    <a:ext uri="{9D8B030D-6E8A-4147-A177-3AD203B41FA5}">
                      <a16:colId xmlns:a16="http://schemas.microsoft.com/office/drawing/2014/main" val="2828626719"/>
                    </a:ext>
                  </a:extLst>
                </a:gridCol>
                <a:gridCol w="1528337">
                  <a:extLst>
                    <a:ext uri="{9D8B030D-6E8A-4147-A177-3AD203B41FA5}">
                      <a16:colId xmlns:a16="http://schemas.microsoft.com/office/drawing/2014/main" val="2163814410"/>
                    </a:ext>
                  </a:extLst>
                </a:gridCol>
                <a:gridCol w="1534160">
                  <a:extLst>
                    <a:ext uri="{9D8B030D-6E8A-4147-A177-3AD203B41FA5}">
                      <a16:colId xmlns:a16="http://schemas.microsoft.com/office/drawing/2014/main" val="1982883818"/>
                    </a:ext>
                  </a:extLst>
                </a:gridCol>
                <a:gridCol w="1524000">
                  <a:extLst>
                    <a:ext uri="{9D8B030D-6E8A-4147-A177-3AD203B41FA5}">
                      <a16:colId xmlns:a16="http://schemas.microsoft.com/office/drawing/2014/main" val="1684357677"/>
                    </a:ext>
                  </a:extLst>
                </a:gridCol>
                <a:gridCol w="1524153">
                  <a:extLst>
                    <a:ext uri="{9D8B030D-6E8A-4147-A177-3AD203B41FA5}">
                      <a16:colId xmlns:a16="http://schemas.microsoft.com/office/drawing/2014/main" val="487796406"/>
                    </a:ext>
                  </a:extLst>
                </a:gridCol>
                <a:gridCol w="1539089">
                  <a:extLst>
                    <a:ext uri="{9D8B030D-6E8A-4147-A177-3AD203B41FA5}">
                      <a16:colId xmlns:a16="http://schemas.microsoft.com/office/drawing/2014/main" val="3826414634"/>
                    </a:ext>
                  </a:extLst>
                </a:gridCol>
              </a:tblGrid>
              <a:tr h="133327">
                <a:tc>
                  <a:txBody>
                    <a:bodyPr/>
                    <a:lstStyle/>
                    <a:p>
                      <a:pPr algn="ctr" fontAlgn="ct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Pre-requisites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A (4 points)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B (4 points)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C (8 points)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D (8 points)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E (6 points)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4251399548"/>
                  </a:ext>
                </a:extLst>
              </a:tr>
              <a:tr h="1559436">
                <a:tc>
                  <a:txBody>
                    <a:bodyPr/>
                    <a:lstStyle/>
                    <a:p>
                      <a:pPr algn="l" rtl="0"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submits a complete learning log, work log, and self-assessment rubric. The student exhibits professional </a:t>
                      </a:r>
                      <a:r>
                        <a:rPr lang="en-US" sz="900" b="1"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behaviour</a:t>
                      </a:r>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during DataLab sessions. </a:t>
                      </a:r>
                      <a:endParaRPr lang="en-US" sz="900" b="1"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algn="l"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is able to establish baselines for an image classification task according to business objectives and project requirements.</a:t>
                      </a:r>
                      <a:endParaRPr lang="en-US" sz="900" b="1"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algn="l"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demonstrates the ability to design, train, and evaluate a convolutional neural network for image classification aligned with the project requirements and business objectives.</a:t>
                      </a:r>
                      <a:endParaRPr lang="en-US" sz="900" b="1" i="0" u="none" strike="noStrike" dirty="0">
                        <a:solidFill>
                          <a:srgbClr val="000000"/>
                        </a:solidFill>
                        <a:effectLst/>
                        <a:highlight>
                          <a:srgbClr val="F7C7A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algn="l"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demonstrates the ability to work with small image datasets by applying and evaluating data augmentation and transfer learning methods in an image classification task.</a:t>
                      </a:r>
                      <a:endParaRPr lang="en-US" sz="900" b="1" i="0" u="none" strike="noStrike" dirty="0">
                        <a:solidFill>
                          <a:srgbClr val="000000"/>
                        </a:solidFill>
                        <a:effectLst/>
                        <a:highlight>
                          <a:srgbClr val="F7C7A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algn="l"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demonstrates an understanding of the iterative nature of the machine learning project lifecycle by performing and documenting multiple iterations to optimize model performance, providing clear and logical justifications for their decisions.</a:t>
                      </a:r>
                      <a:endParaRPr lang="en-US" sz="900" b="1" i="0" u="none" strike="noStrike" dirty="0">
                        <a:solidFill>
                          <a:srgbClr val="000000"/>
                        </a:solidFill>
                        <a:effectLst/>
                        <a:highlight>
                          <a:srgbClr val="F7C7A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algn="l"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is able to perform error analysis on their deep learning models by identifying key patterns in misclassifications, diagnosing potential causes, and proposing actionable improvements to enhance model performance.</a:t>
                      </a:r>
                      <a:endParaRPr lang="en-US" sz="900" b="1" i="0" u="none" strike="noStrike" dirty="0">
                        <a:solidFill>
                          <a:srgbClr val="000000"/>
                        </a:solidFill>
                        <a:effectLst/>
                        <a:highlight>
                          <a:srgbClr val="F7C7A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3871622024"/>
                  </a:ext>
                </a:extLst>
              </a:tr>
              <a:tr h="1369803">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GB" sz="900" dirty="0"/>
                        <a:t>The student effectively documents their progress through a complete learning log, work log, and self-assessment rubric, while consistently demonstrating professionalism during </a:t>
                      </a:r>
                      <a:r>
                        <a:rPr lang="en-GB" sz="900" dirty="0" err="1"/>
                        <a:t>DataLab</a:t>
                      </a:r>
                      <a:r>
                        <a:rPr lang="en-GB" sz="900" dirty="0"/>
                        <a:t> session</a:t>
                      </a:r>
                      <a:endPar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algn="l" fontAlgn="t"/>
                      <a:r>
                        <a:rPr lang="en-GB" sz="900" dirty="0"/>
                        <a:t>I established baselines for the image classification task according to business objectives and project requirements, providing a solid foundation for model improvements</a:t>
                      </a:r>
                      <a:endParaRPr lang="en-US" sz="900" b="0"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r>
                        <a:rPr lang="en-GB" sz="900" dirty="0"/>
                        <a:t>I successfully designed, trained, and evaluated a convolutional neural network for image classification, ensuring it met the project requirements and aligned with business objectives.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r>
                        <a:rPr lang="en-GB" sz="900" dirty="0"/>
                        <a:t>I applied data augmentation and transfer learning methods to work with a small image dataset, evaluating their impact on the model's performance and improving classification accuracy.</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r>
                        <a:rPr lang="en-GB" sz="900" dirty="0"/>
                        <a:t>I followed an iterative approach to optimize my model performance, documenting each iteration and justifying my decisions based on model evaluation metrics and the improvements observed with each iteration.</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r>
                        <a:rPr lang="en-GB" sz="900" dirty="0"/>
                        <a:t>I qualify for this ILO criterion as I conducted multiple iterations to optimize my image classification model, applying techniques like data augmentation and transfer learning. I documented each iteration with clear justifications based on performance metrics, showing my understanding of iterative optimization.</a:t>
                      </a:r>
                    </a:p>
                    <a:p>
                      <a:pPr algn="l" fontAlgn="t"/>
                      <a:endParaRPr lang="en-US" sz="900" b="0"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2843461618"/>
                  </a:ext>
                </a:extLst>
              </a:tr>
              <a:tr h="1011134">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rPr>
                        <a:t>Evidence:</a:t>
                      </a:r>
                    </a:p>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endPar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hlinkClick r:id="rId3"/>
                        </a:rPr>
                        <a:t>Learning Log</a:t>
                      </a:r>
                      <a:endPar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endPar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hlinkClick r:id="rId4"/>
                        </a:rPr>
                        <a:t>Work Log</a:t>
                      </a:r>
                      <a:endPar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endPar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hlinkClick r:id="rId5"/>
                        </a:rPr>
                        <a:t>Self-assessment Rubric</a:t>
                      </a:r>
                      <a:endPar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endParaRPr>
                    </a:p>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endPar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Evidence:</a:t>
                      </a: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hlinkClick r:id="rId6"/>
                        </a:rPr>
                        <a:t>Deep Learning Template</a:t>
                      </a:r>
                      <a:endPar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endParaRPr>
                    </a:p>
                    <a:p>
                      <a:pPr algn="l" fontAlgn="t"/>
                      <a:endParaRPr lang="en-US" sz="900" b="0"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Evidence:</a:t>
                      </a: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hlinkClick r:id="rId6"/>
                        </a:rPr>
                        <a:t>Deep Learning Template</a:t>
                      </a:r>
                      <a:endPar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Evidence:</a:t>
                      </a: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hlinkClick r:id="rId6"/>
                        </a:rPr>
                        <a:t>Deep Learning Template</a:t>
                      </a:r>
                      <a:endPar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Evidence:</a:t>
                      </a: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hlinkClick r:id="rId6"/>
                        </a:rPr>
                        <a:t>Deep Learning Template</a:t>
                      </a:r>
                      <a:endPar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Evidence:</a:t>
                      </a: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hlinkClick r:id="rId6"/>
                        </a:rPr>
                        <a:t>Deep Learning Template</a:t>
                      </a:r>
                      <a:endPar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3258312297"/>
                  </a:ext>
                </a:extLst>
              </a:tr>
            </a:tbl>
          </a:graphicData>
        </a:graphic>
      </p:graphicFrame>
    </p:spTree>
    <p:extLst>
      <p:ext uri="{BB962C8B-B14F-4D97-AF65-F5344CB8AC3E}">
        <p14:creationId xmlns:p14="http://schemas.microsoft.com/office/powerpoint/2010/main" val="17530325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62">
          <a:extLst>
            <a:ext uri="{FF2B5EF4-FFF2-40B4-BE49-F238E27FC236}">
              <a16:creationId xmlns:a16="http://schemas.microsoft.com/office/drawing/2014/main" id="{C2061335-5EA6-6DF5-E2AC-380FDA356B4D}"/>
            </a:ext>
          </a:extLst>
        </p:cNvPr>
        <p:cNvGrpSpPr/>
        <p:nvPr/>
      </p:nvGrpSpPr>
      <p:grpSpPr>
        <a:xfrm>
          <a:off x="0" y="0"/>
          <a:ext cx="0" cy="0"/>
          <a:chOff x="0" y="0"/>
          <a:chExt cx="0" cy="0"/>
        </a:xfrm>
      </p:grpSpPr>
      <p:sp>
        <p:nvSpPr>
          <p:cNvPr id="363" name="Google Shape;363;p39">
            <a:extLst>
              <a:ext uri="{FF2B5EF4-FFF2-40B4-BE49-F238E27FC236}">
                <a16:creationId xmlns:a16="http://schemas.microsoft.com/office/drawing/2014/main" id="{4D7C881C-9CC4-DB46-2795-9509ABD6BB35}"/>
              </a:ext>
            </a:extLst>
          </p:cNvPr>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ILO </a:t>
            </a:r>
            <a:r>
              <a:rPr lang="en-US" dirty="0"/>
              <a:t>9.1</a:t>
            </a:r>
            <a:endParaRPr dirty="0"/>
          </a:p>
        </p:txBody>
      </p:sp>
      <p:sp>
        <p:nvSpPr>
          <p:cNvPr id="364" name="Google Shape;364;p39">
            <a:extLst>
              <a:ext uri="{FF2B5EF4-FFF2-40B4-BE49-F238E27FC236}">
                <a16:creationId xmlns:a16="http://schemas.microsoft.com/office/drawing/2014/main" id="{9EEA009F-239D-2C1F-C4A8-719734FFDCEE}"/>
              </a:ext>
            </a:extLst>
          </p:cNvPr>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Design, Prototyping and Implementation</a:t>
            </a:r>
            <a:endParaRPr dirty="0"/>
          </a:p>
        </p:txBody>
      </p:sp>
      <p:sp>
        <p:nvSpPr>
          <p:cNvPr id="365" name="Google Shape;365;p39">
            <a:extLst>
              <a:ext uri="{FF2B5EF4-FFF2-40B4-BE49-F238E27FC236}">
                <a16:creationId xmlns:a16="http://schemas.microsoft.com/office/drawing/2014/main" id="{58487C19-0862-A934-D9D1-CA2C4AA63342}"/>
              </a:ext>
            </a:extLst>
          </p:cNvPr>
          <p:cNvSpPr txBox="1">
            <a:spLocks noGrp="1"/>
          </p:cNvSpPr>
          <p:nvPr>
            <p:ph type="subTitle" idx="2"/>
          </p:nvPr>
        </p:nvSpPr>
        <p:spPr>
          <a:xfrm>
            <a:off x="3144520" y="3353563"/>
            <a:ext cx="5542280" cy="685800"/>
          </a:xfrm>
          <a:prstGeom prst="rect">
            <a:avLst/>
          </a:prstGeom>
        </p:spPr>
        <p:txBody>
          <a:bodyPr spcFirstLastPara="1" wrap="square" lIns="91425" tIns="91425" rIns="91425" bIns="91425" anchor="ctr" anchorCtr="0">
            <a:noAutofit/>
          </a:bodyPr>
          <a:lstStyle/>
          <a:p>
            <a:pPr marL="0" indent="0"/>
            <a:r>
              <a:rPr lang="en-US" dirty="0"/>
              <a:t>The student can develop a prototype using an iterative cycle, explicitly involving stakeholders, and implement applications within an (existing) architecture. </a:t>
            </a:r>
            <a:endParaRPr lang="en" dirty="0"/>
          </a:p>
        </p:txBody>
      </p:sp>
      <p:sp>
        <p:nvSpPr>
          <p:cNvPr id="366" name="Google Shape;366;p39">
            <a:extLst>
              <a:ext uri="{FF2B5EF4-FFF2-40B4-BE49-F238E27FC236}">
                <a16:creationId xmlns:a16="http://schemas.microsoft.com/office/drawing/2014/main" id="{0E2214DF-8DB3-0FE6-C798-5A6A1993409B}"/>
              </a:ext>
            </a:extLst>
          </p:cNvPr>
          <p:cNvSpPr txBox="1"/>
          <p:nvPr/>
        </p:nvSpPr>
        <p:spPr>
          <a:xfrm>
            <a:off x="-320040" y="1013655"/>
            <a:ext cx="3408680" cy="4640385"/>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40000" dirty="0">
                <a:solidFill>
                  <a:srgbClr val="999999"/>
                </a:solidFill>
                <a:latin typeface="Roboto"/>
                <a:ea typeface="Roboto"/>
                <a:cs typeface="Roboto"/>
                <a:sym typeface="Roboto"/>
              </a:rPr>
              <a:t>9</a:t>
            </a:r>
            <a:endParaRPr sz="40000" dirty="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27428250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92">
          <a:extLst>
            <a:ext uri="{FF2B5EF4-FFF2-40B4-BE49-F238E27FC236}">
              <a16:creationId xmlns:a16="http://schemas.microsoft.com/office/drawing/2014/main" id="{01C3A208-2C4C-0A93-A27F-6FFB261A1AE1}"/>
            </a:ext>
          </a:extLst>
        </p:cNvPr>
        <p:cNvGrpSpPr/>
        <p:nvPr/>
      </p:nvGrpSpPr>
      <p:grpSpPr>
        <a:xfrm>
          <a:off x="0" y="0"/>
          <a:ext cx="0" cy="0"/>
          <a:chOff x="0" y="0"/>
          <a:chExt cx="0" cy="0"/>
        </a:xfrm>
      </p:grpSpPr>
      <p:sp>
        <p:nvSpPr>
          <p:cNvPr id="393" name="Google Shape;393;p42">
            <a:extLst>
              <a:ext uri="{FF2B5EF4-FFF2-40B4-BE49-F238E27FC236}">
                <a16:creationId xmlns:a16="http://schemas.microsoft.com/office/drawing/2014/main" id="{34EC29EB-9DD6-CB99-8BAC-CDC067484F96}"/>
              </a:ext>
            </a:extLst>
          </p:cNvPr>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ILO </a:t>
            </a:r>
            <a:r>
              <a:rPr lang="en-US" dirty="0"/>
              <a:t>9</a:t>
            </a:r>
            <a:endParaRPr dirty="0"/>
          </a:p>
        </p:txBody>
      </p:sp>
      <p:sp>
        <p:nvSpPr>
          <p:cNvPr id="394" name="Google Shape;394;p42">
            <a:extLst>
              <a:ext uri="{FF2B5EF4-FFF2-40B4-BE49-F238E27FC236}">
                <a16:creationId xmlns:a16="http://schemas.microsoft.com/office/drawing/2014/main" id="{D5965EB8-C956-2DF2-F253-E78D4F86DAC7}"/>
              </a:ext>
            </a:extLst>
          </p:cNvPr>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a:extLst>
              <a:ext uri="{FF2B5EF4-FFF2-40B4-BE49-F238E27FC236}">
                <a16:creationId xmlns:a16="http://schemas.microsoft.com/office/drawing/2014/main" id="{C7F6F354-4B05-7F98-BAC7-425472D4DA6A}"/>
              </a:ext>
            </a:extLst>
          </p:cNvPr>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dirty="0">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dirty="0">
              <a:solidFill>
                <a:schemeClr val="lt1"/>
              </a:solidFill>
            </a:endParaRPr>
          </a:p>
          <a:p>
            <a:pPr marL="0" lvl="0" indent="0" algn="l" rtl="0">
              <a:lnSpc>
                <a:spcPct val="115000"/>
              </a:lnSpc>
              <a:spcBef>
                <a:spcPts val="0"/>
              </a:spcBef>
              <a:spcAft>
                <a:spcPts val="0"/>
              </a:spcAft>
              <a:buNone/>
            </a:pPr>
            <a:endParaRPr sz="700" i="1" dirty="0">
              <a:solidFill>
                <a:schemeClr val="lt1"/>
              </a:solidFill>
              <a:latin typeface="Helvetica Neue"/>
              <a:ea typeface="Helvetica Neue"/>
              <a:cs typeface="Helvetica Neue"/>
              <a:sym typeface="Helvetica Neue"/>
            </a:endParaRPr>
          </a:p>
        </p:txBody>
      </p:sp>
      <p:sp>
        <p:nvSpPr>
          <p:cNvPr id="396" name="Google Shape;396;p42">
            <a:extLst>
              <a:ext uri="{FF2B5EF4-FFF2-40B4-BE49-F238E27FC236}">
                <a16:creationId xmlns:a16="http://schemas.microsoft.com/office/drawing/2014/main" id="{F3F9CCE3-5DB5-3208-93D9-4A48FAE5194C}"/>
              </a:ext>
            </a:extLst>
          </p:cNvPr>
          <p:cNvSpPr txBox="1">
            <a:spLocks noGrp="1"/>
          </p:cNvSpPr>
          <p:nvPr>
            <p:ph type="title" idx="3"/>
          </p:nvPr>
        </p:nvSpPr>
        <p:spPr>
          <a:xfrm>
            <a:off x="2049461" y="0"/>
            <a:ext cx="6111289" cy="576000"/>
          </a:xfrm>
          <a:prstGeom prst="rect">
            <a:avLst/>
          </a:prstGeom>
        </p:spPr>
        <p:txBody>
          <a:bodyPr spcFirstLastPara="1" wrap="square" lIns="91425" tIns="91425" rIns="91425" bIns="91425" anchor="ctr" anchorCtr="0">
            <a:noAutofit/>
          </a:bodyPr>
          <a:lstStyle/>
          <a:p>
            <a:pPr marL="0" indent="0"/>
            <a:r>
              <a:rPr lang="en-US" dirty="0"/>
              <a:t>The student can develop a prototype using an iterative cycle, explicitly involving stakeholders, and implement applications within an (existing) architecture. </a:t>
            </a:r>
          </a:p>
        </p:txBody>
      </p:sp>
      <p:sp>
        <p:nvSpPr>
          <p:cNvPr id="397" name="Google Shape;397;p42">
            <a:extLst>
              <a:ext uri="{FF2B5EF4-FFF2-40B4-BE49-F238E27FC236}">
                <a16:creationId xmlns:a16="http://schemas.microsoft.com/office/drawing/2014/main" id="{FDE59730-9082-B3BC-FCC4-7DEE6655C265}"/>
              </a:ext>
            </a:extLst>
          </p:cNvPr>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9.1</a:t>
            </a:r>
            <a:endParaRPr dirty="0"/>
          </a:p>
        </p:txBody>
      </p:sp>
      <p:sp>
        <p:nvSpPr>
          <p:cNvPr id="398" name="Google Shape;398;p42">
            <a:extLst>
              <a:ext uri="{FF2B5EF4-FFF2-40B4-BE49-F238E27FC236}">
                <a16:creationId xmlns:a16="http://schemas.microsoft.com/office/drawing/2014/main" id="{CFA33A7A-2E6E-9480-A1D4-25A0188454C5}"/>
              </a:ext>
            </a:extLst>
          </p:cNvPr>
          <p:cNvSpPr txBox="1">
            <a:spLocks noGrp="1"/>
          </p:cNvSpPr>
          <p:nvPr>
            <p:ph type="title" idx="5"/>
          </p:nvPr>
        </p:nvSpPr>
        <p:spPr>
          <a:xfrm>
            <a:off x="845550" y="576000"/>
            <a:ext cx="7653290" cy="493800"/>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pPr>
            <a:r>
              <a:rPr lang="en-US" i="0" dirty="0"/>
              <a:t>The student is able to develop a prototype for an application involving AI. The student can involve the stakeholder in the process using various user research methods.</a:t>
            </a:r>
          </a:p>
        </p:txBody>
      </p:sp>
      <p:sp>
        <p:nvSpPr>
          <p:cNvPr id="399" name="Google Shape;399;p42">
            <a:extLst>
              <a:ext uri="{FF2B5EF4-FFF2-40B4-BE49-F238E27FC236}">
                <a16:creationId xmlns:a16="http://schemas.microsoft.com/office/drawing/2014/main" id="{739E1A97-4E80-A453-22BC-0CBC15A52AD4}"/>
              </a:ext>
            </a:extLst>
          </p:cNvPr>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900" dirty="0"/>
              <a:t>Design, Prototyping and Implementation</a:t>
            </a:r>
          </a:p>
        </p:txBody>
      </p:sp>
      <p:graphicFrame>
        <p:nvGraphicFramePr>
          <p:cNvPr id="3" name="Table 2">
            <a:extLst>
              <a:ext uri="{FF2B5EF4-FFF2-40B4-BE49-F238E27FC236}">
                <a16:creationId xmlns:a16="http://schemas.microsoft.com/office/drawing/2014/main" id="{DDD443EF-4AF0-4C20-B4F7-5265B4CB780D}"/>
              </a:ext>
            </a:extLst>
          </p:cNvPr>
          <p:cNvGraphicFramePr>
            <a:graphicFrameLocks noGrp="1"/>
          </p:cNvGraphicFramePr>
          <p:nvPr>
            <p:extLst>
              <p:ext uri="{D42A27DB-BD31-4B8C-83A1-F6EECF244321}">
                <p14:modId xmlns:p14="http://schemas.microsoft.com/office/powerpoint/2010/main" val="3547041617"/>
              </p:ext>
            </p:extLst>
          </p:nvPr>
        </p:nvGraphicFramePr>
        <p:xfrm>
          <a:off x="0" y="1069801"/>
          <a:ext cx="9144001" cy="4728057"/>
        </p:xfrm>
        <a:graphic>
          <a:graphicData uri="http://schemas.openxmlformats.org/drawingml/2006/table">
            <a:tbl>
              <a:tblPr/>
              <a:tblGrid>
                <a:gridCol w="1807029">
                  <a:extLst>
                    <a:ext uri="{9D8B030D-6E8A-4147-A177-3AD203B41FA5}">
                      <a16:colId xmlns:a16="http://schemas.microsoft.com/office/drawing/2014/main" val="2828626719"/>
                    </a:ext>
                  </a:extLst>
                </a:gridCol>
                <a:gridCol w="1785259">
                  <a:extLst>
                    <a:ext uri="{9D8B030D-6E8A-4147-A177-3AD203B41FA5}">
                      <a16:colId xmlns:a16="http://schemas.microsoft.com/office/drawing/2014/main" val="2163814410"/>
                    </a:ext>
                  </a:extLst>
                </a:gridCol>
                <a:gridCol w="1850571">
                  <a:extLst>
                    <a:ext uri="{9D8B030D-6E8A-4147-A177-3AD203B41FA5}">
                      <a16:colId xmlns:a16="http://schemas.microsoft.com/office/drawing/2014/main" val="1982883818"/>
                    </a:ext>
                  </a:extLst>
                </a:gridCol>
                <a:gridCol w="1842604">
                  <a:extLst>
                    <a:ext uri="{9D8B030D-6E8A-4147-A177-3AD203B41FA5}">
                      <a16:colId xmlns:a16="http://schemas.microsoft.com/office/drawing/2014/main" val="1684357677"/>
                    </a:ext>
                  </a:extLst>
                </a:gridCol>
                <a:gridCol w="1858538">
                  <a:extLst>
                    <a:ext uri="{9D8B030D-6E8A-4147-A177-3AD203B41FA5}">
                      <a16:colId xmlns:a16="http://schemas.microsoft.com/office/drawing/2014/main" val="487796406"/>
                    </a:ext>
                  </a:extLst>
                </a:gridCol>
              </a:tblGrid>
              <a:tr h="134479">
                <a:tc>
                  <a:txBody>
                    <a:bodyPr/>
                    <a:lstStyle/>
                    <a:p>
                      <a:pPr algn="ctr" fontAlgn="ct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Pre-requisites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A (4 points)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B (4 points)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C (4 points)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D (3 points)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4251399548"/>
                  </a:ext>
                </a:extLst>
              </a:tr>
              <a:tr h="1713218">
                <a:tc>
                  <a:txBody>
                    <a:bodyPr/>
                    <a:lstStyle/>
                    <a:p>
                      <a:pPr algn="l" rtl="0"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submits a complete learning log, work log, and self-assessment rubric. The student exhibits professional </a:t>
                      </a:r>
                      <a:r>
                        <a:rPr lang="en-US" sz="900" b="1"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behaviour</a:t>
                      </a:r>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during DataLab sessions.</a:t>
                      </a:r>
                      <a:endParaRPr lang="en-US" sz="900" b="1"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algn="l"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creates a functional prototype suitable for the chosen AI application. The prototype is accessible and testable, demonstrating clear integration of user-experience and human-centered AI design principles.</a:t>
                      </a:r>
                      <a:endParaRPr lang="en-US" sz="900" b="1"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algn="l"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designs a suitable qualitative user study to evaluate the design of their prototype. They collect enough data and effectively analyze the study results using appropriate qualitative analysis methods. The findings of the study are evaluated. The student uses the findings to either validate or improve the application design.</a:t>
                      </a:r>
                      <a:endParaRPr lang="en-US" sz="900" b="1" i="0" u="none" strike="noStrike" dirty="0">
                        <a:solidFill>
                          <a:srgbClr val="000000"/>
                        </a:solidFill>
                        <a:effectLst/>
                        <a:highlight>
                          <a:srgbClr val="F7C7A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algn="l"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designs a suitable quantitative study to evaluate the design of their prototype. They collect enough data and effectively analyze the study results using appropriate quantitative methods. The findings of the study are evaluated. The student uses the findings to either validate or improve the application design.</a:t>
                      </a:r>
                      <a:endParaRPr lang="en-US" sz="900" b="1" i="0" u="none" strike="noStrike" dirty="0">
                        <a:solidFill>
                          <a:srgbClr val="000000"/>
                        </a:solidFill>
                        <a:effectLst/>
                        <a:highlight>
                          <a:srgbClr val="F7C7A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algn="l"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prototype or application is presented through a clear and concise demonstration.</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extLst>
                  <a:ext uri="{0D108BD9-81ED-4DB2-BD59-A6C34878D82A}">
                    <a16:rowId xmlns:a16="http://schemas.microsoft.com/office/drawing/2014/main" val="3871622024"/>
                  </a:ext>
                </a:extLst>
              </a:tr>
              <a:tr h="1381645">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GB" sz="900" dirty="0"/>
                        <a:t>I qualify for this ILO criterion by consistently submitting complete logs and rubrics, and exhibiting professional </a:t>
                      </a:r>
                      <a:r>
                        <a:rPr lang="en-GB" sz="900" dirty="0" err="1"/>
                        <a:t>behavior</a:t>
                      </a:r>
                      <a:r>
                        <a:rPr lang="en-GB" sz="900" dirty="0"/>
                        <a:t> during </a:t>
                      </a:r>
                      <a:r>
                        <a:rPr lang="en-GB" sz="900" dirty="0" err="1"/>
                        <a:t>DataLab</a:t>
                      </a:r>
                      <a:r>
                        <a:rPr lang="en-GB" sz="900" dirty="0"/>
                        <a:t> sessions.</a:t>
                      </a:r>
                    </a:p>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a:t>
                      </a:r>
                      <a:endPar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r>
                        <a:rPr lang="en-GB" sz="900" dirty="0"/>
                        <a:t>I qualify for this ILO criterion by creating a functional prototype that aligns with AI application requirements. The prototype is accessible, testable, and integrates user-experience and human-</a:t>
                      </a:r>
                      <a:r>
                        <a:rPr lang="en-GB" sz="900" dirty="0" err="1"/>
                        <a:t>centered</a:t>
                      </a:r>
                      <a:r>
                        <a:rPr lang="en-GB" sz="900" dirty="0"/>
                        <a:t> AI design principles.</a:t>
                      </a:r>
                    </a:p>
                    <a:p>
                      <a:endParaRPr lang="en-GB" sz="900" dirty="0"/>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900" b="0" i="0" u="none" strike="noStrike" dirty="0">
                          <a:solidFill>
                            <a:srgbClr val="000000"/>
                          </a:solidFill>
                          <a:effectLst/>
                          <a:highlight>
                            <a:srgbClr val="00FFFF"/>
                          </a:highlight>
                          <a:latin typeface="Roboto" panose="02000000000000000000" pitchFamily="2" charset="0"/>
                          <a:ea typeface="Roboto" panose="02000000000000000000" pitchFamily="2" charset="0"/>
                          <a:cs typeface="Roboto" panose="02000000000000000000" pitchFamily="2" charset="0"/>
                        </a:rPr>
                        <a:t>Actually I did not change anything for this part because I already have points but I renewed the link</a:t>
                      </a:r>
                      <a:endParaRPr lang="en-US" sz="900" b="0" i="0" u="none" strike="noStrike" dirty="0">
                        <a:solidFill>
                          <a:srgbClr val="000000"/>
                        </a:solidFill>
                        <a:effectLst/>
                        <a:highlight>
                          <a:srgbClr val="00FFFF"/>
                        </a:highlight>
                        <a:latin typeface="Roboto" panose="02000000000000000000" pitchFamily="2" charset="0"/>
                        <a:ea typeface="Roboto" panose="02000000000000000000" pitchFamily="2" charset="0"/>
                        <a:cs typeface="Roboto" panose="02000000000000000000" pitchFamily="2" charset="0"/>
                      </a:endParaRPr>
                    </a:p>
                    <a:p>
                      <a:endParaRPr lang="en-GB" sz="900" dirty="0"/>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r>
                        <a:rPr lang="en-GB" sz="900" dirty="0">
                          <a:highlight>
                            <a:srgbClr val="FFFF00"/>
                          </a:highlight>
                        </a:rPr>
                        <a:t>I improved my qualitative study by clearly explaining why I chose the specific user tasks and interview questions. I also transcribed all the feedback from participants instead of just summarizing it. Then, I did a better thematic analysis by using direct quotes to support the themes I found</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r>
                        <a:rPr lang="en-GB" sz="900" dirty="0"/>
                        <a:t>I</a:t>
                      </a:r>
                      <a:r>
                        <a:rPr lang="en-GB" sz="900" dirty="0">
                          <a:highlight>
                            <a:srgbClr val="FFFF00"/>
                          </a:highlight>
                        </a:rPr>
                        <a:t> qualify for this ILO criterion by redesigning my qualitative user study to address previous feedback. I ensured a clear, concrete distinction between versions, collected data properly from two separate survey groups, and included all necessary statistical analyses with full reporting of p-values. I also added the missing t-test notebook for transparency.</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r>
                        <a:rPr lang="en-GB" sz="900" dirty="0"/>
                        <a:t>I qualify for this ILO criterion as I designed and conducted a quantitative study to evaluate my prototype. I collected sufficient data, applied the appropriate quantitative methods, and analyzed the results. Based on the findings, I either validated or improved my application design, ensuring it aligns with the goals of the project.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900" b="0" i="0" u="none" strike="noStrike" dirty="0">
                          <a:solidFill>
                            <a:srgbClr val="000000"/>
                          </a:solidFill>
                          <a:effectLst/>
                          <a:highlight>
                            <a:srgbClr val="00FFFF"/>
                          </a:highlight>
                          <a:latin typeface="Roboto" panose="02000000000000000000" pitchFamily="2" charset="0"/>
                          <a:ea typeface="Roboto" panose="02000000000000000000" pitchFamily="2" charset="0"/>
                          <a:cs typeface="Roboto" panose="02000000000000000000" pitchFamily="2" charset="0"/>
                        </a:rPr>
                        <a:t>Actually I did not change anything for this part because I already have points but I renewed the link</a:t>
                      </a:r>
                      <a:endParaRPr lang="en-US" sz="900" b="0" i="0" u="none" strike="noStrike" dirty="0">
                        <a:solidFill>
                          <a:srgbClr val="000000"/>
                        </a:solidFill>
                        <a:effectLst/>
                        <a:highlight>
                          <a:srgbClr val="00FFFF"/>
                        </a:highlight>
                        <a:latin typeface="Roboto" panose="02000000000000000000" pitchFamily="2" charset="0"/>
                        <a:ea typeface="Roboto" panose="02000000000000000000" pitchFamily="2" charset="0"/>
                        <a:cs typeface="Roboto" panose="02000000000000000000" pitchFamily="2" charset="0"/>
                      </a:endParaRPr>
                    </a:p>
                    <a:p>
                      <a:endParaRPr lang="en-GB" sz="900" dirty="0"/>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extLst>
                  <a:ext uri="{0D108BD9-81ED-4DB2-BD59-A6C34878D82A}">
                    <a16:rowId xmlns:a16="http://schemas.microsoft.com/office/drawing/2014/main" val="2843461618"/>
                  </a:ext>
                </a:extLst>
              </a:tr>
              <a:tr h="844357">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rPr>
                        <a:t>Evidence:</a:t>
                      </a: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hlinkClick r:id="rId3"/>
                        </a:rPr>
                        <a:t>Learning Log</a:t>
                      </a:r>
                      <a:endPar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endPar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hlinkClick r:id="rId4"/>
                        </a:rPr>
                        <a:t>Work Log</a:t>
                      </a:r>
                      <a:endPar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endPar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hlinkClick r:id="rId5"/>
                        </a:rPr>
                        <a:t>Self-assessment Rubric</a:t>
                      </a:r>
                      <a:endParaRPr lang="en-US" sz="900" b="0" i="0" u="none" strike="noStrik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endParaRPr>
                    </a:p>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endPar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Evidence:</a:t>
                      </a: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hlinkClick r:id="rId6"/>
                        </a:rPr>
                        <a:t>Human-Centered AI Template</a:t>
                      </a:r>
                      <a:endPar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Evidence:</a:t>
                      </a: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hlinkClick r:id="rId6"/>
                        </a:rPr>
                        <a:t>Human-Centered AI Template</a:t>
                      </a:r>
                      <a:endPar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Evidence:</a:t>
                      </a: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hlinkClick r:id="rId6"/>
                        </a:rPr>
                        <a:t>Human-Centered AI Template</a:t>
                      </a:r>
                      <a:endPar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Evidence:</a:t>
                      </a: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hlinkClick r:id="rId6"/>
                        </a:rPr>
                        <a:t>Human-Centered AI Template</a:t>
                      </a:r>
                      <a:endParaRPr lang="en-US" sz="900" b="0" i="0" u="none" strike="noStrike" cap="none"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sym typeface="Arial"/>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extLst>
                  <a:ext uri="{0D108BD9-81ED-4DB2-BD59-A6C34878D82A}">
                    <a16:rowId xmlns:a16="http://schemas.microsoft.com/office/drawing/2014/main" val="3258312297"/>
                  </a:ext>
                </a:extLst>
              </a:tr>
            </a:tbl>
          </a:graphicData>
        </a:graphic>
      </p:graphicFrame>
    </p:spTree>
    <p:extLst>
      <p:ext uri="{BB962C8B-B14F-4D97-AF65-F5344CB8AC3E}">
        <p14:creationId xmlns:p14="http://schemas.microsoft.com/office/powerpoint/2010/main" val="1057175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4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a:t>
            </a:r>
            <a:r>
              <a:rPr lang="en-NL" err="1"/>
              <a:t>edal</a:t>
            </a:r>
            <a:r>
              <a:rPr lang="en-NL"/>
              <a:t> Challenges</a:t>
            </a:r>
            <a:endParaRPr/>
          </a:p>
        </p:txBody>
      </p:sp>
      <p:sp>
        <p:nvSpPr>
          <p:cNvPr id="468" name="Google Shape;468;p4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Going the extra mile!</a:t>
            </a:r>
            <a:endParaRPr/>
          </a:p>
        </p:txBody>
      </p:sp>
      <p:pic>
        <p:nvPicPr>
          <p:cNvPr id="7" name="Graphic 6" descr="Medal">
            <a:extLst>
              <a:ext uri="{FF2B5EF4-FFF2-40B4-BE49-F238E27FC236}">
                <a16:creationId xmlns:a16="http://schemas.microsoft.com/office/drawing/2014/main" id="{2C2C6876-7040-0594-5C65-F9EFF1B3B31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1666" y="1379845"/>
            <a:ext cx="3492405" cy="3492405"/>
          </a:xfrm>
          <a:prstGeom prst="rect">
            <a:avLst/>
          </a:prstGeom>
        </p:spPr>
      </p:pic>
    </p:spTree>
    <p:extLst>
      <p:ext uri="{BB962C8B-B14F-4D97-AF65-F5344CB8AC3E}">
        <p14:creationId xmlns:p14="http://schemas.microsoft.com/office/powerpoint/2010/main" val="28329518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476" name="Google Shape;476;p50"/>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1/1</a:t>
            </a:r>
            <a:endParaRPr/>
          </a:p>
        </p:txBody>
      </p:sp>
      <p:sp>
        <p:nvSpPr>
          <p:cNvPr id="477" name="Google Shape;477;p50"/>
          <p:cNvSpPr txBox="1">
            <a:spLocks noGrp="1"/>
          </p:cNvSpPr>
          <p:nvPr>
            <p:ph type="body" idx="4294967295"/>
          </p:nvPr>
        </p:nvSpPr>
        <p:spPr>
          <a:xfrm>
            <a:off x="63194" y="1152000"/>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a:solidFill>
                <a:schemeClr val="lt1"/>
              </a:solidFill>
            </a:endParaRPr>
          </a:p>
          <a:p>
            <a:pPr marL="0" lvl="0" indent="0" algn="l" rtl="0">
              <a:lnSpc>
                <a:spcPct val="115000"/>
              </a:lnSpc>
              <a:spcBef>
                <a:spcPts val="0"/>
              </a:spcBef>
              <a:spcAft>
                <a:spcPts val="0"/>
              </a:spcAft>
              <a:buNone/>
            </a:pPr>
            <a:endParaRPr sz="700" i="1">
              <a:solidFill>
                <a:schemeClr val="lt1"/>
              </a:solidFill>
              <a:latin typeface="Helvetica Neue"/>
              <a:ea typeface="Helvetica Neue"/>
              <a:cs typeface="Helvetica Neue"/>
              <a:sym typeface="Helvetica Neue"/>
            </a:endParaRPr>
          </a:p>
        </p:txBody>
      </p:sp>
      <p:sp>
        <p:nvSpPr>
          <p:cNvPr id="480" name="Google Shape;480;p50"/>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a:t>P</a:t>
            </a:r>
            <a:r>
              <a:rPr lang="en-NL" err="1"/>
              <a:t>ut</a:t>
            </a:r>
            <a:r>
              <a:rPr lang="en-NL"/>
              <a:t> your evidence down here to receive a medal!</a:t>
            </a:r>
            <a:endParaRPr lang="en-GB"/>
          </a:p>
        </p:txBody>
      </p:sp>
      <p:sp>
        <p:nvSpPr>
          <p:cNvPr id="7" name="Google Shape;459;p48">
            <a:extLst>
              <a:ext uri="{FF2B5EF4-FFF2-40B4-BE49-F238E27FC236}">
                <a16:creationId xmlns:a16="http://schemas.microsoft.com/office/drawing/2014/main" id="{5161B9CD-FD90-1846-8EE0-48554F0A839A}"/>
              </a:ext>
            </a:extLst>
          </p:cNvPr>
          <p:cNvSpPr txBox="1">
            <a:spLocks noGrp="1"/>
          </p:cNvSpPr>
          <p:nvPr>
            <p:ph type="title" idx="3"/>
          </p:nvPr>
        </p:nvSpPr>
        <p:spPr>
          <a:xfrm>
            <a:off x="2049462" y="0"/>
            <a:ext cx="4206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NL"/>
              <a:t>Going the extra mile!</a:t>
            </a:r>
            <a:endParaRPr lang="en-GB"/>
          </a:p>
        </p:txBody>
      </p:sp>
      <p:sp>
        <p:nvSpPr>
          <p:cNvPr id="2" name="Google Shape;462;p48">
            <a:extLst>
              <a:ext uri="{FF2B5EF4-FFF2-40B4-BE49-F238E27FC236}">
                <a16:creationId xmlns:a16="http://schemas.microsoft.com/office/drawing/2014/main" id="{504CBF35-FBEA-FA87-F016-E6278C3C94BB}"/>
              </a:ext>
            </a:extLst>
          </p:cNvPr>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NL"/>
              <a:t>Medal Challenges</a:t>
            </a:r>
            <a:endParaRPr lang="en-US"/>
          </a:p>
        </p:txBody>
      </p:sp>
      <p:pic>
        <p:nvPicPr>
          <p:cNvPr id="12" name="Graphic 11" descr="Medal">
            <a:extLst>
              <a:ext uri="{FF2B5EF4-FFF2-40B4-BE49-F238E27FC236}">
                <a16:creationId xmlns:a16="http://schemas.microsoft.com/office/drawing/2014/main" id="{DAEAD1FE-ADA8-7092-2C63-52D1D8722E0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5771" y="58096"/>
            <a:ext cx="459808" cy="459808"/>
          </a:xfrm>
          <a:prstGeom prst="rect">
            <a:avLst/>
          </a:prstGeom>
        </p:spPr>
      </p:pic>
    </p:spTree>
    <p:extLst>
      <p:ext uri="{BB962C8B-B14F-4D97-AF65-F5344CB8AC3E}">
        <p14:creationId xmlns:p14="http://schemas.microsoft.com/office/powerpoint/2010/main" val="331846468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52"/>
          <p:cNvSpPr txBox="1">
            <a:spLocks noGrp="1"/>
          </p:cNvSpPr>
          <p:nvPr>
            <p:ph type="ctrTitle"/>
          </p:nvPr>
        </p:nvSpPr>
        <p:spPr>
          <a:xfrm>
            <a:off x="1828800" y="1453896"/>
            <a:ext cx="73152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000"/>
              <a:t>Section </a:t>
            </a:r>
            <a:r>
              <a:rPr lang="en-NL" sz="6000"/>
              <a:t>D</a:t>
            </a:r>
            <a:endParaRPr sz="6000"/>
          </a:p>
        </p:txBody>
      </p:sp>
      <p:sp>
        <p:nvSpPr>
          <p:cNvPr id="498" name="Google Shape;498;p52"/>
          <p:cNvSpPr txBox="1">
            <a:spLocks noGrp="1"/>
          </p:cNvSpPr>
          <p:nvPr>
            <p:ph type="subTitle" idx="1"/>
          </p:nvPr>
        </p:nvSpPr>
        <p:spPr>
          <a:xfrm>
            <a:off x="1828800" y="2953512"/>
            <a:ext cx="73152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Reflection</a:t>
            </a:r>
            <a:endParaRPr sz="3000"/>
          </a:p>
        </p:txBody>
      </p:sp>
      <p:sp>
        <p:nvSpPr>
          <p:cNvPr id="499" name="Google Shape;499;p52"/>
          <p:cNvSpPr txBox="1"/>
          <p:nvPr/>
        </p:nvSpPr>
        <p:spPr>
          <a:xfrm>
            <a:off x="-420624" y="749808"/>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NL" sz="40000">
                <a:solidFill>
                  <a:srgbClr val="999999"/>
                </a:solidFill>
                <a:latin typeface="Roboto"/>
                <a:ea typeface="Roboto"/>
                <a:cs typeface="Roboto"/>
                <a:sym typeface="Roboto"/>
              </a:rPr>
              <a:t>D</a:t>
            </a:r>
            <a:endParaRPr sz="40000">
              <a:solidFill>
                <a:srgbClr val="999999"/>
              </a:solidFill>
              <a:latin typeface="Roboto"/>
              <a:ea typeface="Roboto"/>
              <a:cs typeface="Roboto"/>
              <a:sym typeface="Roboto"/>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Google Shape;504;p53"/>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What did I achieve this block?</a:t>
            </a:r>
            <a:endParaRPr/>
          </a:p>
        </p:txBody>
      </p:sp>
      <p:sp>
        <p:nvSpPr>
          <p:cNvPr id="505" name="Google Shape;505;p53"/>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1/2</a:t>
            </a:r>
            <a:endParaRPr/>
          </a:p>
        </p:txBody>
      </p:sp>
      <p:sp>
        <p:nvSpPr>
          <p:cNvPr id="507" name="Google Shape;507;p53"/>
          <p:cNvSpPr txBox="1">
            <a:spLocks noGrp="1"/>
          </p:cNvSpPr>
          <p:nvPr>
            <p:ph type="body" idx="3"/>
          </p:nvPr>
        </p:nvSpPr>
        <p:spPr>
          <a:xfrm>
            <a:off x="182880" y="712839"/>
            <a:ext cx="8778300" cy="4252209"/>
          </a:xfrm>
          <a:prstGeom prst="rect">
            <a:avLst/>
          </a:prstGeom>
        </p:spPr>
        <p:txBody>
          <a:bodyPr spcFirstLastPara="1" wrap="square" lIns="91425" tIns="91425" rIns="91425" bIns="91425" anchor="t" anchorCtr="0">
            <a:noAutofit/>
          </a:bodyPr>
          <a:lstStyle/>
          <a:p>
            <a:pPr marL="0" indent="0" algn="just">
              <a:spcBef>
                <a:spcPts val="800"/>
              </a:spcBef>
              <a:buNone/>
            </a:pPr>
            <a:r>
              <a:rPr lang="en-US" sz="1400" b="1" dirty="0"/>
              <a:t>My most significant achievements of this block</a:t>
            </a:r>
          </a:p>
          <a:p>
            <a:pPr marL="0" indent="0" algn="just">
              <a:spcBef>
                <a:spcPts val="800"/>
              </a:spcBef>
              <a:buNone/>
            </a:pPr>
            <a:r>
              <a:rPr lang="en-GB" dirty="0"/>
              <a:t>My most significant achievements of this block include successfully applying advanced machine learning techniques, enhancing my understanding of XAI (Explainable AI), and effectively conducting both qualitative and quantitative user studies to refine my prototype. I also made significant progress in problem definition, model evaluation, and iteration, contributing to a more comprehensive and user-</a:t>
            </a:r>
            <a:r>
              <a:rPr lang="en-GB" dirty="0" err="1"/>
              <a:t>centered</a:t>
            </a:r>
            <a:r>
              <a:rPr lang="en-GB" dirty="0"/>
              <a:t> AI solution.</a:t>
            </a:r>
            <a:endParaRPr dirty="0"/>
          </a:p>
          <a:p>
            <a:pPr marL="0" lvl="0" indent="0" algn="just" rtl="0">
              <a:spcBef>
                <a:spcPts val="800"/>
              </a:spcBef>
              <a:spcAft>
                <a:spcPts val="0"/>
              </a:spcAft>
              <a:buNone/>
            </a:pPr>
            <a:endParaRPr dirty="0"/>
          </a:p>
          <a:p>
            <a:pPr marL="0" lvl="0" indent="0" algn="just" rtl="0">
              <a:spcBef>
                <a:spcPts val="800"/>
              </a:spcBef>
              <a:spcAft>
                <a:spcPts val="0"/>
              </a:spcAft>
              <a:buNone/>
            </a:pPr>
            <a:r>
              <a:rPr lang="en" sz="1400" b="1" dirty="0"/>
              <a:t>My most difficult challenges of this block</a:t>
            </a:r>
            <a:endParaRPr sz="1400" b="1" dirty="0"/>
          </a:p>
          <a:p>
            <a:pPr marL="0" lvl="0" indent="0" algn="just" rtl="0">
              <a:spcBef>
                <a:spcPts val="800"/>
              </a:spcBef>
              <a:spcAft>
                <a:spcPts val="0"/>
              </a:spcAft>
              <a:buNone/>
            </a:pPr>
            <a:r>
              <a:rPr lang="en-GB" dirty="0"/>
              <a:t>My most difficult challenges of this block were ensuring the transparency and interpretability of my AI model, especially when dealing with complex neural networks. Additionally, managing the iterative nature of the machine learning project lifecycle proved challenging, as optimizing model performance required balancing multiple techniques such as data augmentation, transfer learning, and hyperparameter tuning. Finally, handling ambiguous </a:t>
            </a:r>
            <a:r>
              <a:rPr lang="en-GB" dirty="0" err="1"/>
              <a:t>labeling</a:t>
            </a:r>
            <a:r>
              <a:rPr lang="en-GB" dirty="0"/>
              <a:t> in datasets and addressing bias within the model was an ongoing challenge, requiring continuous refinement and careful evaluation.</a:t>
            </a:r>
            <a:endParaRPr dirty="0"/>
          </a:p>
          <a:p>
            <a:pPr marL="0" lvl="0" indent="0" algn="just" rtl="0">
              <a:spcBef>
                <a:spcPts val="800"/>
              </a:spcBef>
              <a:spcAft>
                <a:spcPts val="0"/>
              </a:spcAft>
              <a:buNone/>
            </a:pPr>
            <a:r>
              <a:rPr lang="en" sz="1400" b="1" dirty="0"/>
              <a:t>The most important lessons I learned</a:t>
            </a:r>
            <a:endParaRPr sz="1400" b="1" dirty="0"/>
          </a:p>
          <a:p>
            <a:pPr marL="0" lvl="0" indent="0" algn="just" rtl="0">
              <a:spcBef>
                <a:spcPts val="800"/>
              </a:spcBef>
              <a:spcAft>
                <a:spcPts val="800"/>
              </a:spcAft>
              <a:buNone/>
            </a:pPr>
            <a:r>
              <a:rPr lang="en-GB" dirty="0"/>
              <a:t>The most important lessons I learned this block include the significance of explainable AI (XAI) for enhancing model transparency and building trust in AI systems. I also gained a deeper understanding of the iterative nature of the machine learning project lifecycle, particularly how to fine-tune models through continuous experimentation and evaluation. Additionally, I learned the importance of balancing technical accuracy with interpretability, ensuring that models are not only effective but also understandable. Finally, I discovered how addressing bias and fairness in AI systems is crucial for creating ethical and responsible models.</a:t>
            </a:r>
            <a:endParaRPr dirty="0"/>
          </a:p>
        </p:txBody>
      </p:sp>
      <p:sp>
        <p:nvSpPr>
          <p:cNvPr id="508" name="Google Shape;508;p53"/>
          <p:cNvSpPr txBox="1">
            <a:spLocks noGrp="1"/>
          </p:cNvSpPr>
          <p:nvPr>
            <p:ph type="title" idx="4"/>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D</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p54"/>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How well am I progressing?</a:t>
            </a:r>
            <a:endParaRPr/>
          </a:p>
        </p:txBody>
      </p:sp>
      <p:sp>
        <p:nvSpPr>
          <p:cNvPr id="514" name="Google Shape;514;p54"/>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a:t>
            </a:r>
            <a:r>
              <a:rPr lang="en" sz="1400"/>
              <a:t>/</a:t>
            </a:r>
            <a:r>
              <a:rPr lang="en"/>
              <a:t>2</a:t>
            </a:r>
            <a:endParaRPr sz="1400"/>
          </a:p>
        </p:txBody>
      </p:sp>
      <p:sp>
        <p:nvSpPr>
          <p:cNvPr id="515" name="Google Shape;515;p54"/>
          <p:cNvSpPr txBox="1">
            <a:spLocks noGrp="1"/>
          </p:cNvSpPr>
          <p:nvPr>
            <p:ph type="title" idx="4"/>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D</a:t>
            </a:r>
            <a:endParaRPr/>
          </a:p>
        </p:txBody>
      </p:sp>
      <p:sp>
        <p:nvSpPr>
          <p:cNvPr id="517" name="Google Shape;517;p54"/>
          <p:cNvSpPr txBox="1">
            <a:spLocks noGrp="1"/>
          </p:cNvSpPr>
          <p:nvPr>
            <p:ph type="body" idx="3"/>
          </p:nvPr>
        </p:nvSpPr>
        <p:spPr>
          <a:xfrm>
            <a:off x="182880" y="698090"/>
            <a:ext cx="5852100" cy="4266958"/>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sz="1400" b="1" dirty="0"/>
              <a:t>Reflection on my self-assessment</a:t>
            </a:r>
            <a:r>
              <a:rPr lang="en" dirty="0"/>
              <a:t>	</a:t>
            </a:r>
          </a:p>
          <a:p>
            <a:pPr marL="0" indent="0" algn="just">
              <a:spcBef>
                <a:spcPts val="800"/>
              </a:spcBef>
              <a:spcAft>
                <a:spcPts val="800"/>
              </a:spcAft>
              <a:buNone/>
            </a:pPr>
            <a:r>
              <a:rPr lang="en-GB" dirty="0"/>
              <a:t>I believe I’ve performed well in this block, especially in applying the concepts I’ve learned to my project. I gave myself a high score because I’ve been diligent in completing tasks, reflecting on my progress, and making continuous improvements. However, there are areas where I could have been more efficient, particularly in organizing my work logs and ensuring all my experiments are documented more comprehensively. While I did a good job overall, I recognize that I can optimize my time management in the future, especially in terms of structuring my testing processes and better handling iterations. Going forward, I’ll focus on tightening up these areas to enhance my efficiency and the quality of my work.</a:t>
            </a:r>
            <a:endParaRPr dirty="0"/>
          </a:p>
          <a:p>
            <a:pPr marL="0" lvl="0" indent="0" algn="just" rtl="0">
              <a:spcBef>
                <a:spcPts val="800"/>
              </a:spcBef>
              <a:spcAft>
                <a:spcPts val="0"/>
              </a:spcAft>
              <a:buNone/>
            </a:pPr>
            <a:endParaRPr dirty="0"/>
          </a:p>
          <a:p>
            <a:pPr marL="0" lvl="0" indent="0" algn="just" rtl="0">
              <a:spcBef>
                <a:spcPts val="800"/>
              </a:spcBef>
              <a:spcAft>
                <a:spcPts val="0"/>
              </a:spcAft>
              <a:buNone/>
            </a:pPr>
            <a:r>
              <a:rPr lang="en" sz="1400" b="1" dirty="0"/>
              <a:t>How I plan to improve for the next block</a:t>
            </a:r>
            <a:endParaRPr sz="1400" b="1" dirty="0"/>
          </a:p>
          <a:p>
            <a:pPr marL="0" lvl="0" indent="0" algn="just" rtl="0">
              <a:spcBef>
                <a:spcPts val="800"/>
              </a:spcBef>
              <a:spcAft>
                <a:spcPts val="800"/>
              </a:spcAft>
              <a:buNone/>
            </a:pPr>
            <a:r>
              <a:rPr lang="en-GB" dirty="0"/>
              <a:t>For the next block, I plan to focus on improving my time management and streamlining my workflow. I will work on organizing my work logs more efficiently to save time during assessments and ensure all experiments are documented in detail. I also aim to enhance my testing strategies by carefully </a:t>
            </a:r>
            <a:r>
              <a:rPr lang="en-GB" dirty="0" err="1"/>
              <a:t>analyzing</a:t>
            </a:r>
            <a:r>
              <a:rPr lang="en-GB" dirty="0"/>
              <a:t> model performance and using a more structured approach to iteration. Additionally, I will seek to improve my understanding of advanced techniques in AI, particularly in model optimization and fine-tuning. Lastly, I will continue to balance theory with hands-on practice to ensure I apply what I learn effectively.</a:t>
            </a:r>
            <a:endParaRPr dirty="0"/>
          </a:p>
        </p:txBody>
      </p:sp>
      <p:sp>
        <p:nvSpPr>
          <p:cNvPr id="518" name="Google Shape;518;p54"/>
          <p:cNvSpPr txBox="1"/>
          <p:nvPr/>
        </p:nvSpPr>
        <p:spPr>
          <a:xfrm>
            <a:off x="7933066" y="489157"/>
            <a:ext cx="914400" cy="64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600" b="1" dirty="0">
                <a:solidFill>
                  <a:srgbClr val="434343"/>
                </a:solidFill>
                <a:latin typeface="Roboto"/>
                <a:ea typeface="Roboto"/>
                <a:cs typeface="Roboto"/>
                <a:sym typeface="Roboto"/>
              </a:rPr>
              <a:t>7.7</a:t>
            </a:r>
            <a:endParaRPr sz="3600" b="1" dirty="0">
              <a:solidFill>
                <a:srgbClr val="434343"/>
              </a:solidFill>
              <a:latin typeface="Roboto"/>
              <a:ea typeface="Roboto"/>
              <a:cs typeface="Roboto"/>
              <a:sym typeface="Roboto"/>
            </a:endParaRPr>
          </a:p>
        </p:txBody>
      </p:sp>
      <p:sp>
        <p:nvSpPr>
          <p:cNvPr id="3" name="TextBox 2">
            <a:extLst>
              <a:ext uri="{FF2B5EF4-FFF2-40B4-BE49-F238E27FC236}">
                <a16:creationId xmlns:a16="http://schemas.microsoft.com/office/drawing/2014/main" id="{B5D08A45-05C5-1DBA-F018-8AAEC545F050}"/>
              </a:ext>
            </a:extLst>
          </p:cNvPr>
          <p:cNvSpPr txBox="1"/>
          <p:nvPr/>
        </p:nvSpPr>
        <p:spPr>
          <a:xfrm>
            <a:off x="5433552" y="737568"/>
            <a:ext cx="2682977" cy="307777"/>
          </a:xfrm>
          <a:prstGeom prst="rect">
            <a:avLst/>
          </a:prstGeom>
          <a:noFill/>
        </p:spPr>
        <p:txBody>
          <a:bodyPr wrap="square">
            <a:spAutoFit/>
          </a:bodyPr>
          <a:lstStyle/>
          <a:p>
            <a:pPr algn="just">
              <a:lnSpc>
                <a:spcPct val="104000"/>
              </a:lnSpc>
              <a:buClr>
                <a:srgbClr val="FFFFFF"/>
              </a:buClr>
              <a:buSzPts val="1000"/>
            </a:pPr>
            <a:r>
              <a:rPr lang="en" b="1" dirty="0">
                <a:solidFill>
                  <a:srgbClr val="FFFFFF"/>
                </a:solidFill>
                <a:latin typeface="Roboto"/>
                <a:ea typeface="Roboto"/>
                <a:cs typeface="Roboto"/>
                <a:sym typeface="Roboto"/>
              </a:rPr>
              <a:t>My self-assessment grade is a</a:t>
            </a:r>
            <a:endParaRPr lang="en-US" b="1" dirty="0">
              <a:solidFill>
                <a:srgbClr val="FFFFFF"/>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name="BUAS Gameday">
  <a:themeElements>
    <a:clrScheme name="Gameday">
      <a:dk1>
        <a:srgbClr val="4285F4"/>
      </a:dk1>
      <a:lt1>
        <a:srgbClr val="FFFFFF"/>
      </a:lt1>
      <a:dk2>
        <a:srgbClr val="666666"/>
      </a:dk2>
      <a:lt2>
        <a:srgbClr val="D9D9D9"/>
      </a:lt2>
      <a:accent1>
        <a:srgbClr val="455A64"/>
      </a:accent1>
      <a:accent2>
        <a:srgbClr val="607D8B"/>
      </a:accent2>
      <a:accent3>
        <a:srgbClr val="FF5722"/>
      </a:accent3>
      <a:accent4>
        <a:srgbClr val="D84315"/>
      </a:accent4>
      <a:accent5>
        <a:srgbClr val="1C3AA9"/>
      </a:accent5>
      <a:accent6>
        <a:srgbClr val="FFAB40"/>
      </a:accent6>
      <a:hlink>
        <a:srgbClr val="3C78D8"/>
      </a:hlink>
      <a:folHlink>
        <a:srgbClr val="1C3A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c5b79d58-b38a-4b87-b38c-f1f3f0d5c921"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452308C42A05C4396E8C3F2DAA23FBB" ma:contentTypeVersion="11" ma:contentTypeDescription="Create a new document." ma:contentTypeScope="" ma:versionID="fbfb56406300c9899971e3bb2ca2b417">
  <xsd:schema xmlns:xsd="http://www.w3.org/2001/XMLSchema" xmlns:xs="http://www.w3.org/2001/XMLSchema" xmlns:p="http://schemas.microsoft.com/office/2006/metadata/properties" xmlns:ns3="c5b79d58-b38a-4b87-b38c-f1f3f0d5c921" targetNamespace="http://schemas.microsoft.com/office/2006/metadata/properties" ma:root="true" ma:fieldsID="714488530046d8e88f233dafe22e98a2" ns3:_="">
    <xsd:import namespace="c5b79d58-b38a-4b87-b38c-f1f3f0d5c921"/>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element ref="ns3:MediaServiceGenerationTime" minOccurs="0"/>
                <xsd:element ref="ns3:MediaServiceEventHashCode" minOccurs="0"/>
                <xsd:element ref="ns3:MediaServiceSystemTags" minOccurs="0"/>
                <xsd:element ref="ns3:MediaServiceOCR"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5b79d58-b38a-4b87-b38c-f1f3f0d5c921"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SystemTags" ma:index="16" nillable="true" ma:displayName="MediaServiceSystemTags" ma:hidden="true" ma:internalName="MediaServiceSystemTags" ma:readOnly="true">
      <xsd:simpleType>
        <xsd:restriction base="dms:Note"/>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8D9791E-52D0-4ABB-925A-4EAECF798D9B}">
  <ds:schemaRefs>
    <ds:schemaRef ds:uri="http://schemas.microsoft.com/sharepoint/v3/contenttype/forms"/>
  </ds:schemaRefs>
</ds:datastoreItem>
</file>

<file path=customXml/itemProps2.xml><?xml version="1.0" encoding="utf-8"?>
<ds:datastoreItem xmlns:ds="http://schemas.openxmlformats.org/officeDocument/2006/customXml" ds:itemID="{3067B86F-F5BB-4BE6-9A37-0E19E53CB68B}">
  <ds:schemaRefs>
    <ds:schemaRef ds:uri="http://schemas.microsoft.com/office/2006/documentManagement/types"/>
    <ds:schemaRef ds:uri="http://purl.org/dc/terms/"/>
    <ds:schemaRef ds:uri="http://schemas.microsoft.com/office/2006/metadata/properties"/>
    <ds:schemaRef ds:uri="c5b79d58-b38a-4b87-b38c-f1f3f0d5c921"/>
    <ds:schemaRef ds:uri="http://schemas.openxmlformats.org/package/2006/metadata/core-properties"/>
    <ds:schemaRef ds:uri="http://purl.org/dc/elements/1.1/"/>
    <ds:schemaRef ds:uri="http://www.w3.org/XML/1998/namespace"/>
    <ds:schemaRef ds:uri="http://schemas.microsoft.com/office/infopath/2007/PartnerControls"/>
    <ds:schemaRef ds:uri="http://purl.org/dc/dcmitype/"/>
  </ds:schemaRefs>
</ds:datastoreItem>
</file>

<file path=customXml/itemProps3.xml><?xml version="1.0" encoding="utf-8"?>
<ds:datastoreItem xmlns:ds="http://schemas.openxmlformats.org/officeDocument/2006/customXml" ds:itemID="{F41D85E3-C61E-4064-A9AF-54D3E08B477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5b79d58-b38a-4b87-b38c-f1f3f0d5c92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Learning_Log_Y1C_2024-25_ADSAI_Retake</Template>
  <TotalTime>6</TotalTime>
  <Words>12988</Words>
  <Application>Microsoft Office PowerPoint</Application>
  <PresentationFormat>On-screen Show (16:9)</PresentationFormat>
  <Paragraphs>731</Paragraphs>
  <Slides>45</Slides>
  <Notes>44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45</vt:i4>
      </vt:variant>
    </vt:vector>
  </HeadingPairs>
  <TitlesOfParts>
    <vt:vector size="53" baseType="lpstr">
      <vt:lpstr>Roboto</vt:lpstr>
      <vt:lpstr>Roboto Light</vt:lpstr>
      <vt:lpstr>Proxima Nova</vt:lpstr>
      <vt:lpstr>Arial</vt:lpstr>
      <vt:lpstr>Roboto Thin</vt:lpstr>
      <vt:lpstr>Open Sans</vt:lpstr>
      <vt:lpstr>Helvetica Neue</vt:lpstr>
      <vt:lpstr>BUAS Gameday</vt:lpstr>
      <vt:lpstr>Ceren Kurt  243910</vt:lpstr>
      <vt:lpstr>How To Use This Template</vt:lpstr>
      <vt:lpstr>Learning Log Structure</vt:lpstr>
      <vt:lpstr>Section A</vt:lpstr>
      <vt:lpstr>Where am I starting?</vt:lpstr>
      <vt:lpstr>What are my goals?</vt:lpstr>
      <vt:lpstr>What are my goals?</vt:lpstr>
      <vt:lpstr>Section B</vt:lpstr>
      <vt:lpstr>Week 1 - Log</vt:lpstr>
      <vt:lpstr>Week 1 - Feedback</vt:lpstr>
      <vt:lpstr>Week 2 - Log</vt:lpstr>
      <vt:lpstr>Week 2 - Feedback</vt:lpstr>
      <vt:lpstr>Week 3 - Log</vt:lpstr>
      <vt:lpstr>Week 3 - Feedback</vt:lpstr>
      <vt:lpstr>Week 4 - Log</vt:lpstr>
      <vt:lpstr>Week 4 - Feedback</vt:lpstr>
      <vt:lpstr>Week 5 - Log</vt:lpstr>
      <vt:lpstr>Week 5 - Feedback</vt:lpstr>
      <vt:lpstr>Week 6 - Log</vt:lpstr>
      <vt:lpstr>Week 6 - Feedback</vt:lpstr>
      <vt:lpstr>Week 7 - Log</vt:lpstr>
      <vt:lpstr>Week 7 - Feedback</vt:lpstr>
      <vt:lpstr>Week 8 - Log</vt:lpstr>
      <vt:lpstr>Week 8 - Feedback</vt:lpstr>
      <vt:lpstr>Section C</vt:lpstr>
      <vt:lpstr>PowerPoint Presentation</vt:lpstr>
      <vt:lpstr>ILO 1.3</vt:lpstr>
      <vt:lpstr>ILO 1</vt:lpstr>
      <vt:lpstr>ILO 2.3</vt:lpstr>
      <vt:lpstr>ILO 2</vt:lpstr>
      <vt:lpstr>ILO 3.2</vt:lpstr>
      <vt:lpstr>ILO 3</vt:lpstr>
      <vt:lpstr>ILO 4.1</vt:lpstr>
      <vt:lpstr>ILO 4</vt:lpstr>
      <vt:lpstr>ILO 6.2</vt:lpstr>
      <vt:lpstr>ILO 6</vt:lpstr>
      <vt:lpstr>ILO 8.2</vt:lpstr>
      <vt:lpstr>ILO 8</vt:lpstr>
      <vt:lpstr>ILO 9.1</vt:lpstr>
      <vt:lpstr>ILO 9</vt:lpstr>
      <vt:lpstr>Medal Challenges</vt:lpstr>
      <vt:lpstr>1/1</vt:lpstr>
      <vt:lpstr>Section D</vt:lpstr>
      <vt:lpstr>What did I achieve this block?</vt:lpstr>
      <vt:lpstr>How well am I progressing?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Ceren Kurt</dc:creator>
  <cp:lastModifiedBy>Ceren Kurt</cp:lastModifiedBy>
  <cp:revision>2</cp:revision>
  <dcterms:created xsi:type="dcterms:W3CDTF">2025-06-27T13:52:10Z</dcterms:created>
  <dcterms:modified xsi:type="dcterms:W3CDTF">2025-06-27T14:04:04Z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0x0101008452308C42A05C4396E8C3F2DAA23FBB</vt:lpwstr>
  </property>
  <property fmtid="{D5CDD505-2E9C-101B-9397-08002B2CF9AE}" pid="3" name="MediaServiceImageTags">
    <vt:lpwstr/>
  </property>
  <property fmtid="{D5CDD505-2E9C-101B-9397-08002B2CF9AE}" pid="4" name="xd_ProgID">
    <vt:lpwstr/>
  </property>
  <property fmtid="{D5CDD505-2E9C-101B-9397-08002B2CF9AE}" pid="5" name="ComplianceAssetId">
    <vt:lpwstr/>
  </property>
  <property fmtid="{D5CDD505-2E9C-101B-9397-08002B2CF9AE}" pid="6" name="TemplateUrl">
    <vt:lpwstr/>
  </property>
  <property fmtid="{D5CDD505-2E9C-101B-9397-08002B2CF9AE}" pid="7" name="_ExtendedDescription">
    <vt:lpwstr/>
  </property>
  <property fmtid="{D5CDD505-2E9C-101B-9397-08002B2CF9AE}" pid="8" name="TriggerFlowInfo">
    <vt:lpwstr/>
  </property>
  <property fmtid="{D5CDD505-2E9C-101B-9397-08002B2CF9AE}" pid="9" name="xd_Signature">
    <vt:bool>false</vt:bool>
  </property>
</Properties>
</file>